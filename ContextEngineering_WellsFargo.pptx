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74320"/>
            <a:ext cx="1188720" cy="822960"/>
          </a:xfrm>
          <a:prstGeom prst="rect">
            <a:avLst/>
          </a:prstGeom>
          <a:solidFill>
            <a:srgbClr val="CC0000"/>
          </a:solidFill>
          <a:ln w="12700">
            <a:solidFill>
              <a:srgbClr val="CC0000"/>
            </a:solidFill>
            <a:prstDash val="solid"/>
          </a:ln>
        </p:spPr>
      </p:sp>
      <p:sp>
        <p:nvSpPr>
          <p:cNvPr id="3" name="Text 1"/>
          <p:cNvSpPr/>
          <p:nvPr/>
        </p:nvSpPr>
        <p:spPr>
          <a:xfrm>
            <a:off x="365760" y="274320"/>
            <a:ext cx="1188720" cy="822960"/>
          </a:xfrm>
          <a:prstGeom prst="rect">
            <a:avLst/>
          </a:prstGeom>
          <a:noFill/>
          <a:ln/>
        </p:spPr>
        <p:txBody>
          <a:bodyPr wrap="square" rtlCol="0" anchor="ctr"/>
          <a:lstStyle/>
          <a:p>
            <a:pPr algn="ctr" indent="0" marL="0">
              <a:buNone/>
            </a:pPr>
            <a:r>
              <a:rPr lang="en-US" sz="1100" b="1" dirty="0">
                <a:solidFill>
                  <a:srgbClr val="FFFFFF"/>
                </a:solidFill>
              </a:rPr>
              <a:t>WELLS FARGO</a:t>
            </a:r>
            <a:endParaRPr lang="en-US" sz="1100" dirty="0"/>
          </a:p>
        </p:txBody>
      </p:sp>
      <p:sp>
        <p:nvSpPr>
          <p:cNvPr id="4" name="Shape 2"/>
          <p:cNvSpPr/>
          <p:nvPr/>
        </p:nvSpPr>
        <p:spPr>
          <a:xfrm>
            <a:off x="365760" y="3017520"/>
            <a:ext cx="2286000" cy="54864"/>
          </a:xfrm>
          <a:prstGeom prst="rect">
            <a:avLst/>
          </a:prstGeom>
          <a:solidFill>
            <a:srgbClr val="FFCD41"/>
          </a:solidFill>
          <a:ln w="12700">
            <a:solidFill>
              <a:srgbClr val="FFCD41"/>
            </a:solidFill>
            <a:prstDash val="solid"/>
          </a:ln>
        </p:spPr>
      </p:sp>
      <p:sp>
        <p:nvSpPr>
          <p:cNvPr id="5" name="Text 3"/>
          <p:cNvSpPr/>
          <p:nvPr/>
        </p:nvSpPr>
        <p:spPr>
          <a:xfrm>
            <a:off x="365760" y="1463040"/>
            <a:ext cx="6400800" cy="1097280"/>
          </a:xfrm>
          <a:prstGeom prst="rect">
            <a:avLst/>
          </a:prstGeom>
          <a:noFill/>
          <a:ln/>
        </p:spPr>
        <p:txBody>
          <a:bodyPr wrap="square" rtlCol="0" anchor="ctr"/>
          <a:lstStyle/>
          <a:p>
            <a:pPr indent="0" marL="0">
              <a:buNone/>
            </a:pPr>
            <a:r>
              <a:rPr lang="en-US" sz="4800" b="1" dirty="0">
                <a:solidFill>
                  <a:srgbClr val="1A1A1A"/>
                </a:solidFill>
                <a:latin typeface="Cambria" pitchFamily="34" charset="0"/>
                <a:ea typeface="Cambria" pitchFamily="34" charset="-122"/>
                <a:cs typeface="Cambria" pitchFamily="34" charset="-120"/>
              </a:rPr>
              <a:t>Context Engineering</a:t>
            </a:r>
            <a:endParaRPr lang="en-US" sz="4800" dirty="0"/>
          </a:p>
        </p:txBody>
      </p:sp>
      <p:sp>
        <p:nvSpPr>
          <p:cNvPr id="6" name="Text 4"/>
          <p:cNvSpPr/>
          <p:nvPr/>
        </p:nvSpPr>
        <p:spPr>
          <a:xfrm>
            <a:off x="365760" y="2560320"/>
            <a:ext cx="6858000" cy="411480"/>
          </a:xfrm>
          <a:prstGeom prst="rect">
            <a:avLst/>
          </a:prstGeom>
          <a:noFill/>
          <a:ln/>
        </p:spPr>
        <p:txBody>
          <a:bodyPr wrap="square" rtlCol="0" anchor="ctr"/>
          <a:lstStyle/>
          <a:p>
            <a:pPr indent="0" marL="0">
              <a:buNone/>
            </a:pPr>
            <a:r>
              <a:rPr lang="en-US" sz="1400" i="1" dirty="0">
                <a:solidFill>
                  <a:srgbClr val="444444"/>
                </a:solidFill>
                <a:latin typeface="Calibri" pitchFamily="34" charset="0"/>
                <a:ea typeface="Calibri" pitchFamily="34" charset="-122"/>
                <a:cs typeface="Calibri" pitchFamily="34" charset="-120"/>
              </a:rPr>
              <a:t>From better words to better outcomes — how AI agents really work</a:t>
            </a:r>
            <a:endParaRPr lang="en-US" sz="1400" dirty="0"/>
          </a:p>
        </p:txBody>
      </p:sp>
      <p:sp>
        <p:nvSpPr>
          <p:cNvPr id="7" name="Text 5"/>
          <p:cNvSpPr/>
          <p:nvPr/>
        </p:nvSpPr>
        <p:spPr>
          <a:xfrm>
            <a:off x="365760" y="3200400"/>
            <a:ext cx="3657600" cy="548640"/>
          </a:xfrm>
          <a:prstGeom prst="rect">
            <a:avLst/>
          </a:prstGeom>
          <a:noFill/>
          <a:ln/>
        </p:spPr>
        <p:txBody>
          <a:bodyPr wrap="square" rtlCol="0" anchor="ctr"/>
          <a:lstStyle/>
          <a:p>
            <a:pPr indent="0" marL="0">
              <a:buNone/>
            </a:pPr>
            <a:r>
              <a:rPr lang="en-US" sz="1200" dirty="0">
                <a:solidFill>
                  <a:srgbClr val="444444"/>
                </a:solidFill>
              </a:rPr>
              <a:t>July 2026</a:t>
            </a:r>
            <a:endParaRPr lang="en-US" sz="1200" dirty="0"/>
          </a:p>
          <a:p>
            <a:pPr indent="0" marL="0">
              <a:buNone/>
            </a:pPr>
            <a:r>
              <a:rPr lang="en-US" sz="1200" dirty="0">
                <a:solidFill>
                  <a:srgbClr val="444444"/>
                </a:solidFill>
              </a:rPr>
              <a:t>Ramya Kanthamneni</a:t>
            </a:r>
            <a:endParaRPr lang="en-US" sz="1200" dirty="0"/>
          </a:p>
        </p:txBody>
      </p:sp>
      <p:sp>
        <p:nvSpPr>
          <p:cNvPr id="8" name="Shape 6"/>
          <p:cNvSpPr/>
          <p:nvPr/>
        </p:nvSpPr>
        <p:spPr>
          <a:xfrm>
            <a:off x="6858000" y="-1097280"/>
            <a:ext cx="3657600" cy="3657600"/>
          </a:xfrm>
          <a:prstGeom prst="ellipse">
            <a:avLst/>
          </a:prstGeom>
          <a:solidFill>
            <a:srgbClr val="CC0000">
              <a:alpha val="12000"/>
            </a:srgbClr>
          </a:solidFill>
          <a:ln w="12700">
            <a:solidFill>
              <a:srgbClr val="CC0000">
                <a:alpha val="12000"/>
              </a:srgbClr>
            </a:solidFill>
            <a:prstDash val="solid"/>
          </a:ln>
        </p:spPr>
      </p:sp>
      <p:sp>
        <p:nvSpPr>
          <p:cNvPr id="9" name="Shape 7"/>
          <p:cNvSpPr/>
          <p:nvPr/>
        </p:nvSpPr>
        <p:spPr>
          <a:xfrm>
            <a:off x="7498080" y="-457200"/>
            <a:ext cx="2286000" cy="2286000"/>
          </a:xfrm>
          <a:prstGeom prst="ellipse">
            <a:avLst/>
          </a:prstGeom>
          <a:solidFill>
            <a:srgbClr val="FFCD41">
              <a:alpha val="20000"/>
            </a:srgbClr>
          </a:solidFill>
          <a:ln w="12700">
            <a:solidFill>
              <a:srgbClr val="FFCD41">
                <a:alpha val="20000"/>
              </a:srgbClr>
            </a:solidFill>
            <a:prstDash val="solid"/>
          </a:ln>
        </p:spPr>
      </p:sp>
      <p:sp>
        <p:nvSpPr>
          <p:cNvPr id="10" name="Text 8"/>
          <p:cNvSpPr/>
          <p:nvPr/>
        </p:nvSpPr>
        <p:spPr>
          <a:xfrm>
            <a:off x="365760" y="4846320"/>
            <a:ext cx="8412480" cy="228600"/>
          </a:xfrm>
          <a:prstGeom prst="rect">
            <a:avLst/>
          </a:prstGeom>
          <a:noFill/>
          <a:ln/>
        </p:spPr>
        <p:txBody>
          <a:bodyPr wrap="square" rtlCol="0" anchor="ctr"/>
          <a:lstStyle/>
          <a:p>
            <a:pPr algn="ctr" indent="0" marL="0">
              <a:buNone/>
            </a:pPr>
            <a:r>
              <a:rPr lang="en-US" sz="800" dirty="0">
                <a:solidFill>
                  <a:srgbClr val="AAAAAA"/>
                </a:solidFill>
              </a:rPr>
              <a:t>© 2026 Wells Fargo Bank, N.A. All rights reserved. Internal use.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82880" y="164592"/>
            <a:ext cx="4114800" cy="4754880"/>
          </a:xfrm>
          <a:prstGeom prst="roundRect">
            <a:avLst>
              <a:gd name="adj" fmla="val 2667"/>
            </a:avLst>
          </a:prstGeom>
          <a:solidFill>
            <a:srgbClr val="FFFFFF"/>
          </a:solidFill>
          <a:ln/>
          <a:effectLst>
            <a:outerShdw sx="100000" sy="100000" kx="0" ky="0" algn="bl" rotWithShape="0" blurRad="101600" dist="25400" dir="2700000">
              <a:srgbClr val="000000">
                <a:alpha val="12000"/>
              </a:srgbClr>
            </a:outerShdw>
          </a:effectLst>
        </p:spPr>
      </p:sp>
      <p:sp>
        <p:nvSpPr>
          <p:cNvPr id="3" name="Shape 1"/>
          <p:cNvSpPr/>
          <p:nvPr/>
        </p:nvSpPr>
        <p:spPr>
          <a:xfrm>
            <a:off x="182880" y="164592"/>
            <a:ext cx="4114800" cy="530352"/>
          </a:xfrm>
          <a:prstGeom prst="roundRect">
            <a:avLst>
              <a:gd name="adj" fmla="val 20690"/>
            </a:avLst>
          </a:prstGeom>
          <a:solidFill>
            <a:srgbClr val="CC0000"/>
          </a:solidFill>
          <a:ln w="12700">
            <a:solidFill>
              <a:srgbClr val="CC0000"/>
            </a:solidFill>
            <a:prstDash val="solid"/>
          </a:ln>
        </p:spPr>
      </p:sp>
      <p:sp>
        <p:nvSpPr>
          <p:cNvPr id="4" name="Shape 2"/>
          <p:cNvSpPr/>
          <p:nvPr/>
        </p:nvSpPr>
        <p:spPr>
          <a:xfrm>
            <a:off x="182880" y="512064"/>
            <a:ext cx="4114800" cy="182880"/>
          </a:xfrm>
          <a:prstGeom prst="rect">
            <a:avLst/>
          </a:prstGeom>
          <a:solidFill>
            <a:srgbClr val="CC0000"/>
          </a:solidFill>
          <a:ln w="12700">
            <a:solidFill>
              <a:srgbClr val="CC0000"/>
            </a:solidFill>
            <a:prstDash val="solid"/>
          </a:ln>
        </p:spPr>
      </p:sp>
      <p:sp>
        <p:nvSpPr>
          <p:cNvPr id="5" name="Text 3"/>
          <p:cNvSpPr/>
          <p:nvPr/>
        </p:nvSpPr>
        <p:spPr>
          <a:xfrm>
            <a:off x="347472" y="256032"/>
            <a:ext cx="3785616" cy="36576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PROMPT ENGINEERING</a:t>
            </a:r>
            <a:endParaRPr lang="en-US" sz="1400" dirty="0"/>
          </a:p>
        </p:txBody>
      </p:sp>
      <p:sp>
        <p:nvSpPr>
          <p:cNvPr id="6" name="Text 4"/>
          <p:cNvSpPr/>
          <p:nvPr/>
        </p:nvSpPr>
        <p:spPr>
          <a:xfrm>
            <a:off x="347472" y="768096"/>
            <a:ext cx="3785616" cy="201168"/>
          </a:xfrm>
          <a:prstGeom prst="rect">
            <a:avLst/>
          </a:prstGeom>
          <a:noFill/>
          <a:ln/>
        </p:spPr>
        <p:txBody>
          <a:bodyPr wrap="square" rtlCol="0" anchor="ctr"/>
          <a:lstStyle/>
          <a:p>
            <a:pPr indent="0" marL="0">
              <a:buNone/>
            </a:pPr>
            <a:r>
              <a:rPr lang="en-US" sz="950" i="1" dirty="0">
                <a:solidFill>
                  <a:srgbClr val="444444"/>
                </a:solidFill>
              </a:rPr>
              <a:t>About the words you write.</a:t>
            </a:r>
            <a:endParaRPr lang="en-US" sz="950" dirty="0"/>
          </a:p>
        </p:txBody>
      </p:sp>
      <p:sp>
        <p:nvSpPr>
          <p:cNvPr id="7" name="Text 5"/>
          <p:cNvSpPr/>
          <p:nvPr/>
        </p:nvSpPr>
        <p:spPr>
          <a:xfrm>
            <a:off x="347472" y="969264"/>
            <a:ext cx="3785616" cy="256032"/>
          </a:xfrm>
          <a:prstGeom prst="rect">
            <a:avLst/>
          </a:prstGeom>
          <a:noFill/>
          <a:ln/>
        </p:spPr>
        <p:txBody>
          <a:bodyPr wrap="square" rtlCol="0" anchor="ctr"/>
          <a:lstStyle/>
          <a:p>
            <a:pPr indent="0" marL="0">
              <a:buNone/>
            </a:pPr>
            <a:r>
              <a:rPr lang="en-US" sz="950" dirty="0">
                <a:solidFill>
                  <a:srgbClr val="1A1A1A"/>
                </a:solidFill>
              </a:rPr>
              <a:t>Better phrasing, better examples, better structure in your system message.</a:t>
            </a:r>
            <a:endParaRPr lang="en-US" sz="950" dirty="0"/>
          </a:p>
        </p:txBody>
      </p:sp>
      <p:sp>
        <p:nvSpPr>
          <p:cNvPr id="8" name="Shape 6"/>
          <p:cNvSpPr/>
          <p:nvPr/>
        </p:nvSpPr>
        <p:spPr>
          <a:xfrm>
            <a:off x="347472" y="1261872"/>
            <a:ext cx="3785616" cy="274320"/>
          </a:xfrm>
          <a:prstGeom prst="roundRect">
            <a:avLst>
              <a:gd name="adj" fmla="val 20000"/>
            </a:avLst>
          </a:prstGeom>
          <a:solidFill>
            <a:srgbClr val="CC0000"/>
          </a:solidFill>
          <a:ln w="12700">
            <a:solidFill>
              <a:srgbClr val="CC0000"/>
            </a:solidFill>
            <a:prstDash val="solid"/>
          </a:ln>
        </p:spPr>
      </p:sp>
      <p:sp>
        <p:nvSpPr>
          <p:cNvPr id="9" name="Text 7"/>
          <p:cNvSpPr/>
          <p:nvPr/>
        </p:nvSpPr>
        <p:spPr>
          <a:xfrm>
            <a:off x="347472" y="1261872"/>
            <a:ext cx="3785616" cy="274320"/>
          </a:xfrm>
          <a:prstGeom prst="rect">
            <a:avLst/>
          </a:prstGeom>
          <a:noFill/>
          <a:ln/>
        </p:spPr>
        <p:txBody>
          <a:bodyPr wrap="square" lIns="0" tIns="0" rIns="0" bIns="0" rtlCol="0" anchor="ctr"/>
          <a:lstStyle/>
          <a:p>
            <a:pPr algn="ctr" indent="0" marL="0">
              <a:buNone/>
            </a:pPr>
            <a:r>
              <a:rPr lang="en-US" sz="900" b="1" dirty="0">
                <a:solidFill>
                  <a:srgbClr val="FFFFFF"/>
                </a:solidFill>
              </a:rPr>
              <a:t>Lives inside a single input box.</a:t>
            </a:r>
            <a:endParaRPr lang="en-US" sz="900" dirty="0"/>
          </a:p>
        </p:txBody>
      </p:sp>
      <p:sp>
        <p:nvSpPr>
          <p:cNvPr id="10" name="Text 8"/>
          <p:cNvSpPr/>
          <p:nvPr/>
        </p:nvSpPr>
        <p:spPr>
          <a:xfrm>
            <a:off x="347472" y="1572768"/>
            <a:ext cx="3785616" cy="182880"/>
          </a:xfrm>
          <a:prstGeom prst="rect">
            <a:avLst/>
          </a:prstGeom>
          <a:noFill/>
          <a:ln/>
        </p:spPr>
        <p:txBody>
          <a:bodyPr wrap="square" rtlCol="0" anchor="ctr"/>
          <a:lstStyle/>
          <a:p>
            <a:pPr algn="ctr" indent="0" marL="0">
              <a:buNone/>
            </a:pPr>
            <a:r>
              <a:rPr lang="en-US" sz="750" b="1" spc="300" kern="0" dirty="0">
                <a:solidFill>
                  <a:srgbClr val="CC0000"/>
                </a:solidFill>
              </a:rPr>
              <a:t>THE FOCUS</a:t>
            </a:r>
            <a:endParaRPr lang="en-US" sz="750" dirty="0"/>
          </a:p>
        </p:txBody>
      </p:sp>
      <p:sp>
        <p:nvSpPr>
          <p:cNvPr id="11" name="Shape 9"/>
          <p:cNvSpPr/>
          <p:nvPr/>
        </p:nvSpPr>
        <p:spPr>
          <a:xfrm>
            <a:off x="347472" y="1783080"/>
            <a:ext cx="3785616" cy="960120"/>
          </a:xfrm>
          <a:prstGeom prst="roundRect">
            <a:avLst>
              <a:gd name="adj" fmla="val 6667"/>
            </a:avLst>
          </a:prstGeom>
          <a:solidFill>
            <a:srgbClr val="F9F9F9"/>
          </a:solidFill>
          <a:ln w="12700">
            <a:solidFill>
              <a:srgbClr val="DDDDDD"/>
            </a:solidFill>
            <a:prstDash val="solid"/>
          </a:ln>
        </p:spPr>
      </p:sp>
      <p:sp>
        <p:nvSpPr>
          <p:cNvPr id="12" name="Text 10"/>
          <p:cNvSpPr/>
          <p:nvPr/>
        </p:nvSpPr>
        <p:spPr>
          <a:xfrm>
            <a:off x="438912" y="1828800"/>
            <a:ext cx="3602736" cy="164592"/>
          </a:xfrm>
          <a:prstGeom prst="rect">
            <a:avLst/>
          </a:prstGeom>
          <a:noFill/>
          <a:ln/>
        </p:spPr>
        <p:txBody>
          <a:bodyPr wrap="square" rtlCol="0" anchor="ctr"/>
          <a:lstStyle/>
          <a:p>
            <a:pPr indent="0" marL="0">
              <a:buNone/>
            </a:pPr>
            <a:r>
              <a:rPr lang="en-US" sz="700" b="1" spc="100" kern="0" dirty="0">
                <a:solidFill>
                  <a:srgbClr val="888888"/>
                </a:solidFill>
              </a:rPr>
              <a:t>SYSTEM PROMPT</a:t>
            </a:r>
            <a:endParaRPr lang="en-US" sz="700" dirty="0"/>
          </a:p>
        </p:txBody>
      </p:sp>
      <p:sp>
        <p:nvSpPr>
          <p:cNvPr id="13" name="Text 11"/>
          <p:cNvSpPr/>
          <p:nvPr/>
        </p:nvSpPr>
        <p:spPr>
          <a:xfrm>
            <a:off x="438912" y="2011680"/>
            <a:ext cx="3602736" cy="658368"/>
          </a:xfrm>
          <a:prstGeom prst="rect">
            <a:avLst/>
          </a:prstGeom>
          <a:noFill/>
          <a:ln/>
        </p:spPr>
        <p:txBody>
          <a:bodyPr wrap="square" rtlCol="0" anchor="ctr"/>
          <a:lstStyle/>
          <a:p>
            <a:pPr indent="0" marL="0">
              <a:buNone/>
            </a:pPr>
            <a:r>
              <a:rPr lang="en-US" sz="900" i="1" dirty="0">
                <a:solidFill>
                  <a:srgbClr val="1A1A1A"/>
                </a:solidFill>
              </a:rPr>
              <a:t>"You are a helpful assistant.</a:t>
            </a:r>
            <a:endParaRPr lang="en-US" sz="900" dirty="0"/>
          </a:p>
          <a:p>
            <a:pPr indent="0" marL="0">
              <a:buNone/>
            </a:pPr>
            <a:r>
              <a:rPr lang="en-US" sz="900" i="1" dirty="0">
                <a:solidFill>
                  <a:srgbClr val="1A1A1A"/>
                </a:solidFill>
              </a:rPr>
              <a:t>Answer clearly and concisely.</a:t>
            </a:r>
            <a:endParaRPr lang="en-US" sz="900" dirty="0"/>
          </a:p>
          <a:p>
            <a:pPr indent="0" marL="0">
              <a:buNone/>
            </a:pPr>
            <a:r>
              <a:rPr lang="en-US" sz="900" i="1" dirty="0">
                <a:solidFill>
                  <a:srgbClr val="1A1A1A"/>
                </a:solidFill>
              </a:rPr>
              <a:t>If you don't know, say so. Use examples when helpful."</a:t>
            </a:r>
            <a:endParaRPr lang="en-US" sz="900" dirty="0"/>
          </a:p>
        </p:txBody>
      </p:sp>
      <p:sp>
        <p:nvSpPr>
          <p:cNvPr id="14" name="Shape 12"/>
          <p:cNvSpPr/>
          <p:nvPr/>
        </p:nvSpPr>
        <p:spPr>
          <a:xfrm>
            <a:off x="347472" y="2816352"/>
            <a:ext cx="256032" cy="256032"/>
          </a:xfrm>
          <a:prstGeom prst="ellipse">
            <a:avLst/>
          </a:prstGeom>
          <a:solidFill>
            <a:srgbClr val="E0E0E0"/>
          </a:solidFill>
          <a:ln w="12700">
            <a:solidFill>
              <a:srgbClr val="BBBBBB"/>
            </a:solidFill>
            <a:prstDash val="solid"/>
          </a:ln>
        </p:spPr>
      </p:sp>
      <p:sp>
        <p:nvSpPr>
          <p:cNvPr id="15" name="Text 13"/>
          <p:cNvSpPr/>
          <p:nvPr/>
        </p:nvSpPr>
        <p:spPr>
          <a:xfrm>
            <a:off x="347472" y="2816352"/>
            <a:ext cx="256032" cy="256032"/>
          </a:xfrm>
          <a:prstGeom prst="rect">
            <a:avLst/>
          </a:prstGeom>
          <a:noFill/>
          <a:ln/>
        </p:spPr>
        <p:txBody>
          <a:bodyPr wrap="square" lIns="0" tIns="0" rIns="0" bIns="0" rtlCol="0" anchor="ctr"/>
          <a:lstStyle/>
          <a:p>
            <a:pPr algn="ctr" indent="0" marL="0">
              <a:buNone/>
            </a:pPr>
            <a:r>
              <a:rPr lang="en-US" sz="1000" dirty="0">
                <a:solidFill>
                  <a:srgbClr val="000000"/>
                </a:solidFill>
              </a:rPr>
              <a:t>👤</a:t>
            </a:r>
            <a:endParaRPr lang="en-US" sz="1000" dirty="0"/>
          </a:p>
        </p:txBody>
      </p:sp>
      <p:sp>
        <p:nvSpPr>
          <p:cNvPr id="16" name="Shape 14"/>
          <p:cNvSpPr/>
          <p:nvPr/>
        </p:nvSpPr>
        <p:spPr>
          <a:xfrm>
            <a:off x="658368" y="2816352"/>
            <a:ext cx="3456432" cy="329184"/>
          </a:xfrm>
          <a:prstGeom prst="roundRect">
            <a:avLst>
              <a:gd name="adj" fmla="val 19444"/>
            </a:avLst>
          </a:prstGeom>
          <a:solidFill>
            <a:srgbClr val="FDEAEA"/>
          </a:solidFill>
          <a:ln w="12700">
            <a:solidFill>
              <a:srgbClr val="E8A0A0"/>
            </a:solidFill>
            <a:prstDash val="solid"/>
          </a:ln>
        </p:spPr>
      </p:sp>
      <p:sp>
        <p:nvSpPr>
          <p:cNvPr id="17" name="Text 15"/>
          <p:cNvSpPr/>
          <p:nvPr/>
        </p:nvSpPr>
        <p:spPr>
          <a:xfrm>
            <a:off x="731520" y="2834640"/>
            <a:ext cx="3364992" cy="292608"/>
          </a:xfrm>
          <a:prstGeom prst="rect">
            <a:avLst/>
          </a:prstGeom>
          <a:noFill/>
          <a:ln/>
        </p:spPr>
        <p:txBody>
          <a:bodyPr wrap="square" rtlCol="0" anchor="ctr"/>
          <a:lstStyle/>
          <a:p>
            <a:pPr indent="0" marL="0">
              <a:buNone/>
            </a:pPr>
            <a:r>
              <a:rPr lang="en-US" sz="900" i="1" dirty="0">
                <a:solidFill>
                  <a:srgbClr val="990000"/>
                </a:solidFill>
              </a:rPr>
              <a:t>"How should I phrase this instruction?"</a:t>
            </a:r>
            <a:endParaRPr lang="en-US" sz="900" dirty="0"/>
          </a:p>
        </p:txBody>
      </p:sp>
      <p:sp>
        <p:nvSpPr>
          <p:cNvPr id="18" name="Shape 16"/>
          <p:cNvSpPr/>
          <p:nvPr/>
        </p:nvSpPr>
        <p:spPr>
          <a:xfrm>
            <a:off x="347472" y="3255264"/>
            <a:ext cx="3785616" cy="0"/>
          </a:xfrm>
          <a:prstGeom prst="line">
            <a:avLst/>
          </a:prstGeom>
          <a:noFill/>
          <a:ln w="12700">
            <a:solidFill>
              <a:srgbClr val="DDDDDD"/>
            </a:solidFill>
            <a:prstDash val="solid"/>
          </a:ln>
        </p:spPr>
      </p:sp>
      <p:sp>
        <p:nvSpPr>
          <p:cNvPr id="19" name="Text 17"/>
          <p:cNvSpPr/>
          <p:nvPr/>
        </p:nvSpPr>
        <p:spPr>
          <a:xfrm>
            <a:off x="347472" y="3291840"/>
            <a:ext cx="3785616" cy="182880"/>
          </a:xfrm>
          <a:prstGeom prst="rect">
            <a:avLst/>
          </a:prstGeom>
          <a:noFill/>
          <a:ln/>
        </p:spPr>
        <p:txBody>
          <a:bodyPr wrap="square" rtlCol="0" anchor="ctr"/>
          <a:lstStyle/>
          <a:p>
            <a:pPr indent="0" marL="0">
              <a:buNone/>
            </a:pPr>
            <a:r>
              <a:rPr lang="en-US" sz="750" b="1" spc="200" kern="0" dirty="0">
                <a:solidFill>
                  <a:srgbClr val="888888"/>
                </a:solidFill>
              </a:rPr>
              <a:t>ANALOGY</a:t>
            </a:r>
            <a:endParaRPr lang="en-US" sz="750" dirty="0"/>
          </a:p>
        </p:txBody>
      </p:sp>
      <p:sp>
        <p:nvSpPr>
          <p:cNvPr id="20" name="Shape 18"/>
          <p:cNvSpPr/>
          <p:nvPr/>
        </p:nvSpPr>
        <p:spPr>
          <a:xfrm>
            <a:off x="347472" y="3511296"/>
            <a:ext cx="310896" cy="310896"/>
          </a:xfrm>
          <a:prstGeom prst="ellipse">
            <a:avLst/>
          </a:prstGeom>
          <a:solidFill>
            <a:srgbClr val="FFCD41"/>
          </a:solidFill>
          <a:ln w="12700">
            <a:solidFill>
              <a:srgbClr val="FFCD41"/>
            </a:solidFill>
            <a:prstDash val="solid"/>
          </a:ln>
        </p:spPr>
      </p:sp>
      <p:sp>
        <p:nvSpPr>
          <p:cNvPr id="21" name="Text 19"/>
          <p:cNvSpPr/>
          <p:nvPr/>
        </p:nvSpPr>
        <p:spPr>
          <a:xfrm>
            <a:off x="347472" y="3511296"/>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22" name="Text 20"/>
          <p:cNvSpPr/>
          <p:nvPr/>
        </p:nvSpPr>
        <p:spPr>
          <a:xfrm>
            <a:off x="713232" y="3511296"/>
            <a:ext cx="3419856" cy="182880"/>
          </a:xfrm>
          <a:prstGeom prst="rect">
            <a:avLst/>
          </a:prstGeom>
          <a:noFill/>
          <a:ln/>
        </p:spPr>
        <p:txBody>
          <a:bodyPr wrap="square" rtlCol="0" anchor="ctr"/>
          <a:lstStyle/>
          <a:p>
            <a:pPr indent="0" marL="0">
              <a:buNone/>
            </a:pPr>
            <a:r>
              <a:rPr lang="en-US" sz="950" b="1" dirty="0">
                <a:solidFill>
                  <a:srgbClr val="1A1A1A"/>
                </a:solidFill>
              </a:rPr>
              <a:t>COPYWRITING</a:t>
            </a:r>
            <a:endParaRPr lang="en-US" sz="950" dirty="0"/>
          </a:p>
        </p:txBody>
      </p:sp>
      <p:sp>
        <p:nvSpPr>
          <p:cNvPr id="23" name="Text 21"/>
          <p:cNvSpPr/>
          <p:nvPr/>
        </p:nvSpPr>
        <p:spPr>
          <a:xfrm>
            <a:off x="713232" y="3712464"/>
            <a:ext cx="3419856" cy="182880"/>
          </a:xfrm>
          <a:prstGeom prst="rect">
            <a:avLst/>
          </a:prstGeom>
          <a:noFill/>
          <a:ln/>
        </p:spPr>
        <p:txBody>
          <a:bodyPr wrap="square" rtlCol="0" anchor="ctr"/>
          <a:lstStyle/>
          <a:p>
            <a:pPr indent="0" marL="0">
              <a:buNone/>
            </a:pPr>
            <a:r>
              <a:rPr lang="en-US" sz="900" dirty="0">
                <a:solidFill>
                  <a:srgbClr val="444444"/>
                </a:solidFill>
              </a:rPr>
              <a:t>Crafting the perfect message.</a:t>
            </a:r>
            <a:endParaRPr lang="en-US" sz="900" dirty="0"/>
          </a:p>
        </p:txBody>
      </p:sp>
      <p:sp>
        <p:nvSpPr>
          <p:cNvPr id="24" name="Shape 22"/>
          <p:cNvSpPr/>
          <p:nvPr/>
        </p:nvSpPr>
        <p:spPr>
          <a:xfrm>
            <a:off x="347472" y="4507992"/>
            <a:ext cx="3785616" cy="274320"/>
          </a:xfrm>
          <a:prstGeom prst="roundRect">
            <a:avLst>
              <a:gd name="adj" fmla="val 20000"/>
            </a:avLst>
          </a:prstGeom>
          <a:solidFill>
            <a:srgbClr val="1A1A1A"/>
          </a:solidFill>
          <a:ln w="12700">
            <a:solidFill>
              <a:srgbClr val="1A1A1A"/>
            </a:solidFill>
            <a:prstDash val="solid"/>
          </a:ln>
        </p:spPr>
      </p:sp>
      <p:sp>
        <p:nvSpPr>
          <p:cNvPr id="25" name="Text 23"/>
          <p:cNvSpPr/>
          <p:nvPr/>
        </p:nvSpPr>
        <p:spPr>
          <a:xfrm>
            <a:off x="347472" y="4507992"/>
            <a:ext cx="3785616" cy="274320"/>
          </a:xfrm>
          <a:prstGeom prst="rect">
            <a:avLst/>
          </a:prstGeom>
          <a:noFill/>
          <a:ln/>
        </p:spPr>
        <p:txBody>
          <a:bodyPr wrap="square" lIns="0" tIns="0" rIns="0" bIns="0" rtlCol="0" anchor="ctr"/>
          <a:lstStyle/>
          <a:p>
            <a:pPr algn="ctr" indent="0" marL="0">
              <a:buNone/>
            </a:pPr>
            <a:r>
              <a:rPr lang="en-US" sz="950" b="1" dirty="0">
                <a:solidFill>
                  <a:srgbClr val="FFCD41"/>
                </a:solidFill>
              </a:rPr>
              <a:t>Better words → better input</a:t>
            </a:r>
            <a:endParaRPr lang="en-US" sz="950" dirty="0"/>
          </a:p>
        </p:txBody>
      </p:sp>
      <p:sp>
        <p:nvSpPr>
          <p:cNvPr id="26" name="Shape 24"/>
          <p:cNvSpPr/>
          <p:nvPr/>
        </p:nvSpPr>
        <p:spPr>
          <a:xfrm>
            <a:off x="4206240" y="2176272"/>
            <a:ext cx="731520" cy="731520"/>
          </a:xfrm>
          <a:prstGeom prst="ellipse">
            <a:avLst/>
          </a:prstGeom>
          <a:solidFill>
            <a:srgbClr val="1A1A1A"/>
          </a:solidFill>
          <a:ln w="31750">
            <a:solidFill>
              <a:srgbClr val="FFCD41"/>
            </a:solidFill>
            <a:prstDash val="solid"/>
          </a:ln>
        </p:spPr>
      </p:sp>
      <p:sp>
        <p:nvSpPr>
          <p:cNvPr id="27" name="Text 25"/>
          <p:cNvSpPr/>
          <p:nvPr/>
        </p:nvSpPr>
        <p:spPr>
          <a:xfrm>
            <a:off x="4206240" y="2176272"/>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VS</a:t>
            </a:r>
            <a:endParaRPr lang="en-US" sz="1300" dirty="0"/>
          </a:p>
        </p:txBody>
      </p:sp>
      <p:sp>
        <p:nvSpPr>
          <p:cNvPr id="28" name="Shape 26"/>
          <p:cNvSpPr/>
          <p:nvPr/>
        </p:nvSpPr>
        <p:spPr>
          <a:xfrm>
            <a:off x="4846320" y="164592"/>
            <a:ext cx="4114800" cy="4754880"/>
          </a:xfrm>
          <a:prstGeom prst="roundRect">
            <a:avLst>
              <a:gd name="adj" fmla="val 2667"/>
            </a:avLst>
          </a:prstGeom>
          <a:solidFill>
            <a:srgbClr val="FFFFFF"/>
          </a:solidFill>
          <a:ln/>
          <a:effectLst>
            <a:outerShdw sx="100000" sy="100000" kx="0" ky="0" algn="bl" rotWithShape="0" blurRad="101600" dist="25400" dir="2700000">
              <a:srgbClr val="000000">
                <a:alpha val="12000"/>
              </a:srgbClr>
            </a:outerShdw>
          </a:effectLst>
        </p:spPr>
      </p:sp>
      <p:sp>
        <p:nvSpPr>
          <p:cNvPr id="29" name="Shape 27"/>
          <p:cNvSpPr/>
          <p:nvPr/>
        </p:nvSpPr>
        <p:spPr>
          <a:xfrm>
            <a:off x="4846320" y="164592"/>
            <a:ext cx="4114800" cy="530352"/>
          </a:xfrm>
          <a:prstGeom prst="roundRect">
            <a:avLst>
              <a:gd name="adj" fmla="val 20690"/>
            </a:avLst>
          </a:prstGeom>
          <a:solidFill>
            <a:srgbClr val="CC0000"/>
          </a:solidFill>
          <a:ln w="12700">
            <a:solidFill>
              <a:srgbClr val="CC0000"/>
            </a:solidFill>
            <a:prstDash val="solid"/>
          </a:ln>
        </p:spPr>
      </p:sp>
      <p:sp>
        <p:nvSpPr>
          <p:cNvPr id="30" name="Shape 28"/>
          <p:cNvSpPr/>
          <p:nvPr/>
        </p:nvSpPr>
        <p:spPr>
          <a:xfrm>
            <a:off x="4846320" y="512064"/>
            <a:ext cx="4114800" cy="182880"/>
          </a:xfrm>
          <a:prstGeom prst="rect">
            <a:avLst/>
          </a:prstGeom>
          <a:solidFill>
            <a:srgbClr val="CC0000"/>
          </a:solidFill>
          <a:ln w="12700">
            <a:solidFill>
              <a:srgbClr val="CC0000"/>
            </a:solidFill>
            <a:prstDash val="solid"/>
          </a:ln>
        </p:spPr>
      </p:sp>
      <p:sp>
        <p:nvSpPr>
          <p:cNvPr id="31" name="Text 29"/>
          <p:cNvSpPr/>
          <p:nvPr/>
        </p:nvSpPr>
        <p:spPr>
          <a:xfrm>
            <a:off x="5010912" y="256032"/>
            <a:ext cx="3785616" cy="36576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CONTEXT ENGINEERING</a:t>
            </a:r>
            <a:endParaRPr lang="en-US" sz="1400" dirty="0"/>
          </a:p>
        </p:txBody>
      </p:sp>
      <p:sp>
        <p:nvSpPr>
          <p:cNvPr id="32" name="Text 30"/>
          <p:cNvSpPr/>
          <p:nvPr/>
        </p:nvSpPr>
        <p:spPr>
          <a:xfrm>
            <a:off x="5010912" y="768096"/>
            <a:ext cx="3785616" cy="201168"/>
          </a:xfrm>
          <a:prstGeom prst="rect">
            <a:avLst/>
          </a:prstGeom>
          <a:noFill/>
          <a:ln/>
        </p:spPr>
        <p:txBody>
          <a:bodyPr wrap="square" rtlCol="0" anchor="ctr"/>
          <a:lstStyle/>
          <a:p>
            <a:pPr indent="0" marL="0">
              <a:buNone/>
            </a:pPr>
            <a:r>
              <a:rPr lang="en-US" sz="950" i="1" dirty="0">
                <a:solidFill>
                  <a:srgbClr val="444444"/>
                </a:solidFill>
              </a:rPr>
              <a:t>About every token the model sees before it responds.</a:t>
            </a:r>
            <a:endParaRPr lang="en-US" sz="950" dirty="0"/>
          </a:p>
        </p:txBody>
      </p:sp>
      <p:sp>
        <p:nvSpPr>
          <p:cNvPr id="33" name="Text 31"/>
          <p:cNvSpPr/>
          <p:nvPr/>
        </p:nvSpPr>
        <p:spPr>
          <a:xfrm>
            <a:off x="5010912" y="969264"/>
            <a:ext cx="3785616" cy="274320"/>
          </a:xfrm>
          <a:prstGeom prst="rect">
            <a:avLst/>
          </a:prstGeom>
          <a:noFill/>
          <a:ln/>
        </p:spPr>
        <p:txBody>
          <a:bodyPr wrap="square" rtlCol="0" anchor="ctr"/>
          <a:lstStyle/>
          <a:p>
            <a:pPr indent="0" marL="0">
              <a:buNone/>
            </a:pPr>
            <a:r>
              <a:rPr lang="en-US" sz="950" dirty="0">
                <a:solidFill>
                  <a:srgbClr val="1A1A1A"/>
                </a:solidFill>
              </a:rPr>
              <a:t>System prompt, RAG, tool outputs, history, and agent state — all assembled into the context window.</a:t>
            </a:r>
            <a:endParaRPr lang="en-US" sz="950" dirty="0"/>
          </a:p>
        </p:txBody>
      </p:sp>
      <p:sp>
        <p:nvSpPr>
          <p:cNvPr id="34" name="Shape 32"/>
          <p:cNvSpPr/>
          <p:nvPr/>
        </p:nvSpPr>
        <p:spPr>
          <a:xfrm>
            <a:off x="5010912" y="1261872"/>
            <a:ext cx="3785616" cy="274320"/>
          </a:xfrm>
          <a:prstGeom prst="roundRect">
            <a:avLst>
              <a:gd name="adj" fmla="val 20000"/>
            </a:avLst>
          </a:prstGeom>
          <a:solidFill>
            <a:srgbClr val="CC0000"/>
          </a:solidFill>
          <a:ln w="12700">
            <a:solidFill>
              <a:srgbClr val="CC0000"/>
            </a:solidFill>
            <a:prstDash val="solid"/>
          </a:ln>
        </p:spPr>
      </p:sp>
      <p:sp>
        <p:nvSpPr>
          <p:cNvPr id="35" name="Text 33"/>
          <p:cNvSpPr/>
          <p:nvPr/>
        </p:nvSpPr>
        <p:spPr>
          <a:xfrm>
            <a:off x="5010912" y="1261872"/>
            <a:ext cx="3785616" cy="274320"/>
          </a:xfrm>
          <a:prstGeom prst="rect">
            <a:avLst/>
          </a:prstGeom>
          <a:noFill/>
          <a:ln/>
        </p:spPr>
        <p:txBody>
          <a:bodyPr wrap="square" lIns="0" tIns="0" rIns="0" bIns="0" rtlCol="0" anchor="ctr"/>
          <a:lstStyle/>
          <a:p>
            <a:pPr algn="ctr" indent="0" marL="0">
              <a:buNone/>
            </a:pPr>
            <a:r>
              <a:rPr lang="en-US" sz="900" b="1" dirty="0">
                <a:solidFill>
                  <a:srgbClr val="FFFFFF"/>
                </a:solidFill>
              </a:rPr>
              <a:t>All of it gets assembled into the context window.</a:t>
            </a:r>
            <a:endParaRPr lang="en-US" sz="900" dirty="0"/>
          </a:p>
        </p:txBody>
      </p:sp>
      <p:sp>
        <p:nvSpPr>
          <p:cNvPr id="36" name="Text 34"/>
          <p:cNvSpPr/>
          <p:nvPr/>
        </p:nvSpPr>
        <p:spPr>
          <a:xfrm>
            <a:off x="5010912" y="1572768"/>
            <a:ext cx="3785616" cy="182880"/>
          </a:xfrm>
          <a:prstGeom prst="rect">
            <a:avLst/>
          </a:prstGeom>
          <a:noFill/>
          <a:ln/>
        </p:spPr>
        <p:txBody>
          <a:bodyPr wrap="square" rtlCol="0" anchor="ctr"/>
          <a:lstStyle/>
          <a:p>
            <a:pPr algn="ctr" indent="0" marL="0">
              <a:buNone/>
            </a:pPr>
            <a:r>
              <a:rPr lang="en-US" sz="750" b="1" spc="300" kern="0" dirty="0">
                <a:solidFill>
                  <a:srgbClr val="CC0000"/>
                </a:solidFill>
              </a:rPr>
              <a:t>THE BIGGER PICTURE</a:t>
            </a:r>
            <a:endParaRPr lang="en-US" sz="750" dirty="0"/>
          </a:p>
        </p:txBody>
      </p:sp>
      <p:sp>
        <p:nvSpPr>
          <p:cNvPr id="37" name="Shape 35"/>
          <p:cNvSpPr/>
          <p:nvPr/>
        </p:nvSpPr>
        <p:spPr>
          <a:xfrm>
            <a:off x="7790688" y="1728216"/>
            <a:ext cx="585216" cy="1719072"/>
          </a:xfrm>
          <a:prstGeom prst="roundRect">
            <a:avLst>
              <a:gd name="adj" fmla="val 7813"/>
            </a:avLst>
          </a:prstGeom>
          <a:solidFill>
            <a:srgbClr val="F0F0F0"/>
          </a:solidFill>
          <a:ln w="12700">
            <a:solidFill>
              <a:srgbClr val="CCCCCC"/>
            </a:solidFill>
            <a:prstDash val="solid"/>
          </a:ln>
        </p:spPr>
      </p:sp>
      <p:sp>
        <p:nvSpPr>
          <p:cNvPr id="38" name="Text 36"/>
          <p:cNvSpPr/>
          <p:nvPr/>
        </p:nvSpPr>
        <p:spPr>
          <a:xfrm>
            <a:off x="7808976" y="1737360"/>
            <a:ext cx="548640" cy="237744"/>
          </a:xfrm>
          <a:prstGeom prst="rect">
            <a:avLst/>
          </a:prstGeom>
          <a:noFill/>
          <a:ln/>
        </p:spPr>
        <p:txBody>
          <a:bodyPr wrap="square" rtlCol="0" anchor="ctr"/>
          <a:lstStyle/>
          <a:p>
            <a:pPr algn="ctr" indent="0" marL="0">
              <a:buNone/>
            </a:pPr>
            <a:r>
              <a:rPr lang="en-US" sz="480" b="1" dirty="0">
                <a:solidFill>
                  <a:srgbClr val="999999"/>
                </a:solidFill>
              </a:rPr>
              <a:t>CONTEXT</a:t>
            </a:r>
            <a:endParaRPr lang="en-US" sz="480" dirty="0"/>
          </a:p>
          <a:p>
            <a:pPr algn="ctr" indent="0" marL="0">
              <a:buNone/>
            </a:pPr>
            <a:r>
              <a:rPr lang="en-US" sz="480" b="1" dirty="0">
                <a:solidFill>
                  <a:srgbClr val="999999"/>
                </a:solidFill>
              </a:rPr>
              <a:t>WINDOW</a:t>
            </a:r>
            <a:endParaRPr lang="en-US" sz="480" dirty="0"/>
          </a:p>
        </p:txBody>
      </p:sp>
      <p:sp>
        <p:nvSpPr>
          <p:cNvPr id="39" name="Shape 37"/>
          <p:cNvSpPr/>
          <p:nvPr/>
        </p:nvSpPr>
        <p:spPr>
          <a:xfrm>
            <a:off x="4983480" y="1828800"/>
            <a:ext cx="228600" cy="228600"/>
          </a:xfrm>
          <a:prstGeom prst="ellipse">
            <a:avLst/>
          </a:prstGeom>
          <a:solidFill>
            <a:srgbClr val="CC0000"/>
          </a:solidFill>
          <a:ln w="12700">
            <a:solidFill>
              <a:srgbClr val="CC0000"/>
            </a:solidFill>
            <a:prstDash val="solid"/>
          </a:ln>
        </p:spPr>
      </p:sp>
      <p:sp>
        <p:nvSpPr>
          <p:cNvPr id="40" name="Text 38"/>
          <p:cNvSpPr/>
          <p:nvPr/>
        </p:nvSpPr>
        <p:spPr>
          <a:xfrm>
            <a:off x="4983480" y="1828800"/>
            <a:ext cx="228600" cy="228600"/>
          </a:xfrm>
          <a:prstGeom prst="rect">
            <a:avLst/>
          </a:prstGeom>
          <a:noFill/>
          <a:ln/>
        </p:spPr>
        <p:txBody>
          <a:bodyPr wrap="square" lIns="0" tIns="0" rIns="0" bIns="0" rtlCol="0" anchor="ctr"/>
          <a:lstStyle/>
          <a:p>
            <a:pPr algn="ctr" indent="0" marL="0">
              <a:buNone/>
            </a:pPr>
            <a:r>
              <a:rPr lang="en-US" sz="750" b="1" dirty="0">
                <a:solidFill>
                  <a:srgbClr val="FFFFFF"/>
                </a:solidFill>
              </a:rPr>
              <a:t>1</a:t>
            </a:r>
            <a:endParaRPr lang="en-US" sz="750" dirty="0"/>
          </a:p>
        </p:txBody>
      </p:sp>
      <p:sp>
        <p:nvSpPr>
          <p:cNvPr id="41" name="Shape 39"/>
          <p:cNvSpPr/>
          <p:nvPr/>
        </p:nvSpPr>
        <p:spPr>
          <a:xfrm>
            <a:off x="5248656" y="1828800"/>
            <a:ext cx="228600" cy="228600"/>
          </a:xfrm>
          <a:prstGeom prst="ellipse">
            <a:avLst/>
          </a:prstGeom>
          <a:solidFill>
            <a:srgbClr val="FDEAEA"/>
          </a:solidFill>
          <a:ln w="12700">
            <a:solidFill>
              <a:srgbClr val="E8A0A0"/>
            </a:solidFill>
            <a:prstDash val="solid"/>
          </a:ln>
        </p:spPr>
      </p:sp>
      <p:sp>
        <p:nvSpPr>
          <p:cNvPr id="42" name="Text 40"/>
          <p:cNvSpPr/>
          <p:nvPr/>
        </p:nvSpPr>
        <p:spPr>
          <a:xfrm>
            <a:off x="5248656" y="1828800"/>
            <a:ext cx="228600" cy="228600"/>
          </a:xfrm>
          <a:prstGeom prst="rect">
            <a:avLst/>
          </a:prstGeom>
          <a:noFill/>
          <a:ln/>
        </p:spPr>
        <p:txBody>
          <a:bodyPr wrap="square" lIns="0" tIns="0" rIns="0" bIns="0" rtlCol="0" anchor="ctr"/>
          <a:lstStyle/>
          <a:p>
            <a:pPr algn="ctr" indent="0" marL="0">
              <a:buNone/>
            </a:pPr>
            <a:r>
              <a:rPr lang="en-US" sz="850" dirty="0">
                <a:solidFill>
                  <a:srgbClr val="CC0000"/>
                </a:solidFill>
              </a:rPr>
              <a:t>≡</a:t>
            </a:r>
            <a:endParaRPr lang="en-US" sz="850" dirty="0"/>
          </a:p>
        </p:txBody>
      </p:sp>
      <p:sp>
        <p:nvSpPr>
          <p:cNvPr id="43" name="Text 41"/>
          <p:cNvSpPr/>
          <p:nvPr/>
        </p:nvSpPr>
        <p:spPr>
          <a:xfrm>
            <a:off x="5522976" y="1837944"/>
            <a:ext cx="2121408" cy="210312"/>
          </a:xfrm>
          <a:prstGeom prst="rect">
            <a:avLst/>
          </a:prstGeom>
          <a:noFill/>
          <a:ln/>
        </p:spPr>
        <p:txBody>
          <a:bodyPr wrap="square" rtlCol="0" anchor="ctr"/>
          <a:lstStyle/>
          <a:p>
            <a:pPr indent="0" marL="0">
              <a:buNone/>
            </a:pPr>
            <a:r>
              <a:rPr lang="en-US" sz="800" b="1" dirty="0">
                <a:solidFill>
                  <a:srgbClr val="1A1A1A"/>
                </a:solidFill>
              </a:rPr>
              <a:t>System Prompt</a:t>
            </a:r>
            <a:endParaRPr lang="en-US" sz="800" dirty="0"/>
          </a:p>
        </p:txBody>
      </p:sp>
      <p:sp>
        <p:nvSpPr>
          <p:cNvPr id="44" name="Text 42"/>
          <p:cNvSpPr/>
          <p:nvPr/>
        </p:nvSpPr>
        <p:spPr>
          <a:xfrm>
            <a:off x="7680960" y="1828800"/>
            <a:ext cx="164592" cy="228600"/>
          </a:xfrm>
          <a:prstGeom prst="rect">
            <a:avLst/>
          </a:prstGeom>
          <a:noFill/>
          <a:ln/>
        </p:spPr>
        <p:txBody>
          <a:bodyPr wrap="square" lIns="0" tIns="0" rIns="0" bIns="0" rtlCol="0" anchor="ctr"/>
          <a:lstStyle/>
          <a:p>
            <a:pPr algn="ctr" indent="0" marL="0">
              <a:buNone/>
            </a:pPr>
            <a:r>
              <a:rPr lang="en-US" sz="900" b="1" dirty="0">
                <a:solidFill>
                  <a:srgbClr val="CC0000"/>
                </a:solidFill>
              </a:rPr>
              <a:t>→</a:t>
            </a:r>
            <a:endParaRPr lang="en-US" sz="900" dirty="0"/>
          </a:p>
        </p:txBody>
      </p:sp>
      <p:sp>
        <p:nvSpPr>
          <p:cNvPr id="45" name="Shape 43"/>
          <p:cNvSpPr/>
          <p:nvPr/>
        </p:nvSpPr>
        <p:spPr>
          <a:xfrm>
            <a:off x="7845552" y="1993392"/>
            <a:ext cx="475488" cy="182880"/>
          </a:xfrm>
          <a:prstGeom prst="roundRect">
            <a:avLst>
              <a:gd name="adj" fmla="val 15000"/>
            </a:avLst>
          </a:prstGeom>
          <a:solidFill>
            <a:srgbClr val="CC2200"/>
          </a:solidFill>
          <a:ln w="12700">
            <a:solidFill>
              <a:srgbClr val="CC2200"/>
            </a:solidFill>
            <a:prstDash val="solid"/>
          </a:ln>
        </p:spPr>
      </p:sp>
      <p:sp>
        <p:nvSpPr>
          <p:cNvPr id="46" name="Shape 44"/>
          <p:cNvSpPr/>
          <p:nvPr/>
        </p:nvSpPr>
        <p:spPr>
          <a:xfrm>
            <a:off x="4983480" y="2148840"/>
            <a:ext cx="228600" cy="228600"/>
          </a:xfrm>
          <a:prstGeom prst="ellipse">
            <a:avLst/>
          </a:prstGeom>
          <a:solidFill>
            <a:srgbClr val="CC0000"/>
          </a:solidFill>
          <a:ln w="12700">
            <a:solidFill>
              <a:srgbClr val="CC0000"/>
            </a:solidFill>
            <a:prstDash val="solid"/>
          </a:ln>
        </p:spPr>
      </p:sp>
      <p:sp>
        <p:nvSpPr>
          <p:cNvPr id="47" name="Text 45"/>
          <p:cNvSpPr/>
          <p:nvPr/>
        </p:nvSpPr>
        <p:spPr>
          <a:xfrm>
            <a:off x="4983480" y="2148840"/>
            <a:ext cx="228600" cy="228600"/>
          </a:xfrm>
          <a:prstGeom prst="rect">
            <a:avLst/>
          </a:prstGeom>
          <a:noFill/>
          <a:ln/>
        </p:spPr>
        <p:txBody>
          <a:bodyPr wrap="square" lIns="0" tIns="0" rIns="0" bIns="0" rtlCol="0" anchor="ctr"/>
          <a:lstStyle/>
          <a:p>
            <a:pPr algn="ctr" indent="0" marL="0">
              <a:buNone/>
            </a:pPr>
            <a:r>
              <a:rPr lang="en-US" sz="750" b="1" dirty="0">
                <a:solidFill>
                  <a:srgbClr val="FFFFFF"/>
                </a:solidFill>
              </a:rPr>
              <a:t>2</a:t>
            </a:r>
            <a:endParaRPr lang="en-US" sz="750" dirty="0"/>
          </a:p>
        </p:txBody>
      </p:sp>
      <p:sp>
        <p:nvSpPr>
          <p:cNvPr id="48" name="Shape 46"/>
          <p:cNvSpPr/>
          <p:nvPr/>
        </p:nvSpPr>
        <p:spPr>
          <a:xfrm>
            <a:off x="5248656" y="2148840"/>
            <a:ext cx="228600" cy="228600"/>
          </a:xfrm>
          <a:prstGeom prst="ellipse">
            <a:avLst/>
          </a:prstGeom>
          <a:solidFill>
            <a:srgbClr val="FDEAEA"/>
          </a:solidFill>
          <a:ln w="12700">
            <a:solidFill>
              <a:srgbClr val="E8A0A0"/>
            </a:solidFill>
            <a:prstDash val="solid"/>
          </a:ln>
        </p:spPr>
      </p:sp>
      <p:sp>
        <p:nvSpPr>
          <p:cNvPr id="49" name="Text 47"/>
          <p:cNvSpPr/>
          <p:nvPr/>
        </p:nvSpPr>
        <p:spPr>
          <a:xfrm>
            <a:off x="5248656" y="2148840"/>
            <a:ext cx="228600" cy="228600"/>
          </a:xfrm>
          <a:prstGeom prst="rect">
            <a:avLst/>
          </a:prstGeom>
          <a:noFill/>
          <a:ln/>
        </p:spPr>
        <p:txBody>
          <a:bodyPr wrap="square" lIns="0" tIns="0" rIns="0" bIns="0" rtlCol="0" anchor="ctr"/>
          <a:lstStyle/>
          <a:p>
            <a:pPr algn="ctr" indent="0" marL="0">
              <a:buNone/>
            </a:pPr>
            <a:r>
              <a:rPr lang="en-US" sz="850" dirty="0">
                <a:solidFill>
                  <a:srgbClr val="CC0000"/>
                </a:solidFill>
              </a:rPr>
              <a:t>⊞</a:t>
            </a:r>
            <a:endParaRPr lang="en-US" sz="850" dirty="0"/>
          </a:p>
        </p:txBody>
      </p:sp>
      <p:sp>
        <p:nvSpPr>
          <p:cNvPr id="50" name="Text 48"/>
          <p:cNvSpPr/>
          <p:nvPr/>
        </p:nvSpPr>
        <p:spPr>
          <a:xfrm>
            <a:off x="5522976" y="2157984"/>
            <a:ext cx="2121408" cy="210312"/>
          </a:xfrm>
          <a:prstGeom prst="rect">
            <a:avLst/>
          </a:prstGeom>
          <a:noFill/>
          <a:ln/>
        </p:spPr>
        <p:txBody>
          <a:bodyPr wrap="square" rtlCol="0" anchor="ctr"/>
          <a:lstStyle/>
          <a:p>
            <a:pPr indent="0" marL="0">
              <a:buNone/>
            </a:pPr>
            <a:r>
              <a:rPr lang="en-US" sz="800" b="1" dirty="0">
                <a:solidFill>
                  <a:srgbClr val="1A1A1A"/>
                </a:solidFill>
              </a:rPr>
              <a:t>Retrieved Knowledge</a:t>
            </a:r>
            <a:endParaRPr lang="en-US" sz="800" dirty="0"/>
          </a:p>
        </p:txBody>
      </p:sp>
      <p:sp>
        <p:nvSpPr>
          <p:cNvPr id="51" name="Text 49"/>
          <p:cNvSpPr/>
          <p:nvPr/>
        </p:nvSpPr>
        <p:spPr>
          <a:xfrm>
            <a:off x="7680960" y="2148840"/>
            <a:ext cx="164592" cy="228600"/>
          </a:xfrm>
          <a:prstGeom prst="rect">
            <a:avLst/>
          </a:prstGeom>
          <a:noFill/>
          <a:ln/>
        </p:spPr>
        <p:txBody>
          <a:bodyPr wrap="square" lIns="0" tIns="0" rIns="0" bIns="0" rtlCol="0" anchor="ctr"/>
          <a:lstStyle/>
          <a:p>
            <a:pPr algn="ctr" indent="0" marL="0">
              <a:buNone/>
            </a:pPr>
            <a:r>
              <a:rPr lang="en-US" sz="900" b="1" dirty="0">
                <a:solidFill>
                  <a:srgbClr val="CC0000"/>
                </a:solidFill>
              </a:rPr>
              <a:t>→</a:t>
            </a:r>
            <a:endParaRPr lang="en-US" sz="900" dirty="0"/>
          </a:p>
        </p:txBody>
      </p:sp>
      <p:sp>
        <p:nvSpPr>
          <p:cNvPr id="52" name="Shape 50"/>
          <p:cNvSpPr/>
          <p:nvPr/>
        </p:nvSpPr>
        <p:spPr>
          <a:xfrm>
            <a:off x="7845552" y="2247595"/>
            <a:ext cx="475488" cy="182880"/>
          </a:xfrm>
          <a:prstGeom prst="roundRect">
            <a:avLst>
              <a:gd name="adj" fmla="val 15000"/>
            </a:avLst>
          </a:prstGeom>
          <a:solidFill>
            <a:srgbClr val="993300"/>
          </a:solidFill>
          <a:ln w="12700">
            <a:solidFill>
              <a:srgbClr val="993300"/>
            </a:solidFill>
            <a:prstDash val="solid"/>
          </a:ln>
        </p:spPr>
      </p:sp>
      <p:sp>
        <p:nvSpPr>
          <p:cNvPr id="53" name="Shape 51"/>
          <p:cNvSpPr/>
          <p:nvPr/>
        </p:nvSpPr>
        <p:spPr>
          <a:xfrm>
            <a:off x="4983480" y="2468880"/>
            <a:ext cx="228600" cy="228600"/>
          </a:xfrm>
          <a:prstGeom prst="ellipse">
            <a:avLst/>
          </a:prstGeom>
          <a:solidFill>
            <a:srgbClr val="CC0000"/>
          </a:solidFill>
          <a:ln w="12700">
            <a:solidFill>
              <a:srgbClr val="CC0000"/>
            </a:solidFill>
            <a:prstDash val="solid"/>
          </a:ln>
        </p:spPr>
      </p:sp>
      <p:sp>
        <p:nvSpPr>
          <p:cNvPr id="54" name="Text 52"/>
          <p:cNvSpPr/>
          <p:nvPr/>
        </p:nvSpPr>
        <p:spPr>
          <a:xfrm>
            <a:off x="4983480" y="2468880"/>
            <a:ext cx="228600" cy="228600"/>
          </a:xfrm>
          <a:prstGeom prst="rect">
            <a:avLst/>
          </a:prstGeom>
          <a:noFill/>
          <a:ln/>
        </p:spPr>
        <p:txBody>
          <a:bodyPr wrap="square" lIns="0" tIns="0" rIns="0" bIns="0" rtlCol="0" anchor="ctr"/>
          <a:lstStyle/>
          <a:p>
            <a:pPr algn="ctr" indent="0" marL="0">
              <a:buNone/>
            </a:pPr>
            <a:r>
              <a:rPr lang="en-US" sz="750" b="1" dirty="0">
                <a:solidFill>
                  <a:srgbClr val="FFFFFF"/>
                </a:solidFill>
              </a:rPr>
              <a:t>3</a:t>
            </a:r>
            <a:endParaRPr lang="en-US" sz="750" dirty="0"/>
          </a:p>
        </p:txBody>
      </p:sp>
      <p:sp>
        <p:nvSpPr>
          <p:cNvPr id="55" name="Shape 53"/>
          <p:cNvSpPr/>
          <p:nvPr/>
        </p:nvSpPr>
        <p:spPr>
          <a:xfrm>
            <a:off x="5248656" y="2468880"/>
            <a:ext cx="228600" cy="228600"/>
          </a:xfrm>
          <a:prstGeom prst="ellipse">
            <a:avLst/>
          </a:prstGeom>
          <a:solidFill>
            <a:srgbClr val="FDEAEA"/>
          </a:solidFill>
          <a:ln w="12700">
            <a:solidFill>
              <a:srgbClr val="E8A0A0"/>
            </a:solidFill>
            <a:prstDash val="solid"/>
          </a:ln>
        </p:spPr>
      </p:sp>
      <p:sp>
        <p:nvSpPr>
          <p:cNvPr id="56" name="Text 54"/>
          <p:cNvSpPr/>
          <p:nvPr/>
        </p:nvSpPr>
        <p:spPr>
          <a:xfrm>
            <a:off x="5248656" y="2468880"/>
            <a:ext cx="228600" cy="228600"/>
          </a:xfrm>
          <a:prstGeom prst="rect">
            <a:avLst/>
          </a:prstGeom>
          <a:noFill/>
          <a:ln/>
        </p:spPr>
        <p:txBody>
          <a:bodyPr wrap="square" lIns="0" tIns="0" rIns="0" bIns="0" rtlCol="0" anchor="ctr"/>
          <a:lstStyle/>
          <a:p>
            <a:pPr algn="ctr" indent="0" marL="0">
              <a:buNone/>
            </a:pPr>
            <a:r>
              <a:rPr lang="en-US" sz="850" dirty="0">
                <a:solidFill>
                  <a:srgbClr val="CC0000"/>
                </a:solidFill>
              </a:rPr>
              <a:t>⚙</a:t>
            </a:r>
            <a:endParaRPr lang="en-US" sz="850" dirty="0"/>
          </a:p>
        </p:txBody>
      </p:sp>
      <p:sp>
        <p:nvSpPr>
          <p:cNvPr id="57" name="Text 55"/>
          <p:cNvSpPr/>
          <p:nvPr/>
        </p:nvSpPr>
        <p:spPr>
          <a:xfrm>
            <a:off x="5522976" y="2478024"/>
            <a:ext cx="2121408" cy="210312"/>
          </a:xfrm>
          <a:prstGeom prst="rect">
            <a:avLst/>
          </a:prstGeom>
          <a:noFill/>
          <a:ln/>
        </p:spPr>
        <p:txBody>
          <a:bodyPr wrap="square" rtlCol="0" anchor="ctr"/>
          <a:lstStyle/>
          <a:p>
            <a:pPr indent="0" marL="0">
              <a:buNone/>
            </a:pPr>
            <a:r>
              <a:rPr lang="en-US" sz="800" b="1" dirty="0">
                <a:solidFill>
                  <a:srgbClr val="1A1A1A"/>
                </a:solidFill>
              </a:rPr>
              <a:t>Tool Outputs</a:t>
            </a:r>
            <a:endParaRPr lang="en-US" sz="800" dirty="0"/>
          </a:p>
        </p:txBody>
      </p:sp>
      <p:sp>
        <p:nvSpPr>
          <p:cNvPr id="58" name="Text 56"/>
          <p:cNvSpPr/>
          <p:nvPr/>
        </p:nvSpPr>
        <p:spPr>
          <a:xfrm>
            <a:off x="7680960" y="2468880"/>
            <a:ext cx="164592" cy="228600"/>
          </a:xfrm>
          <a:prstGeom prst="rect">
            <a:avLst/>
          </a:prstGeom>
          <a:noFill/>
          <a:ln/>
        </p:spPr>
        <p:txBody>
          <a:bodyPr wrap="square" lIns="0" tIns="0" rIns="0" bIns="0" rtlCol="0" anchor="ctr"/>
          <a:lstStyle/>
          <a:p>
            <a:pPr algn="ctr" indent="0" marL="0">
              <a:buNone/>
            </a:pPr>
            <a:r>
              <a:rPr lang="en-US" sz="900" b="1" dirty="0">
                <a:solidFill>
                  <a:srgbClr val="CC0000"/>
                </a:solidFill>
              </a:rPr>
              <a:t>→</a:t>
            </a:r>
            <a:endParaRPr lang="en-US" sz="900" dirty="0"/>
          </a:p>
        </p:txBody>
      </p:sp>
      <p:sp>
        <p:nvSpPr>
          <p:cNvPr id="59" name="Shape 57"/>
          <p:cNvSpPr/>
          <p:nvPr/>
        </p:nvSpPr>
        <p:spPr>
          <a:xfrm>
            <a:off x="7845552" y="2501798"/>
            <a:ext cx="475488" cy="182880"/>
          </a:xfrm>
          <a:prstGeom prst="roundRect">
            <a:avLst>
              <a:gd name="adj" fmla="val 15000"/>
            </a:avLst>
          </a:prstGeom>
          <a:solidFill>
            <a:srgbClr val="CC5500"/>
          </a:solidFill>
          <a:ln w="12700">
            <a:solidFill>
              <a:srgbClr val="CC5500"/>
            </a:solidFill>
            <a:prstDash val="solid"/>
          </a:ln>
        </p:spPr>
      </p:sp>
      <p:sp>
        <p:nvSpPr>
          <p:cNvPr id="60" name="Shape 58"/>
          <p:cNvSpPr/>
          <p:nvPr/>
        </p:nvSpPr>
        <p:spPr>
          <a:xfrm>
            <a:off x="4983480" y="2788920"/>
            <a:ext cx="228600" cy="228600"/>
          </a:xfrm>
          <a:prstGeom prst="ellipse">
            <a:avLst/>
          </a:prstGeom>
          <a:solidFill>
            <a:srgbClr val="CC0000"/>
          </a:solidFill>
          <a:ln w="12700">
            <a:solidFill>
              <a:srgbClr val="CC0000"/>
            </a:solidFill>
            <a:prstDash val="solid"/>
          </a:ln>
        </p:spPr>
      </p:sp>
      <p:sp>
        <p:nvSpPr>
          <p:cNvPr id="61" name="Text 59"/>
          <p:cNvSpPr/>
          <p:nvPr/>
        </p:nvSpPr>
        <p:spPr>
          <a:xfrm>
            <a:off x="4983480" y="2788920"/>
            <a:ext cx="228600" cy="228600"/>
          </a:xfrm>
          <a:prstGeom prst="rect">
            <a:avLst/>
          </a:prstGeom>
          <a:noFill/>
          <a:ln/>
        </p:spPr>
        <p:txBody>
          <a:bodyPr wrap="square" lIns="0" tIns="0" rIns="0" bIns="0" rtlCol="0" anchor="ctr"/>
          <a:lstStyle/>
          <a:p>
            <a:pPr algn="ctr" indent="0" marL="0">
              <a:buNone/>
            </a:pPr>
            <a:r>
              <a:rPr lang="en-US" sz="750" b="1" dirty="0">
                <a:solidFill>
                  <a:srgbClr val="FFFFFF"/>
                </a:solidFill>
              </a:rPr>
              <a:t>4</a:t>
            </a:r>
            <a:endParaRPr lang="en-US" sz="750" dirty="0"/>
          </a:p>
        </p:txBody>
      </p:sp>
      <p:sp>
        <p:nvSpPr>
          <p:cNvPr id="62" name="Shape 60"/>
          <p:cNvSpPr/>
          <p:nvPr/>
        </p:nvSpPr>
        <p:spPr>
          <a:xfrm>
            <a:off x="5248656" y="2788920"/>
            <a:ext cx="228600" cy="228600"/>
          </a:xfrm>
          <a:prstGeom prst="ellipse">
            <a:avLst/>
          </a:prstGeom>
          <a:solidFill>
            <a:srgbClr val="FDEAEA"/>
          </a:solidFill>
          <a:ln w="12700">
            <a:solidFill>
              <a:srgbClr val="E8A0A0"/>
            </a:solidFill>
            <a:prstDash val="solid"/>
          </a:ln>
        </p:spPr>
      </p:sp>
      <p:sp>
        <p:nvSpPr>
          <p:cNvPr id="63" name="Text 61"/>
          <p:cNvSpPr/>
          <p:nvPr/>
        </p:nvSpPr>
        <p:spPr>
          <a:xfrm>
            <a:off x="5248656" y="2788920"/>
            <a:ext cx="228600" cy="228600"/>
          </a:xfrm>
          <a:prstGeom prst="rect">
            <a:avLst/>
          </a:prstGeom>
          <a:noFill/>
          <a:ln/>
        </p:spPr>
        <p:txBody>
          <a:bodyPr wrap="square" lIns="0" tIns="0" rIns="0" bIns="0" rtlCol="0" anchor="ctr"/>
          <a:lstStyle/>
          <a:p>
            <a:pPr algn="ctr" indent="0" marL="0">
              <a:buNone/>
            </a:pPr>
            <a:r>
              <a:rPr lang="en-US" sz="850" dirty="0">
                <a:solidFill>
                  <a:srgbClr val="CC0000"/>
                </a:solidFill>
              </a:rPr>
              <a:t>💬</a:t>
            </a:r>
            <a:endParaRPr lang="en-US" sz="850" dirty="0"/>
          </a:p>
        </p:txBody>
      </p:sp>
      <p:sp>
        <p:nvSpPr>
          <p:cNvPr id="64" name="Text 62"/>
          <p:cNvSpPr/>
          <p:nvPr/>
        </p:nvSpPr>
        <p:spPr>
          <a:xfrm>
            <a:off x="5522976" y="2798064"/>
            <a:ext cx="2121408" cy="210312"/>
          </a:xfrm>
          <a:prstGeom prst="rect">
            <a:avLst/>
          </a:prstGeom>
          <a:noFill/>
          <a:ln/>
        </p:spPr>
        <p:txBody>
          <a:bodyPr wrap="square" rtlCol="0" anchor="ctr"/>
          <a:lstStyle/>
          <a:p>
            <a:pPr indent="0" marL="0">
              <a:buNone/>
            </a:pPr>
            <a:r>
              <a:rPr lang="en-US" sz="800" b="1" dirty="0">
                <a:solidFill>
                  <a:srgbClr val="1A1A1A"/>
                </a:solidFill>
              </a:rPr>
              <a:t>Conversation History</a:t>
            </a:r>
            <a:endParaRPr lang="en-US" sz="800" dirty="0"/>
          </a:p>
        </p:txBody>
      </p:sp>
      <p:sp>
        <p:nvSpPr>
          <p:cNvPr id="65" name="Text 63"/>
          <p:cNvSpPr/>
          <p:nvPr/>
        </p:nvSpPr>
        <p:spPr>
          <a:xfrm>
            <a:off x="7680960" y="2788920"/>
            <a:ext cx="164592" cy="228600"/>
          </a:xfrm>
          <a:prstGeom prst="rect">
            <a:avLst/>
          </a:prstGeom>
          <a:noFill/>
          <a:ln/>
        </p:spPr>
        <p:txBody>
          <a:bodyPr wrap="square" lIns="0" tIns="0" rIns="0" bIns="0" rtlCol="0" anchor="ctr"/>
          <a:lstStyle/>
          <a:p>
            <a:pPr algn="ctr" indent="0" marL="0">
              <a:buNone/>
            </a:pPr>
            <a:r>
              <a:rPr lang="en-US" sz="900" b="1" dirty="0">
                <a:solidFill>
                  <a:srgbClr val="CC0000"/>
                </a:solidFill>
              </a:rPr>
              <a:t>→</a:t>
            </a:r>
            <a:endParaRPr lang="en-US" sz="900" dirty="0"/>
          </a:p>
        </p:txBody>
      </p:sp>
      <p:sp>
        <p:nvSpPr>
          <p:cNvPr id="66" name="Shape 64"/>
          <p:cNvSpPr/>
          <p:nvPr/>
        </p:nvSpPr>
        <p:spPr>
          <a:xfrm>
            <a:off x="7845552" y="2756002"/>
            <a:ext cx="475488" cy="182880"/>
          </a:xfrm>
          <a:prstGeom prst="roundRect">
            <a:avLst>
              <a:gd name="adj" fmla="val 15000"/>
            </a:avLst>
          </a:prstGeom>
          <a:solidFill>
            <a:srgbClr val="886600"/>
          </a:solidFill>
          <a:ln w="12700">
            <a:solidFill>
              <a:srgbClr val="886600"/>
            </a:solidFill>
            <a:prstDash val="solid"/>
          </a:ln>
        </p:spPr>
      </p:sp>
      <p:sp>
        <p:nvSpPr>
          <p:cNvPr id="67" name="Shape 65"/>
          <p:cNvSpPr/>
          <p:nvPr/>
        </p:nvSpPr>
        <p:spPr>
          <a:xfrm>
            <a:off x="4983480" y="3108960"/>
            <a:ext cx="228600" cy="228600"/>
          </a:xfrm>
          <a:prstGeom prst="ellipse">
            <a:avLst/>
          </a:prstGeom>
          <a:solidFill>
            <a:srgbClr val="CC0000"/>
          </a:solidFill>
          <a:ln w="12700">
            <a:solidFill>
              <a:srgbClr val="CC0000"/>
            </a:solidFill>
            <a:prstDash val="solid"/>
          </a:ln>
        </p:spPr>
      </p:sp>
      <p:sp>
        <p:nvSpPr>
          <p:cNvPr id="68" name="Text 66"/>
          <p:cNvSpPr/>
          <p:nvPr/>
        </p:nvSpPr>
        <p:spPr>
          <a:xfrm>
            <a:off x="4983480" y="3108960"/>
            <a:ext cx="228600" cy="228600"/>
          </a:xfrm>
          <a:prstGeom prst="rect">
            <a:avLst/>
          </a:prstGeom>
          <a:noFill/>
          <a:ln/>
        </p:spPr>
        <p:txBody>
          <a:bodyPr wrap="square" lIns="0" tIns="0" rIns="0" bIns="0" rtlCol="0" anchor="ctr"/>
          <a:lstStyle/>
          <a:p>
            <a:pPr algn="ctr" indent="0" marL="0">
              <a:buNone/>
            </a:pPr>
            <a:r>
              <a:rPr lang="en-US" sz="750" b="1" dirty="0">
                <a:solidFill>
                  <a:srgbClr val="FFFFFF"/>
                </a:solidFill>
              </a:rPr>
              <a:t>5</a:t>
            </a:r>
            <a:endParaRPr lang="en-US" sz="750" dirty="0"/>
          </a:p>
        </p:txBody>
      </p:sp>
      <p:sp>
        <p:nvSpPr>
          <p:cNvPr id="69" name="Shape 67"/>
          <p:cNvSpPr/>
          <p:nvPr/>
        </p:nvSpPr>
        <p:spPr>
          <a:xfrm>
            <a:off x="5248656" y="3108960"/>
            <a:ext cx="228600" cy="228600"/>
          </a:xfrm>
          <a:prstGeom prst="ellipse">
            <a:avLst/>
          </a:prstGeom>
          <a:solidFill>
            <a:srgbClr val="FDEAEA"/>
          </a:solidFill>
          <a:ln w="12700">
            <a:solidFill>
              <a:srgbClr val="E8A0A0"/>
            </a:solidFill>
            <a:prstDash val="solid"/>
          </a:ln>
        </p:spPr>
      </p:sp>
      <p:sp>
        <p:nvSpPr>
          <p:cNvPr id="70" name="Text 68"/>
          <p:cNvSpPr/>
          <p:nvPr/>
        </p:nvSpPr>
        <p:spPr>
          <a:xfrm>
            <a:off x="5248656" y="3108960"/>
            <a:ext cx="228600" cy="228600"/>
          </a:xfrm>
          <a:prstGeom prst="rect">
            <a:avLst/>
          </a:prstGeom>
          <a:noFill/>
          <a:ln/>
        </p:spPr>
        <p:txBody>
          <a:bodyPr wrap="square" lIns="0" tIns="0" rIns="0" bIns="0" rtlCol="0" anchor="ctr"/>
          <a:lstStyle/>
          <a:p>
            <a:pPr algn="ctr" indent="0" marL="0">
              <a:buNone/>
            </a:pPr>
            <a:r>
              <a:rPr lang="en-US" sz="850" dirty="0">
                <a:solidFill>
                  <a:srgbClr val="CC0000"/>
                </a:solidFill>
              </a:rPr>
              <a:t>◎</a:t>
            </a:r>
            <a:endParaRPr lang="en-US" sz="850" dirty="0"/>
          </a:p>
        </p:txBody>
      </p:sp>
      <p:sp>
        <p:nvSpPr>
          <p:cNvPr id="71" name="Text 69"/>
          <p:cNvSpPr/>
          <p:nvPr/>
        </p:nvSpPr>
        <p:spPr>
          <a:xfrm>
            <a:off x="5522976" y="3118104"/>
            <a:ext cx="2121408" cy="210312"/>
          </a:xfrm>
          <a:prstGeom prst="rect">
            <a:avLst/>
          </a:prstGeom>
          <a:noFill/>
          <a:ln/>
        </p:spPr>
        <p:txBody>
          <a:bodyPr wrap="square" rtlCol="0" anchor="ctr"/>
          <a:lstStyle/>
          <a:p>
            <a:pPr indent="0" marL="0">
              <a:buNone/>
            </a:pPr>
            <a:r>
              <a:rPr lang="en-US" sz="800" b="1" dirty="0">
                <a:solidFill>
                  <a:srgbClr val="1A1A1A"/>
                </a:solidFill>
              </a:rPr>
              <a:t>Agent State</a:t>
            </a:r>
            <a:endParaRPr lang="en-US" sz="800" dirty="0"/>
          </a:p>
        </p:txBody>
      </p:sp>
      <p:sp>
        <p:nvSpPr>
          <p:cNvPr id="72" name="Text 70"/>
          <p:cNvSpPr/>
          <p:nvPr/>
        </p:nvSpPr>
        <p:spPr>
          <a:xfrm>
            <a:off x="7680960" y="3108960"/>
            <a:ext cx="164592" cy="228600"/>
          </a:xfrm>
          <a:prstGeom prst="rect">
            <a:avLst/>
          </a:prstGeom>
          <a:noFill/>
          <a:ln/>
        </p:spPr>
        <p:txBody>
          <a:bodyPr wrap="square" lIns="0" tIns="0" rIns="0" bIns="0" rtlCol="0" anchor="ctr"/>
          <a:lstStyle/>
          <a:p>
            <a:pPr algn="ctr" indent="0" marL="0">
              <a:buNone/>
            </a:pPr>
            <a:r>
              <a:rPr lang="en-US" sz="900" b="1" dirty="0">
                <a:solidFill>
                  <a:srgbClr val="CC0000"/>
                </a:solidFill>
              </a:rPr>
              <a:t>→</a:t>
            </a:r>
            <a:endParaRPr lang="en-US" sz="900" dirty="0"/>
          </a:p>
        </p:txBody>
      </p:sp>
      <p:sp>
        <p:nvSpPr>
          <p:cNvPr id="73" name="Shape 71"/>
          <p:cNvSpPr/>
          <p:nvPr/>
        </p:nvSpPr>
        <p:spPr>
          <a:xfrm>
            <a:off x="7845552" y="3010205"/>
            <a:ext cx="475488" cy="182880"/>
          </a:xfrm>
          <a:prstGeom prst="roundRect">
            <a:avLst>
              <a:gd name="adj" fmla="val 15000"/>
            </a:avLst>
          </a:prstGeom>
          <a:solidFill>
            <a:srgbClr val="AA8800"/>
          </a:solidFill>
          <a:ln w="12700">
            <a:solidFill>
              <a:srgbClr val="AA8800"/>
            </a:solidFill>
            <a:prstDash val="solid"/>
          </a:ln>
        </p:spPr>
      </p:sp>
      <p:sp>
        <p:nvSpPr>
          <p:cNvPr id="74" name="Text 72"/>
          <p:cNvSpPr/>
          <p:nvPr/>
        </p:nvSpPr>
        <p:spPr>
          <a:xfrm>
            <a:off x="8330184" y="2395728"/>
            <a:ext cx="237744" cy="310896"/>
          </a:xfrm>
          <a:prstGeom prst="rect">
            <a:avLst/>
          </a:prstGeom>
          <a:noFill/>
          <a:ln/>
        </p:spPr>
        <p:txBody>
          <a:bodyPr wrap="square" lIns="0" tIns="0" rIns="0" bIns="0" rtlCol="0" anchor="ctr"/>
          <a:lstStyle/>
          <a:p>
            <a:pPr algn="ctr" indent="0" marL="0">
              <a:buNone/>
            </a:pPr>
            <a:r>
              <a:rPr lang="en-US" sz="1300" b="1" dirty="0">
                <a:solidFill>
                  <a:srgbClr val="CC0000"/>
                </a:solidFill>
              </a:rPr>
              <a:t>→</a:t>
            </a:r>
            <a:endParaRPr lang="en-US" sz="1300" dirty="0"/>
          </a:p>
        </p:txBody>
      </p:sp>
      <p:sp>
        <p:nvSpPr>
          <p:cNvPr id="75" name="Shape 73"/>
          <p:cNvSpPr/>
          <p:nvPr/>
        </p:nvSpPr>
        <p:spPr>
          <a:xfrm>
            <a:off x="8430768" y="2340864"/>
            <a:ext cx="438912" cy="438912"/>
          </a:xfrm>
          <a:prstGeom prst="ellipse">
            <a:avLst/>
          </a:prstGeom>
          <a:solidFill>
            <a:srgbClr val="990000"/>
          </a:solidFill>
          <a:ln w="25400">
            <a:solidFill>
              <a:srgbClr val="FFCD41"/>
            </a:solidFill>
            <a:prstDash val="solid"/>
          </a:ln>
        </p:spPr>
      </p:sp>
      <p:sp>
        <p:nvSpPr>
          <p:cNvPr id="76" name="Text 74"/>
          <p:cNvSpPr/>
          <p:nvPr/>
        </p:nvSpPr>
        <p:spPr>
          <a:xfrm>
            <a:off x="8430768" y="2340864"/>
            <a:ext cx="438912" cy="438912"/>
          </a:xfrm>
          <a:prstGeom prst="rect">
            <a:avLst/>
          </a:prstGeom>
          <a:noFill/>
          <a:ln/>
        </p:spPr>
        <p:txBody>
          <a:bodyPr wrap="square" lIns="0" tIns="0" rIns="0" bIns="0" rtlCol="0" anchor="ctr"/>
          <a:lstStyle/>
          <a:p>
            <a:pPr algn="ctr" indent="0" marL="0">
              <a:buNone/>
            </a:pPr>
            <a:r>
              <a:rPr lang="en-US" sz="1500" b="1" dirty="0">
                <a:solidFill>
                  <a:srgbClr val="FFCD41"/>
                </a:solidFill>
              </a:rPr>
              <a:t>◎</a:t>
            </a:r>
            <a:endParaRPr lang="en-US" sz="1500" dirty="0"/>
          </a:p>
        </p:txBody>
      </p:sp>
      <p:sp>
        <p:nvSpPr>
          <p:cNvPr id="77" name="Text 75"/>
          <p:cNvSpPr/>
          <p:nvPr/>
        </p:nvSpPr>
        <p:spPr>
          <a:xfrm>
            <a:off x="8339328" y="2798064"/>
            <a:ext cx="621792" cy="274320"/>
          </a:xfrm>
          <a:prstGeom prst="rect">
            <a:avLst/>
          </a:prstGeom>
          <a:noFill/>
          <a:ln/>
        </p:spPr>
        <p:txBody>
          <a:bodyPr wrap="square" rtlCol="0" anchor="ctr"/>
          <a:lstStyle/>
          <a:p>
            <a:pPr algn="ctr" indent="0" marL="0">
              <a:buNone/>
            </a:pPr>
            <a:r>
              <a:rPr lang="en-US" sz="550" b="1" dirty="0">
                <a:solidFill>
                  <a:srgbClr val="990000"/>
                </a:solidFill>
              </a:rPr>
              <a:t>LLM</a:t>
            </a:r>
            <a:endParaRPr lang="en-US" sz="550" dirty="0"/>
          </a:p>
          <a:p>
            <a:pPr algn="ctr" indent="0" marL="0">
              <a:buNone/>
            </a:pPr>
            <a:r>
              <a:rPr lang="en-US" sz="550" b="1" dirty="0">
                <a:solidFill>
                  <a:srgbClr val="990000"/>
                </a:solidFill>
              </a:rPr>
              <a:t>(thinks)</a:t>
            </a:r>
            <a:endParaRPr lang="en-US" sz="550" dirty="0"/>
          </a:p>
        </p:txBody>
      </p:sp>
      <p:sp>
        <p:nvSpPr>
          <p:cNvPr id="78" name="Shape 76"/>
          <p:cNvSpPr/>
          <p:nvPr/>
        </p:nvSpPr>
        <p:spPr>
          <a:xfrm>
            <a:off x="5010912" y="3474720"/>
            <a:ext cx="3785616" cy="0"/>
          </a:xfrm>
          <a:prstGeom prst="line">
            <a:avLst/>
          </a:prstGeom>
          <a:noFill/>
          <a:ln w="12700">
            <a:solidFill>
              <a:srgbClr val="DDDDDD"/>
            </a:solidFill>
            <a:prstDash val="solid"/>
          </a:ln>
        </p:spPr>
      </p:sp>
      <p:sp>
        <p:nvSpPr>
          <p:cNvPr id="79" name="Text 77"/>
          <p:cNvSpPr/>
          <p:nvPr/>
        </p:nvSpPr>
        <p:spPr>
          <a:xfrm>
            <a:off x="5010912" y="3511296"/>
            <a:ext cx="3785616" cy="182880"/>
          </a:xfrm>
          <a:prstGeom prst="rect">
            <a:avLst/>
          </a:prstGeom>
          <a:noFill/>
          <a:ln/>
        </p:spPr>
        <p:txBody>
          <a:bodyPr wrap="square" rtlCol="0" anchor="ctr"/>
          <a:lstStyle/>
          <a:p>
            <a:pPr indent="0" marL="0">
              <a:buNone/>
            </a:pPr>
            <a:r>
              <a:rPr lang="en-US" sz="750" b="1" spc="200" kern="0" dirty="0">
                <a:solidFill>
                  <a:srgbClr val="888888"/>
                </a:solidFill>
              </a:rPr>
              <a:t>ANALOGY</a:t>
            </a:r>
            <a:endParaRPr lang="en-US" sz="750" dirty="0"/>
          </a:p>
        </p:txBody>
      </p:sp>
      <p:sp>
        <p:nvSpPr>
          <p:cNvPr id="80" name="Shape 78"/>
          <p:cNvSpPr/>
          <p:nvPr/>
        </p:nvSpPr>
        <p:spPr>
          <a:xfrm>
            <a:off x="5010912" y="3730752"/>
            <a:ext cx="310896" cy="310896"/>
          </a:xfrm>
          <a:prstGeom prst="ellipse">
            <a:avLst/>
          </a:prstGeom>
          <a:solidFill>
            <a:srgbClr val="FFCD41"/>
          </a:solidFill>
          <a:ln w="12700">
            <a:solidFill>
              <a:srgbClr val="FFCD41"/>
            </a:solidFill>
            <a:prstDash val="solid"/>
          </a:ln>
        </p:spPr>
      </p:sp>
      <p:sp>
        <p:nvSpPr>
          <p:cNvPr id="81" name="Text 79"/>
          <p:cNvSpPr/>
          <p:nvPr/>
        </p:nvSpPr>
        <p:spPr>
          <a:xfrm>
            <a:off x="5010912" y="3730752"/>
            <a:ext cx="310896" cy="310896"/>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82" name="Text 80"/>
          <p:cNvSpPr/>
          <p:nvPr/>
        </p:nvSpPr>
        <p:spPr>
          <a:xfrm>
            <a:off x="5376672" y="3730752"/>
            <a:ext cx="3419856" cy="182880"/>
          </a:xfrm>
          <a:prstGeom prst="rect">
            <a:avLst/>
          </a:prstGeom>
          <a:noFill/>
          <a:ln/>
        </p:spPr>
        <p:txBody>
          <a:bodyPr wrap="square" rtlCol="0" anchor="ctr"/>
          <a:lstStyle/>
          <a:p>
            <a:pPr indent="0" marL="0">
              <a:buNone/>
            </a:pPr>
            <a:r>
              <a:rPr lang="en-US" sz="950" b="1" dirty="0">
                <a:solidFill>
                  <a:srgbClr val="1A1A1A"/>
                </a:solidFill>
              </a:rPr>
              <a:t>PLUMBING</a:t>
            </a:r>
            <a:endParaRPr lang="en-US" sz="950" dirty="0"/>
          </a:p>
        </p:txBody>
      </p:sp>
      <p:sp>
        <p:nvSpPr>
          <p:cNvPr id="83" name="Text 81"/>
          <p:cNvSpPr/>
          <p:nvPr/>
        </p:nvSpPr>
        <p:spPr>
          <a:xfrm>
            <a:off x="5376672" y="3931920"/>
            <a:ext cx="3419856" cy="256032"/>
          </a:xfrm>
          <a:prstGeom prst="rect">
            <a:avLst/>
          </a:prstGeom>
          <a:noFill/>
          <a:ln/>
        </p:spPr>
        <p:txBody>
          <a:bodyPr wrap="square" rtlCol="0" anchor="ctr"/>
          <a:lstStyle/>
          <a:p>
            <a:pPr indent="0" marL="0">
              <a:buNone/>
            </a:pPr>
            <a:r>
              <a:rPr lang="en-US" sz="900" dirty="0">
                <a:solidFill>
                  <a:srgbClr val="444444"/>
                </a:solidFill>
              </a:rPr>
              <a:t>Building the pipes that deliver the right data at the right time.</a:t>
            </a:r>
            <a:endParaRPr lang="en-US" sz="900" dirty="0"/>
          </a:p>
        </p:txBody>
      </p:sp>
      <p:sp>
        <p:nvSpPr>
          <p:cNvPr id="84" name="Shape 82"/>
          <p:cNvSpPr/>
          <p:nvPr/>
        </p:nvSpPr>
        <p:spPr>
          <a:xfrm>
            <a:off x="5010912" y="4507992"/>
            <a:ext cx="3785616" cy="274320"/>
          </a:xfrm>
          <a:prstGeom prst="roundRect">
            <a:avLst>
              <a:gd name="adj" fmla="val 20000"/>
            </a:avLst>
          </a:prstGeom>
          <a:solidFill>
            <a:srgbClr val="1A1A1A"/>
          </a:solidFill>
          <a:ln w="12700">
            <a:solidFill>
              <a:srgbClr val="1A1A1A"/>
            </a:solidFill>
            <a:prstDash val="solid"/>
          </a:ln>
        </p:spPr>
      </p:sp>
      <p:sp>
        <p:nvSpPr>
          <p:cNvPr id="85" name="Text 83"/>
          <p:cNvSpPr/>
          <p:nvPr/>
        </p:nvSpPr>
        <p:spPr>
          <a:xfrm>
            <a:off x="5010912" y="4507992"/>
            <a:ext cx="3785616" cy="274320"/>
          </a:xfrm>
          <a:prstGeom prst="rect">
            <a:avLst/>
          </a:prstGeom>
          <a:noFill/>
          <a:ln/>
        </p:spPr>
        <p:txBody>
          <a:bodyPr wrap="square" lIns="0" tIns="0" rIns="0" bIns="0" rtlCol="0" anchor="ctr"/>
          <a:lstStyle/>
          <a:p>
            <a:pPr algn="ctr" indent="0" marL="0">
              <a:buNone/>
            </a:pPr>
            <a:r>
              <a:rPr lang="en-US" sz="950" b="1" dirty="0">
                <a:solidFill>
                  <a:srgbClr val="FFCD41"/>
                </a:solidFill>
              </a:rPr>
              <a:t>Better context → better reasoning → better outcomes</a:t>
            </a:r>
            <a:endParaRPr lang="en-US" sz="950" dirty="0"/>
          </a:p>
        </p:txBody>
      </p:sp>
      <p:sp>
        <p:nvSpPr>
          <p:cNvPr id="86" name="Shape 84"/>
          <p:cNvSpPr/>
          <p:nvPr/>
        </p:nvSpPr>
        <p:spPr>
          <a:xfrm>
            <a:off x="0" y="4873752"/>
            <a:ext cx="9144000" cy="274320"/>
          </a:xfrm>
          <a:prstGeom prst="rect">
            <a:avLst/>
          </a:prstGeom>
          <a:solidFill>
            <a:srgbClr val="CC0000"/>
          </a:solidFill>
          <a:ln w="12700">
            <a:solidFill>
              <a:srgbClr val="CC0000"/>
            </a:solidFill>
            <a:prstDash val="solid"/>
          </a:ln>
        </p:spPr>
      </p:sp>
      <p:sp>
        <p:nvSpPr>
          <p:cNvPr id="87" name="Text 85"/>
          <p:cNvSpPr/>
          <p:nvPr/>
        </p:nvSpPr>
        <p:spPr>
          <a:xfrm>
            <a:off x="0" y="4873752"/>
            <a:ext cx="9144000" cy="274320"/>
          </a:xfrm>
          <a:prstGeom prst="rect">
            <a:avLst/>
          </a:prstGeom>
          <a:noFill/>
          <a:ln/>
        </p:spPr>
        <p:txBody>
          <a:bodyPr wrap="square" lIns="0" tIns="0" rIns="0" bIns="0" rtlCol="0" anchor="ctr"/>
          <a:lstStyle/>
          <a:p>
            <a:pPr algn="ctr" indent="0" marL="0">
              <a:buNone/>
            </a:pPr>
            <a:r>
              <a:rPr lang="en-US" sz="1050" b="1" dirty="0">
                <a:solidFill>
                  <a:srgbClr val="FFFFFF"/>
                </a:solidFill>
              </a:rPr>
              <a:t>BUT WHEN YOU BUILD AGENTS, THE PLUMBING IS WHAT BREAKS.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A1A1A"/>
          </a:solidFill>
          <a:ln w="12700">
            <a:solidFill>
              <a:srgbClr val="1A1A1A"/>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Meet Iwa : ABC Corp's Leave Assistant</a:t>
            </a:r>
            <a:endParaRPr lang="en-US" sz="2600" dirty="0"/>
          </a:p>
        </p:txBody>
      </p:sp>
      <p:sp>
        <p:nvSpPr>
          <p:cNvPr id="4" name="Shape 2"/>
          <p:cNvSpPr/>
          <p:nvPr/>
        </p:nvSpPr>
        <p:spPr>
          <a:xfrm>
            <a:off x="0" y="1097280"/>
            <a:ext cx="9144000" cy="45720"/>
          </a:xfrm>
          <a:prstGeom prst="rect">
            <a:avLst/>
          </a:prstGeom>
          <a:solidFill>
            <a:srgbClr val="FFCD41"/>
          </a:solidFill>
          <a:ln w="12700">
            <a:solidFill>
              <a:srgbClr val="FFCD41"/>
            </a:solidFill>
            <a:prstDash val="solid"/>
          </a:ln>
        </p:spPr>
      </p:sp>
      <p:sp>
        <p:nvSpPr>
          <p:cNvPr id="5" name="Shape 3"/>
          <p:cNvSpPr/>
          <p:nvPr/>
        </p:nvSpPr>
        <p:spPr>
          <a:xfrm>
            <a:off x="365760" y="1234440"/>
            <a:ext cx="8412480" cy="685800"/>
          </a:xfrm>
          <a:prstGeom prst="roundRect">
            <a:avLst>
              <a:gd name="adj" fmla="val 10667"/>
            </a:avLst>
          </a:prstGeom>
          <a:solidFill>
            <a:srgbClr val="CC0000"/>
          </a:solidFill>
          <a:ln w="12700">
            <a:solidFill>
              <a:srgbClr val="CC0000"/>
            </a:solidFill>
            <a:prstDash val="solid"/>
          </a:ln>
        </p:spPr>
      </p:sp>
      <p:sp>
        <p:nvSpPr>
          <p:cNvPr id="6" name="Text 4"/>
          <p:cNvSpPr/>
          <p:nvPr/>
        </p:nvSpPr>
        <p:spPr>
          <a:xfrm>
            <a:off x="502920" y="1261872"/>
            <a:ext cx="8046720" cy="594360"/>
          </a:xfrm>
          <a:prstGeom prst="rect">
            <a:avLst/>
          </a:prstGeom>
          <a:noFill/>
          <a:ln/>
        </p:spPr>
        <p:txBody>
          <a:bodyPr wrap="square" rtlCol="0" anchor="ctr"/>
          <a:lstStyle/>
          <a:p>
            <a:pPr indent="0" marL="0">
              <a:buNone/>
            </a:pPr>
            <a:r>
              <a:rPr lang="en-US" sz="2000" dirty="0">
                <a:solidFill>
                  <a:srgbClr val="FFCD41"/>
                </a:solidFill>
              </a:rPr>
              <a:t>❝  </a:t>
            </a:r>
            <a:pPr indent="0" marL="0">
              <a:buNone/>
            </a:pPr>
            <a:r>
              <a:rPr lang="en-US" sz="1800" b="1" i="1" dirty="0">
                <a:solidFill>
                  <a:srgbClr val="FFFFFF"/>
                </a:solidFill>
              </a:rPr>
              <a:t>"Can I take leave next week?"</a:t>
            </a:r>
            <a:endParaRPr lang="en-US" sz="2000" dirty="0"/>
          </a:p>
        </p:txBody>
      </p:sp>
      <p:sp>
        <p:nvSpPr>
          <p:cNvPr id="7" name="Text 5"/>
          <p:cNvSpPr/>
          <p:nvPr/>
        </p:nvSpPr>
        <p:spPr>
          <a:xfrm>
            <a:off x="365760" y="2029968"/>
            <a:ext cx="8412480" cy="365760"/>
          </a:xfrm>
          <a:prstGeom prst="rect">
            <a:avLst/>
          </a:prstGeom>
          <a:noFill/>
          <a:ln/>
        </p:spPr>
        <p:txBody>
          <a:bodyPr wrap="square" rtlCol="0" anchor="ctr"/>
          <a:lstStyle/>
          <a:p>
            <a:pPr indent="0" marL="0">
              <a:buNone/>
            </a:pPr>
            <a:r>
              <a:rPr lang="en-US" sz="1200" i="1" dirty="0">
                <a:solidFill>
                  <a:srgbClr val="444444"/>
                </a:solidFill>
              </a:rPr>
              <a:t>We'll ask Iwa this exact question 6 times — adding one layer of context engineering before each attempt.</a:t>
            </a:r>
            <a:endParaRPr lang="en-US" sz="1200" dirty="0"/>
          </a:p>
        </p:txBody>
      </p:sp>
      <p:sp>
        <p:nvSpPr>
          <p:cNvPr id="8" name="Text 6"/>
          <p:cNvSpPr/>
          <p:nvPr/>
        </p:nvSpPr>
        <p:spPr>
          <a:xfrm>
            <a:off x="365760" y="2468880"/>
            <a:ext cx="2743200" cy="274320"/>
          </a:xfrm>
          <a:prstGeom prst="rect">
            <a:avLst/>
          </a:prstGeom>
          <a:noFill/>
          <a:ln/>
        </p:spPr>
        <p:txBody>
          <a:bodyPr wrap="square" rtlCol="0" anchor="ctr"/>
          <a:lstStyle/>
          <a:p>
            <a:pPr indent="0" marL="0">
              <a:buNone/>
            </a:pPr>
            <a:r>
              <a:rPr lang="en-US" sz="1300" b="1" dirty="0">
                <a:solidFill>
                  <a:srgbClr val="CC0000"/>
                </a:solidFill>
                <a:latin typeface="Cambria" pitchFamily="34" charset="0"/>
                <a:ea typeface="Cambria" pitchFamily="34" charset="-122"/>
                <a:cs typeface="Cambria" pitchFamily="34" charset="-120"/>
              </a:rPr>
              <a:t>The Journey Ahead</a:t>
            </a:r>
            <a:endParaRPr lang="en-US" sz="1300" dirty="0"/>
          </a:p>
        </p:txBody>
      </p:sp>
      <p:sp>
        <p:nvSpPr>
          <p:cNvPr id="9" name="Shape 7"/>
          <p:cNvSpPr/>
          <p:nvPr/>
        </p:nvSpPr>
        <p:spPr>
          <a:xfrm>
            <a:off x="502920" y="2971800"/>
            <a:ext cx="7680960" cy="45720"/>
          </a:xfrm>
          <a:prstGeom prst="rect">
            <a:avLst/>
          </a:prstGeom>
          <a:solidFill>
            <a:srgbClr val="E0E0E0"/>
          </a:solidFill>
          <a:ln w="12700">
            <a:solidFill>
              <a:srgbClr val="E0E0E0"/>
            </a:solidFill>
            <a:prstDash val="solid"/>
          </a:ln>
        </p:spPr>
      </p:sp>
      <p:sp>
        <p:nvSpPr>
          <p:cNvPr id="10" name="Shape 8"/>
          <p:cNvSpPr/>
          <p:nvPr/>
        </p:nvSpPr>
        <p:spPr>
          <a:xfrm>
            <a:off x="365760" y="2834640"/>
            <a:ext cx="274320" cy="274320"/>
          </a:xfrm>
          <a:prstGeom prst="ellipse">
            <a:avLst/>
          </a:prstGeom>
          <a:solidFill>
            <a:srgbClr val="E0E0E0"/>
          </a:solidFill>
          <a:ln w="12700">
            <a:solidFill>
              <a:srgbClr val="E0E0E0"/>
            </a:solidFill>
            <a:prstDash val="solid"/>
          </a:ln>
        </p:spPr>
      </p:sp>
      <p:sp>
        <p:nvSpPr>
          <p:cNvPr id="11" name="Text 9"/>
          <p:cNvSpPr/>
          <p:nvPr/>
        </p:nvSpPr>
        <p:spPr>
          <a:xfrm>
            <a:off x="36576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12" name="Text 10"/>
          <p:cNvSpPr/>
          <p:nvPr/>
        </p:nvSpPr>
        <p:spPr>
          <a:xfrm>
            <a:off x="137160" y="3145536"/>
            <a:ext cx="731520" cy="365760"/>
          </a:xfrm>
          <a:prstGeom prst="rect">
            <a:avLst/>
          </a:prstGeom>
          <a:noFill/>
          <a:ln/>
        </p:spPr>
        <p:txBody>
          <a:bodyPr wrap="square" rtlCol="0" anchor="ctr"/>
          <a:lstStyle/>
          <a:p>
            <a:pPr algn="ctr" indent="0" marL="0">
              <a:buNone/>
            </a:pPr>
            <a:r>
              <a:rPr lang="en-US" sz="800" dirty="0">
                <a:solidFill>
                  <a:srgbClr val="888888"/>
                </a:solidFill>
              </a:rPr>
              <a:t>Base LLM</a:t>
            </a:r>
            <a:endParaRPr lang="en-US" sz="800" dirty="0"/>
          </a:p>
        </p:txBody>
      </p:sp>
      <p:sp>
        <p:nvSpPr>
          <p:cNvPr id="13" name="Shape 11"/>
          <p:cNvSpPr/>
          <p:nvPr/>
        </p:nvSpPr>
        <p:spPr>
          <a:xfrm>
            <a:off x="1920240" y="2834640"/>
            <a:ext cx="274320" cy="274320"/>
          </a:xfrm>
          <a:prstGeom prst="ellipse">
            <a:avLst/>
          </a:prstGeom>
          <a:solidFill>
            <a:srgbClr val="E0E0E0"/>
          </a:solidFill>
          <a:ln w="12700">
            <a:solidFill>
              <a:srgbClr val="E0E0E0"/>
            </a:solidFill>
            <a:prstDash val="solid"/>
          </a:ln>
        </p:spPr>
      </p:sp>
      <p:sp>
        <p:nvSpPr>
          <p:cNvPr id="14" name="Text 12"/>
          <p:cNvSpPr/>
          <p:nvPr/>
        </p:nvSpPr>
        <p:spPr>
          <a:xfrm>
            <a:off x="192024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5" name="Text 13"/>
          <p:cNvSpPr/>
          <p:nvPr/>
        </p:nvSpPr>
        <p:spPr>
          <a:xfrm>
            <a:off x="1691640" y="3145536"/>
            <a:ext cx="731520" cy="365760"/>
          </a:xfrm>
          <a:prstGeom prst="rect">
            <a:avLst/>
          </a:prstGeom>
          <a:noFill/>
          <a:ln/>
        </p:spPr>
        <p:txBody>
          <a:bodyPr wrap="square" rtlCol="0" anchor="ctr"/>
          <a:lstStyle/>
          <a:p>
            <a:pPr algn="ctr" indent="0" marL="0">
              <a:buNone/>
            </a:pPr>
            <a:r>
              <a:rPr lang="en-US" sz="800" dirty="0">
                <a:solidFill>
                  <a:srgbClr val="888888"/>
                </a:solidFill>
              </a:rPr>
              <a:t>+Instructions</a:t>
            </a:r>
            <a:endParaRPr lang="en-US" sz="800" dirty="0"/>
          </a:p>
        </p:txBody>
      </p:sp>
      <p:sp>
        <p:nvSpPr>
          <p:cNvPr id="16" name="Shape 14"/>
          <p:cNvSpPr/>
          <p:nvPr/>
        </p:nvSpPr>
        <p:spPr>
          <a:xfrm>
            <a:off x="3474720" y="2834640"/>
            <a:ext cx="274320" cy="274320"/>
          </a:xfrm>
          <a:prstGeom prst="ellipse">
            <a:avLst/>
          </a:prstGeom>
          <a:solidFill>
            <a:srgbClr val="E0E0E0"/>
          </a:solidFill>
          <a:ln w="12700">
            <a:solidFill>
              <a:srgbClr val="E0E0E0"/>
            </a:solidFill>
            <a:prstDash val="solid"/>
          </a:ln>
        </p:spPr>
      </p:sp>
      <p:sp>
        <p:nvSpPr>
          <p:cNvPr id="17" name="Text 15"/>
          <p:cNvSpPr/>
          <p:nvPr/>
        </p:nvSpPr>
        <p:spPr>
          <a:xfrm>
            <a:off x="347472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8" name="Text 16"/>
          <p:cNvSpPr/>
          <p:nvPr/>
        </p:nvSpPr>
        <p:spPr>
          <a:xfrm>
            <a:off x="3246120" y="3145536"/>
            <a:ext cx="731520" cy="365760"/>
          </a:xfrm>
          <a:prstGeom prst="rect">
            <a:avLst/>
          </a:prstGeom>
          <a:noFill/>
          <a:ln/>
        </p:spPr>
        <p:txBody>
          <a:bodyPr wrap="square" rtlCol="0" anchor="ctr"/>
          <a:lstStyle/>
          <a:p>
            <a:pPr algn="ctr" indent="0" marL="0">
              <a:buNone/>
            </a:pPr>
            <a:r>
              <a:rPr lang="en-US" sz="800" dirty="0">
                <a:solidFill>
                  <a:srgbClr val="888888"/>
                </a:solidFill>
              </a:rPr>
              <a:t>+RAG</a:t>
            </a:r>
            <a:endParaRPr lang="en-US" sz="800" dirty="0"/>
          </a:p>
        </p:txBody>
      </p:sp>
      <p:sp>
        <p:nvSpPr>
          <p:cNvPr id="19" name="Shape 17"/>
          <p:cNvSpPr/>
          <p:nvPr/>
        </p:nvSpPr>
        <p:spPr>
          <a:xfrm>
            <a:off x="5029200" y="2834640"/>
            <a:ext cx="274320" cy="274320"/>
          </a:xfrm>
          <a:prstGeom prst="ellipse">
            <a:avLst/>
          </a:prstGeom>
          <a:solidFill>
            <a:srgbClr val="E0E0E0"/>
          </a:solidFill>
          <a:ln w="12700">
            <a:solidFill>
              <a:srgbClr val="E0E0E0"/>
            </a:solidFill>
            <a:prstDash val="solid"/>
          </a:ln>
        </p:spPr>
      </p:sp>
      <p:sp>
        <p:nvSpPr>
          <p:cNvPr id="20" name="Text 18"/>
          <p:cNvSpPr/>
          <p:nvPr/>
        </p:nvSpPr>
        <p:spPr>
          <a:xfrm>
            <a:off x="502920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1" name="Text 19"/>
          <p:cNvSpPr/>
          <p:nvPr/>
        </p:nvSpPr>
        <p:spPr>
          <a:xfrm>
            <a:off x="4800600" y="3145536"/>
            <a:ext cx="731520" cy="365760"/>
          </a:xfrm>
          <a:prstGeom prst="rect">
            <a:avLst/>
          </a:prstGeom>
          <a:noFill/>
          <a:ln/>
        </p:spPr>
        <p:txBody>
          <a:bodyPr wrap="square" rtlCol="0" anchor="ctr"/>
          <a:lstStyle/>
          <a:p>
            <a:pPr algn="ctr" indent="0" marL="0">
              <a:buNone/>
            </a:pPr>
            <a:r>
              <a:rPr lang="en-US" sz="800" dirty="0">
                <a:solidFill>
                  <a:srgbClr val="888888"/>
                </a:solidFill>
              </a:rPr>
              <a:t>+Tool Outputs</a:t>
            </a:r>
            <a:endParaRPr lang="en-US" sz="800" dirty="0"/>
          </a:p>
        </p:txBody>
      </p:sp>
      <p:sp>
        <p:nvSpPr>
          <p:cNvPr id="22" name="Shape 20"/>
          <p:cNvSpPr/>
          <p:nvPr/>
        </p:nvSpPr>
        <p:spPr>
          <a:xfrm>
            <a:off x="6492240" y="2834640"/>
            <a:ext cx="274320" cy="274320"/>
          </a:xfrm>
          <a:prstGeom prst="ellipse">
            <a:avLst/>
          </a:prstGeom>
          <a:solidFill>
            <a:srgbClr val="E0E0E0"/>
          </a:solidFill>
          <a:ln w="12700">
            <a:solidFill>
              <a:srgbClr val="E0E0E0"/>
            </a:solidFill>
            <a:prstDash val="solid"/>
          </a:ln>
        </p:spPr>
      </p:sp>
      <p:sp>
        <p:nvSpPr>
          <p:cNvPr id="23" name="Text 21"/>
          <p:cNvSpPr/>
          <p:nvPr/>
        </p:nvSpPr>
        <p:spPr>
          <a:xfrm>
            <a:off x="649224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4" name="Text 22"/>
          <p:cNvSpPr/>
          <p:nvPr/>
        </p:nvSpPr>
        <p:spPr>
          <a:xfrm>
            <a:off x="6263640" y="3145536"/>
            <a:ext cx="731520" cy="365760"/>
          </a:xfrm>
          <a:prstGeom prst="rect">
            <a:avLst/>
          </a:prstGeom>
          <a:noFill/>
          <a:ln/>
        </p:spPr>
        <p:txBody>
          <a:bodyPr wrap="square" rtlCol="0" anchor="ctr"/>
          <a:lstStyle/>
          <a:p>
            <a:pPr algn="ctr" indent="0" marL="0">
              <a:buNone/>
            </a:pPr>
            <a:r>
              <a:rPr lang="en-US" sz="800" dirty="0">
                <a:solidFill>
                  <a:srgbClr val="888888"/>
                </a:solidFill>
              </a:rPr>
              <a:t>+Conversational</a:t>
            </a:r>
            <a:endParaRPr lang="en-US" sz="800" dirty="0"/>
          </a:p>
          <a:p>
            <a:pPr algn="ctr" indent="0" marL="0">
              <a:buNone/>
            </a:pPr>
            <a:r>
              <a:rPr lang="en-US" sz="800" dirty="0">
                <a:solidFill>
                  <a:srgbClr val="888888"/>
                </a:solidFill>
              </a:rPr>
              <a:t>History</a:t>
            </a:r>
            <a:endParaRPr lang="en-US" sz="800" dirty="0"/>
          </a:p>
        </p:txBody>
      </p:sp>
      <p:sp>
        <p:nvSpPr>
          <p:cNvPr id="25" name="Shape 23"/>
          <p:cNvSpPr/>
          <p:nvPr/>
        </p:nvSpPr>
        <p:spPr>
          <a:xfrm>
            <a:off x="7955280" y="2834640"/>
            <a:ext cx="274320" cy="274320"/>
          </a:xfrm>
          <a:prstGeom prst="ellipse">
            <a:avLst/>
          </a:prstGeom>
          <a:solidFill>
            <a:srgbClr val="E0E0E0"/>
          </a:solidFill>
          <a:ln w="12700">
            <a:solidFill>
              <a:srgbClr val="E0E0E0"/>
            </a:solidFill>
            <a:prstDash val="solid"/>
          </a:ln>
        </p:spPr>
      </p:sp>
      <p:sp>
        <p:nvSpPr>
          <p:cNvPr id="26" name="Text 24"/>
          <p:cNvSpPr/>
          <p:nvPr/>
        </p:nvSpPr>
        <p:spPr>
          <a:xfrm>
            <a:off x="7955280" y="2834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7" name="Text 25"/>
          <p:cNvSpPr/>
          <p:nvPr/>
        </p:nvSpPr>
        <p:spPr>
          <a:xfrm>
            <a:off x="7726680" y="3145536"/>
            <a:ext cx="731520" cy="365760"/>
          </a:xfrm>
          <a:prstGeom prst="rect">
            <a:avLst/>
          </a:prstGeom>
          <a:noFill/>
          <a:ln/>
        </p:spPr>
        <p:txBody>
          <a:bodyPr wrap="square" rtlCol="0" anchor="ctr"/>
          <a:lstStyle/>
          <a:p>
            <a:pPr algn="ctr" indent="0" marL="0">
              <a:buNone/>
            </a:pPr>
            <a:r>
              <a:rPr lang="en-US" sz="800" dirty="0">
                <a:solidFill>
                  <a:srgbClr val="888888"/>
                </a:solidFill>
              </a:rPr>
              <a:t>+Agent State</a:t>
            </a:r>
            <a:endParaRPr lang="en-US" sz="800" dirty="0"/>
          </a:p>
        </p:txBody>
      </p:sp>
      <p:sp>
        <p:nvSpPr>
          <p:cNvPr id="28" name="Shape 26"/>
          <p:cNvSpPr/>
          <p:nvPr/>
        </p:nvSpPr>
        <p:spPr>
          <a:xfrm>
            <a:off x="365760" y="3749040"/>
            <a:ext cx="8412480" cy="914400"/>
          </a:xfrm>
          <a:prstGeom prst="roundRect">
            <a:avLst>
              <a:gd name="adj" fmla="val 10000"/>
            </a:avLst>
          </a:prstGeom>
          <a:solidFill>
            <a:srgbClr val="FFFDE7"/>
          </a:solidFill>
          <a:ln w="19050">
            <a:solidFill>
              <a:srgbClr val="FFCD41"/>
            </a:solidFill>
            <a:prstDash val="solid"/>
          </a:ln>
        </p:spPr>
      </p:sp>
      <p:pic>
        <p:nvPicPr>
          <p:cNvPr id="29" name="Image 0" descr="preencoded.png">    </p:cNvPr>
          <p:cNvPicPr>
            <a:picLocks noChangeAspect="1"/>
          </p:cNvPicPr>
          <p:nvPr/>
        </p:nvPicPr>
        <p:blipFill>
          <a:blip r:embed="rId1"/>
          <a:stretch>
            <a:fillRect/>
          </a:stretch>
        </p:blipFill>
        <p:spPr>
          <a:xfrm>
            <a:off x="502920" y="3840480"/>
            <a:ext cx="365760" cy="365760"/>
          </a:xfrm>
          <a:prstGeom prst="rect">
            <a:avLst/>
          </a:prstGeom>
        </p:spPr>
      </p:pic>
      <p:sp>
        <p:nvSpPr>
          <p:cNvPr id="30" name="Text 27"/>
          <p:cNvSpPr/>
          <p:nvPr/>
        </p:nvSpPr>
        <p:spPr>
          <a:xfrm>
            <a:off x="914400" y="3822192"/>
            <a:ext cx="7680960" cy="274320"/>
          </a:xfrm>
          <a:prstGeom prst="rect">
            <a:avLst/>
          </a:prstGeom>
          <a:noFill/>
          <a:ln/>
        </p:spPr>
        <p:txBody>
          <a:bodyPr wrap="square" rtlCol="0" anchor="ctr"/>
          <a:lstStyle/>
          <a:p>
            <a:pPr indent="0" marL="0">
              <a:buNone/>
            </a:pPr>
            <a:r>
              <a:rPr lang="en-US" sz="1200" b="1" dirty="0">
                <a:solidFill>
                  <a:srgbClr val="1A1A1A"/>
                </a:solidFill>
              </a:rPr>
              <a:t>Watch one thing closely:</a:t>
            </a:r>
            <a:endParaRPr lang="en-US" sz="1200" dirty="0"/>
          </a:p>
        </p:txBody>
      </p:sp>
      <p:sp>
        <p:nvSpPr>
          <p:cNvPr id="31" name="Text 28"/>
          <p:cNvSpPr/>
          <p:nvPr/>
        </p:nvSpPr>
        <p:spPr>
          <a:xfrm>
            <a:off x="914400" y="4114800"/>
            <a:ext cx="7680960" cy="457200"/>
          </a:xfrm>
          <a:prstGeom prst="rect">
            <a:avLst/>
          </a:prstGeom>
          <a:noFill/>
          <a:ln/>
        </p:spPr>
        <p:txBody>
          <a:bodyPr wrap="square" rtlCol="0" anchor="ctr"/>
          <a:lstStyle/>
          <a:p>
            <a:pPr indent="0" marL="0">
              <a:buNone/>
            </a:pPr>
            <a:r>
              <a:rPr lang="en-US" sz="1100" i="1" dirty="0">
                <a:solidFill>
                  <a:srgbClr val="444444"/>
                </a:solidFill>
              </a:rPr>
              <a:t>The underlying LLM remains the same across all 6 stages. Only the context surrounding it evolves.</a:t>
            </a:r>
            <a:endParaRPr lang="en-US" sz="1100" dirty="0"/>
          </a:p>
        </p:txBody>
      </p:sp>
      <p:sp>
        <p:nvSpPr>
          <p:cNvPr id="32" name="Text 29"/>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0  ·  BASE LLM</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The Starting Line: LLM Without Context</a:t>
            </a:r>
            <a:endParaRPr lang="en-US" sz="24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502920" y="987552"/>
            <a:ext cx="292608" cy="292608"/>
          </a:xfrm>
          <a:prstGeom prst="ellipse">
            <a:avLst/>
          </a:prstGeom>
          <a:solidFill>
            <a:srgbClr val="CC0000"/>
          </a:solidFill>
          <a:ln w="25400">
            <a:solidFill>
              <a:srgbClr val="FFCD41"/>
            </a:solidFill>
            <a:prstDash val="solid"/>
          </a:ln>
        </p:spPr>
      </p:sp>
      <p:sp>
        <p:nvSpPr>
          <p:cNvPr id="6" name="Text 4"/>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7" name="Text 5"/>
          <p:cNvSpPr/>
          <p:nvPr/>
        </p:nvSpPr>
        <p:spPr>
          <a:xfrm>
            <a:off x="0" y="1325880"/>
            <a:ext cx="1298448" cy="228600"/>
          </a:xfrm>
          <a:prstGeom prst="rect">
            <a:avLst/>
          </a:prstGeom>
          <a:noFill/>
          <a:ln/>
        </p:spPr>
        <p:txBody>
          <a:bodyPr wrap="square" rtlCol="0" anchor="ctr"/>
          <a:lstStyle/>
          <a:p>
            <a:pPr algn="ctr" indent="0" marL="0">
              <a:buNone/>
            </a:pPr>
            <a:r>
              <a:rPr lang="en-US" sz="700" b="1" dirty="0">
                <a:solidFill>
                  <a:srgbClr val="CC0000"/>
                </a:solidFill>
              </a:rPr>
              <a:t>Base LLM</a:t>
            </a:r>
            <a:endParaRPr lang="en-US" sz="700" dirty="0"/>
          </a:p>
        </p:txBody>
      </p:sp>
      <p:sp>
        <p:nvSpPr>
          <p:cNvPr id="8" name="Shape 6"/>
          <p:cNvSpPr/>
          <p:nvPr/>
        </p:nvSpPr>
        <p:spPr>
          <a:xfrm>
            <a:off x="2148840" y="987552"/>
            <a:ext cx="292608" cy="292608"/>
          </a:xfrm>
          <a:prstGeom prst="ellipse">
            <a:avLst/>
          </a:prstGeom>
          <a:solidFill>
            <a:srgbClr val="CCCCCC"/>
          </a:solidFill>
          <a:ln w="12700">
            <a:solidFill>
              <a:srgbClr val="AAAAAA"/>
            </a:solidFill>
            <a:prstDash val="solid"/>
          </a:ln>
        </p:spPr>
      </p:sp>
      <p:sp>
        <p:nvSpPr>
          <p:cNvPr id="9" name="Text 7"/>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0" name="Text 8"/>
          <p:cNvSpPr/>
          <p:nvPr/>
        </p:nvSpPr>
        <p:spPr>
          <a:xfrm>
            <a:off x="1645920" y="1325880"/>
            <a:ext cx="1298448" cy="228600"/>
          </a:xfrm>
          <a:prstGeom prst="rect">
            <a:avLst/>
          </a:prstGeom>
          <a:noFill/>
          <a:ln/>
        </p:spPr>
        <p:txBody>
          <a:bodyPr wrap="square" rtlCol="0" anchor="ctr"/>
          <a:lstStyle/>
          <a:p>
            <a:pPr algn="ctr" indent="0" marL="0">
              <a:buNone/>
            </a:pPr>
            <a:r>
              <a:rPr lang="en-US" sz="700" dirty="0">
                <a:solidFill>
                  <a:srgbClr val="999999"/>
                </a:solidFill>
              </a:rPr>
              <a:t>+Instructions</a:t>
            </a:r>
            <a:endParaRPr lang="en-US" sz="700" dirty="0"/>
          </a:p>
        </p:txBody>
      </p:sp>
      <p:sp>
        <p:nvSpPr>
          <p:cNvPr id="11" name="Shape 9"/>
          <p:cNvSpPr/>
          <p:nvPr/>
        </p:nvSpPr>
        <p:spPr>
          <a:xfrm>
            <a:off x="3749040" y="987552"/>
            <a:ext cx="292608" cy="292608"/>
          </a:xfrm>
          <a:prstGeom prst="ellipse">
            <a:avLst/>
          </a:prstGeom>
          <a:solidFill>
            <a:srgbClr val="CCCCCC"/>
          </a:solidFill>
          <a:ln w="12700">
            <a:solidFill>
              <a:srgbClr val="AAAAAA"/>
            </a:solidFill>
            <a:prstDash val="solid"/>
          </a:ln>
        </p:spPr>
      </p:sp>
      <p:sp>
        <p:nvSpPr>
          <p:cNvPr id="12" name="Text 10"/>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Text 11"/>
          <p:cNvSpPr/>
          <p:nvPr/>
        </p:nvSpPr>
        <p:spPr>
          <a:xfrm>
            <a:off x="3246120" y="1325880"/>
            <a:ext cx="1298448" cy="228600"/>
          </a:xfrm>
          <a:prstGeom prst="rect">
            <a:avLst/>
          </a:prstGeom>
          <a:noFill/>
          <a:ln/>
        </p:spPr>
        <p:txBody>
          <a:bodyPr wrap="square" rtlCol="0" anchor="ctr"/>
          <a:lstStyle/>
          <a:p>
            <a:pPr algn="ctr" indent="0" marL="0">
              <a:buNone/>
            </a:pPr>
            <a:r>
              <a:rPr lang="en-US" sz="700" dirty="0">
                <a:solidFill>
                  <a:srgbClr val="999999"/>
                </a:solidFill>
              </a:rPr>
              <a:t>+RAG</a:t>
            </a:r>
            <a:endParaRPr lang="en-US" sz="700" dirty="0"/>
          </a:p>
        </p:txBody>
      </p:sp>
      <p:sp>
        <p:nvSpPr>
          <p:cNvPr id="14" name="Shape 12"/>
          <p:cNvSpPr/>
          <p:nvPr/>
        </p:nvSpPr>
        <p:spPr>
          <a:xfrm>
            <a:off x="5349240" y="987552"/>
            <a:ext cx="292608" cy="292608"/>
          </a:xfrm>
          <a:prstGeom prst="ellipse">
            <a:avLst/>
          </a:prstGeom>
          <a:solidFill>
            <a:srgbClr val="CCCCCC"/>
          </a:solidFill>
          <a:ln w="12700">
            <a:solidFill>
              <a:srgbClr val="AAAAAA"/>
            </a:solidFill>
            <a:prstDash val="solid"/>
          </a:ln>
        </p:spPr>
      </p:sp>
      <p:sp>
        <p:nvSpPr>
          <p:cNvPr id="15" name="Text 13"/>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4846320" y="1325880"/>
            <a:ext cx="1298448" cy="228600"/>
          </a:xfrm>
          <a:prstGeom prst="rect">
            <a:avLst/>
          </a:prstGeom>
          <a:noFill/>
          <a:ln/>
        </p:spPr>
        <p:txBody>
          <a:bodyPr wrap="square" rtlCol="0" anchor="ctr"/>
          <a:lstStyle/>
          <a:p>
            <a:pPr algn="ctr" indent="0" marL="0">
              <a:buNone/>
            </a:pPr>
            <a:r>
              <a:rPr lang="en-US" sz="700" dirty="0">
                <a:solidFill>
                  <a:srgbClr val="999999"/>
                </a:solidFill>
              </a:rPr>
              <a:t>+Tool Outputs</a:t>
            </a:r>
            <a:endParaRPr lang="en-US" sz="700" dirty="0"/>
          </a:p>
        </p:txBody>
      </p:sp>
      <p:sp>
        <p:nvSpPr>
          <p:cNvPr id="17" name="Shape 15"/>
          <p:cNvSpPr/>
          <p:nvPr/>
        </p:nvSpPr>
        <p:spPr>
          <a:xfrm>
            <a:off x="6903720" y="987552"/>
            <a:ext cx="292608" cy="292608"/>
          </a:xfrm>
          <a:prstGeom prst="ellipse">
            <a:avLst/>
          </a:prstGeom>
          <a:solidFill>
            <a:srgbClr val="CCCCCC"/>
          </a:solidFill>
          <a:ln w="12700">
            <a:solidFill>
              <a:srgbClr val="AAAAAA"/>
            </a:solidFill>
            <a:prstDash val="solid"/>
          </a:ln>
        </p:spPr>
      </p:sp>
      <p:sp>
        <p:nvSpPr>
          <p:cNvPr id="18" name="Text 16"/>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9" name="Text 17"/>
          <p:cNvSpPr/>
          <p:nvPr/>
        </p:nvSpPr>
        <p:spPr>
          <a:xfrm>
            <a:off x="6400800" y="1325880"/>
            <a:ext cx="1298448" cy="228600"/>
          </a:xfrm>
          <a:prstGeom prst="rect">
            <a:avLst/>
          </a:prstGeom>
          <a:noFill/>
          <a:ln/>
        </p:spPr>
        <p:txBody>
          <a:bodyPr wrap="square" rtlCol="0" anchor="ctr"/>
          <a:lstStyle/>
          <a:p>
            <a:pPr algn="ctr" indent="0" marL="0">
              <a:buNone/>
            </a:pPr>
            <a:r>
              <a:rPr lang="en-US" sz="700" dirty="0">
                <a:solidFill>
                  <a:srgbClr val="999999"/>
                </a:solidFill>
              </a:rPr>
              <a:t>+History</a:t>
            </a:r>
            <a:endParaRPr lang="en-US" sz="700" dirty="0"/>
          </a:p>
        </p:txBody>
      </p:sp>
      <p:sp>
        <p:nvSpPr>
          <p:cNvPr id="20" name="Shape 18"/>
          <p:cNvSpPr/>
          <p:nvPr/>
        </p:nvSpPr>
        <p:spPr>
          <a:xfrm>
            <a:off x="8366760" y="987552"/>
            <a:ext cx="292608" cy="292608"/>
          </a:xfrm>
          <a:prstGeom prst="ellipse">
            <a:avLst/>
          </a:prstGeom>
          <a:solidFill>
            <a:srgbClr val="CCCCCC"/>
          </a:solidFill>
          <a:ln w="12700">
            <a:solidFill>
              <a:srgbClr val="AAAAAA"/>
            </a:solidFill>
            <a:prstDash val="solid"/>
          </a:ln>
        </p:spPr>
      </p:sp>
      <p:sp>
        <p:nvSpPr>
          <p:cNvPr id="21" name="Text 19"/>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2" name="Text 20"/>
          <p:cNvSpPr/>
          <p:nvPr/>
        </p:nvSpPr>
        <p:spPr>
          <a:xfrm>
            <a:off x="7863840" y="1325880"/>
            <a:ext cx="1298448" cy="228600"/>
          </a:xfrm>
          <a:prstGeom prst="rect">
            <a:avLst/>
          </a:prstGeom>
          <a:noFill/>
          <a:ln/>
        </p:spPr>
        <p:txBody>
          <a:bodyPr wrap="square" rtlCol="0" anchor="ctr"/>
          <a:lstStyle/>
          <a:p>
            <a:pPr algn="ctr" indent="0" marL="0">
              <a:buNone/>
            </a:pPr>
            <a:r>
              <a:rPr lang="en-US" sz="700" dirty="0">
                <a:solidFill>
                  <a:srgbClr val="999999"/>
                </a:solidFill>
              </a:rPr>
              <a:t>+Agent State</a:t>
            </a:r>
            <a:endParaRPr lang="en-US" sz="700" dirty="0"/>
          </a:p>
        </p:txBody>
      </p:sp>
      <p:sp>
        <p:nvSpPr>
          <p:cNvPr id="23" name="Shape 21"/>
          <p:cNvSpPr/>
          <p:nvPr/>
        </p:nvSpPr>
        <p:spPr>
          <a:xfrm>
            <a:off x="365760" y="1664208"/>
            <a:ext cx="8412480" cy="502920"/>
          </a:xfrm>
          <a:prstGeom prst="roundRect">
            <a:avLst>
              <a:gd name="adj" fmla="val 14545"/>
            </a:avLst>
          </a:prstGeom>
          <a:solidFill>
            <a:srgbClr val="F5E6E6"/>
          </a:solidFill>
          <a:ln w="12700">
            <a:solidFill>
              <a:srgbClr val="E8A0A0"/>
            </a:solidFill>
            <a:prstDash val="solid"/>
          </a:ln>
        </p:spPr>
      </p:sp>
      <p:pic>
        <p:nvPicPr>
          <p:cNvPr id="24" name="Image 0" descr="preencoded.png">    </p:cNvPr>
          <p:cNvPicPr>
            <a:picLocks noChangeAspect="1"/>
          </p:cNvPicPr>
          <p:nvPr/>
        </p:nvPicPr>
        <p:blipFill>
          <a:blip r:embed="rId1"/>
          <a:stretch>
            <a:fillRect/>
          </a:stretch>
        </p:blipFill>
        <p:spPr>
          <a:xfrm>
            <a:off x="411480" y="1709928"/>
            <a:ext cx="320040" cy="320040"/>
          </a:xfrm>
          <a:prstGeom prst="rect">
            <a:avLst/>
          </a:prstGeom>
        </p:spPr>
      </p:pic>
      <p:sp>
        <p:nvSpPr>
          <p:cNvPr id="25" name="Text 22"/>
          <p:cNvSpPr/>
          <p:nvPr/>
        </p:nvSpPr>
        <p:spPr>
          <a:xfrm>
            <a:off x="777240" y="1691640"/>
            <a:ext cx="7955280" cy="457200"/>
          </a:xfrm>
          <a:prstGeom prst="rect">
            <a:avLst/>
          </a:prstGeom>
          <a:noFill/>
          <a:ln/>
        </p:spPr>
        <p:txBody>
          <a:bodyPr wrap="square" rtlCol="0" anchor="ctr"/>
          <a:lstStyle/>
          <a:p>
            <a:pPr indent="0" marL="0">
              <a:buNone/>
            </a:pPr>
            <a:r>
              <a:rPr lang="en-US" sz="1100" b="1" dirty="0">
                <a:solidFill>
                  <a:srgbClr val="CC0000"/>
                </a:solidFill>
              </a:rPr>
              <a:t>Employee  </a:t>
            </a:r>
            <a:pPr indent="0" marL="0">
              <a:buNone/>
            </a:pPr>
            <a:r>
              <a:rPr lang="en-US" sz="1100" dirty="0">
                <a:solidFill>
                  <a:srgbClr val="1A1A1A"/>
                </a:solidFill>
              </a:rPr>
              <a:t>"Can I take leave next week?"</a:t>
            </a:r>
            <a:endParaRPr lang="en-US" sz="1100" dirty="0"/>
          </a:p>
        </p:txBody>
      </p:sp>
      <p:sp>
        <p:nvSpPr>
          <p:cNvPr id="26" name="Shape 23"/>
          <p:cNvSpPr/>
          <p:nvPr/>
        </p:nvSpPr>
        <p:spPr>
          <a:xfrm>
            <a:off x="365760" y="2286000"/>
            <a:ext cx="8412480" cy="777240"/>
          </a:xfrm>
          <a:prstGeom prst="roundRect">
            <a:avLst>
              <a:gd name="adj" fmla="val 9412"/>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7" name="Shape 24"/>
          <p:cNvSpPr/>
          <p:nvPr/>
        </p:nvSpPr>
        <p:spPr>
          <a:xfrm>
            <a:off x="411480" y="2359152"/>
            <a:ext cx="320040" cy="320040"/>
          </a:xfrm>
          <a:prstGeom prst="ellipse">
            <a:avLst/>
          </a:prstGeom>
          <a:solidFill>
            <a:srgbClr val="CC0000"/>
          </a:solidFill>
          <a:ln w="12700">
            <a:solidFill>
              <a:srgbClr val="CC0000"/>
            </a:solidFill>
            <a:prstDash val="solid"/>
          </a:ln>
        </p:spPr>
      </p:sp>
      <p:sp>
        <p:nvSpPr>
          <p:cNvPr id="28" name="Text 25"/>
          <p:cNvSpPr/>
          <p:nvPr/>
        </p:nvSpPr>
        <p:spPr>
          <a:xfrm>
            <a:off x="411480" y="23591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29" name="Text 26"/>
          <p:cNvSpPr/>
          <p:nvPr/>
        </p:nvSpPr>
        <p:spPr>
          <a:xfrm>
            <a:off x="768096" y="2350008"/>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30" name="Text 27"/>
          <p:cNvSpPr/>
          <p:nvPr/>
        </p:nvSpPr>
        <p:spPr>
          <a:xfrm>
            <a:off x="768096" y="2542032"/>
            <a:ext cx="7132320" cy="411480"/>
          </a:xfrm>
          <a:prstGeom prst="rect">
            <a:avLst/>
          </a:prstGeom>
          <a:noFill/>
          <a:ln/>
        </p:spPr>
        <p:txBody>
          <a:bodyPr wrap="square" rtlCol="0" anchor="t"/>
          <a:lstStyle/>
          <a:p>
            <a:pPr indent="0" marL="0">
              <a:buNone/>
            </a:pPr>
            <a:r>
              <a:rPr lang="en-US" sz="1100" dirty="0">
                <a:solidFill>
                  <a:srgbClr val="1A1A1A"/>
                </a:solidFill>
              </a:rPr>
              <a:t>I can't answer that because I don't know your company's leave policy or your leave balance.</a:t>
            </a:r>
            <a:endParaRPr lang="en-US" sz="1100" dirty="0"/>
          </a:p>
        </p:txBody>
      </p:sp>
      <p:pic>
        <p:nvPicPr>
          <p:cNvPr id="31" name="Image 1" descr="preencoded.png">    </p:cNvPr>
          <p:cNvPicPr>
            <a:picLocks noChangeAspect="1"/>
          </p:cNvPicPr>
          <p:nvPr/>
        </p:nvPicPr>
        <p:blipFill>
          <a:blip r:embed="rId2"/>
          <a:stretch>
            <a:fillRect/>
          </a:stretch>
        </p:blipFill>
        <p:spPr>
          <a:xfrm>
            <a:off x="7863840" y="2304288"/>
            <a:ext cx="640080" cy="640080"/>
          </a:xfrm>
          <a:prstGeom prst="rect">
            <a:avLst/>
          </a:prstGeom>
        </p:spPr>
      </p:pic>
      <p:sp>
        <p:nvSpPr>
          <p:cNvPr id="32" name="Shape 28"/>
          <p:cNvSpPr/>
          <p:nvPr/>
        </p:nvSpPr>
        <p:spPr>
          <a:xfrm>
            <a:off x="365760" y="3246120"/>
            <a:ext cx="4114800" cy="1325880"/>
          </a:xfrm>
          <a:prstGeom prst="roundRect">
            <a:avLst>
              <a:gd name="adj" fmla="val 5517"/>
            </a:avLst>
          </a:prstGeom>
          <a:solidFill>
            <a:srgbClr val="F0FAF0"/>
          </a:solidFill>
          <a:ln w="12700">
            <a:solidFill>
              <a:srgbClr val="A5D6A7"/>
            </a:solidFill>
            <a:prstDash val="solid"/>
          </a:ln>
        </p:spPr>
      </p:sp>
      <p:pic>
        <p:nvPicPr>
          <p:cNvPr id="33" name="Image 2" descr="preencoded.png">    </p:cNvPr>
          <p:cNvPicPr>
            <a:picLocks noChangeAspect="1"/>
          </p:cNvPicPr>
          <p:nvPr/>
        </p:nvPicPr>
        <p:blipFill>
          <a:blip r:embed="rId3"/>
          <a:stretch>
            <a:fillRect/>
          </a:stretch>
        </p:blipFill>
        <p:spPr>
          <a:xfrm>
            <a:off x="457200" y="3337560"/>
            <a:ext cx="274320" cy="274320"/>
          </a:xfrm>
          <a:prstGeom prst="rect">
            <a:avLst/>
          </a:prstGeom>
        </p:spPr>
      </p:pic>
      <p:sp>
        <p:nvSpPr>
          <p:cNvPr id="34" name="Text 29"/>
          <p:cNvSpPr/>
          <p:nvPr/>
        </p:nvSpPr>
        <p:spPr>
          <a:xfrm>
            <a:off x="777240" y="3337560"/>
            <a:ext cx="3474720" cy="256032"/>
          </a:xfrm>
          <a:prstGeom prst="rect">
            <a:avLst/>
          </a:prstGeom>
          <a:noFill/>
          <a:ln/>
        </p:spPr>
        <p:txBody>
          <a:bodyPr wrap="square" rtlCol="0" anchor="ctr"/>
          <a:lstStyle/>
          <a:p>
            <a:pPr indent="0" marL="0">
              <a:buNone/>
            </a:pPr>
            <a:r>
              <a:rPr lang="en-US" sz="1100" b="1" dirty="0">
                <a:solidFill>
                  <a:srgbClr val="2E7D32"/>
                </a:solidFill>
              </a:rPr>
              <a:t>What Changed?</a:t>
            </a:r>
            <a:endParaRPr lang="en-US" sz="1100" dirty="0"/>
          </a:p>
        </p:txBody>
      </p:sp>
      <p:sp>
        <p:nvSpPr>
          <p:cNvPr id="35" name="Shape 30"/>
          <p:cNvSpPr/>
          <p:nvPr/>
        </p:nvSpPr>
        <p:spPr>
          <a:xfrm>
            <a:off x="457200" y="3639312"/>
            <a:ext cx="3840480" cy="0"/>
          </a:xfrm>
          <a:prstGeom prst="line">
            <a:avLst/>
          </a:prstGeom>
          <a:noFill/>
          <a:ln w="12700">
            <a:solidFill>
              <a:srgbClr val="A5D6A7"/>
            </a:solidFill>
            <a:prstDash val="solid"/>
          </a:ln>
        </p:spPr>
      </p:sp>
      <p:sp>
        <p:nvSpPr>
          <p:cNvPr id="36" name="Text 31"/>
          <p:cNvSpPr/>
          <p:nvPr/>
        </p:nvSpPr>
        <p:spPr>
          <a:xfrm>
            <a:off x="457200" y="3703320"/>
            <a:ext cx="3840480" cy="777240"/>
          </a:xfrm>
          <a:prstGeom prst="rect">
            <a:avLst/>
          </a:prstGeom>
          <a:noFill/>
          <a:ln/>
        </p:spPr>
        <p:txBody>
          <a:bodyPr wrap="square" rtlCol="0" anchor="t"/>
          <a:lstStyle/>
          <a:p>
            <a:pPr indent="0" marL="0">
              <a:buNone/>
            </a:pPr>
            <a:r>
              <a:rPr lang="en-US" sz="1000" dirty="0">
                <a:solidFill>
                  <a:srgbClr val="444444"/>
                </a:solidFill>
              </a:rPr>
              <a:t>The model is smart, but it has no business context.</a:t>
            </a:r>
            <a:endParaRPr lang="en-US" sz="1000" dirty="0"/>
          </a:p>
        </p:txBody>
      </p:sp>
      <p:sp>
        <p:nvSpPr>
          <p:cNvPr id="37" name="Shape 32"/>
          <p:cNvSpPr/>
          <p:nvPr/>
        </p:nvSpPr>
        <p:spPr>
          <a:xfrm>
            <a:off x="4663440" y="3246120"/>
            <a:ext cx="4114800" cy="1325880"/>
          </a:xfrm>
          <a:prstGeom prst="roundRect">
            <a:avLst>
              <a:gd name="adj" fmla="val 5517"/>
            </a:avLst>
          </a:prstGeom>
          <a:solidFill>
            <a:srgbClr val="FFF8E1"/>
          </a:solidFill>
          <a:ln w="12700">
            <a:solidFill>
              <a:srgbClr val="FFCC80"/>
            </a:solidFill>
            <a:prstDash val="solid"/>
          </a:ln>
        </p:spPr>
      </p:sp>
      <p:pic>
        <p:nvPicPr>
          <p:cNvPr id="38" name="Image 3" descr="preencoded.png">    </p:cNvPr>
          <p:cNvPicPr>
            <a:picLocks noChangeAspect="1"/>
          </p:cNvPicPr>
          <p:nvPr/>
        </p:nvPicPr>
        <p:blipFill>
          <a:blip r:embed="rId4"/>
          <a:stretch>
            <a:fillRect/>
          </a:stretch>
        </p:blipFill>
        <p:spPr>
          <a:xfrm>
            <a:off x="4754880" y="3337560"/>
            <a:ext cx="274320" cy="274320"/>
          </a:xfrm>
          <a:prstGeom prst="rect">
            <a:avLst/>
          </a:prstGeom>
        </p:spPr>
      </p:pic>
      <p:sp>
        <p:nvSpPr>
          <p:cNvPr id="39" name="Text 33"/>
          <p:cNvSpPr/>
          <p:nvPr/>
        </p:nvSpPr>
        <p:spPr>
          <a:xfrm>
            <a:off x="5074920" y="3337560"/>
            <a:ext cx="3474720" cy="256032"/>
          </a:xfrm>
          <a:prstGeom prst="rect">
            <a:avLst/>
          </a:prstGeom>
          <a:noFill/>
          <a:ln/>
        </p:spPr>
        <p:txBody>
          <a:bodyPr wrap="square" rtlCol="0" anchor="ctr"/>
          <a:lstStyle/>
          <a:p>
            <a:pPr indent="0" marL="0">
              <a:buNone/>
            </a:pPr>
            <a:r>
              <a:rPr lang="en-US" sz="1100" b="1" dirty="0">
                <a:solidFill>
                  <a:srgbClr val="E65100"/>
                </a:solidFill>
              </a:rPr>
              <a:t>Still Missing</a:t>
            </a:r>
            <a:endParaRPr lang="en-US" sz="1100" dirty="0"/>
          </a:p>
        </p:txBody>
      </p:sp>
      <p:sp>
        <p:nvSpPr>
          <p:cNvPr id="40" name="Shape 34"/>
          <p:cNvSpPr/>
          <p:nvPr/>
        </p:nvSpPr>
        <p:spPr>
          <a:xfrm>
            <a:off x="4754880" y="3639312"/>
            <a:ext cx="3840480" cy="0"/>
          </a:xfrm>
          <a:prstGeom prst="line">
            <a:avLst/>
          </a:prstGeom>
          <a:noFill/>
          <a:ln w="12700">
            <a:solidFill>
              <a:srgbClr val="FFCC80"/>
            </a:solidFill>
            <a:prstDash val="solid"/>
          </a:ln>
        </p:spPr>
      </p:sp>
      <p:sp>
        <p:nvSpPr>
          <p:cNvPr id="41" name="Text 35"/>
          <p:cNvSpPr/>
          <p:nvPr/>
        </p:nvSpPr>
        <p:spPr>
          <a:xfrm>
            <a:off x="4754880" y="3703320"/>
            <a:ext cx="3840480" cy="777240"/>
          </a:xfrm>
          <a:prstGeom prst="rect">
            <a:avLst/>
          </a:prstGeom>
          <a:noFill/>
          <a:ln/>
        </p:spPr>
        <p:txBody>
          <a:bodyPr wrap="square" rtlCol="0" anchor="t"/>
          <a:lstStyle/>
          <a:p>
            <a:pPr indent="0" marL="0">
              <a:buNone/>
            </a:pPr>
            <a:r>
              <a:rPr lang="en-US" sz="1000" dirty="0">
                <a:solidFill>
                  <a:srgbClr val="444444"/>
                </a:solidFill>
              </a:rPr>
              <a:t>Everything: Employee identity, company policies, leave data, and a way to actually take action. All 5 layers still ahead of us.</a:t>
            </a:r>
            <a:endParaRPr lang="en-US" sz="1000" dirty="0"/>
          </a:p>
        </p:txBody>
      </p:sp>
      <p:sp>
        <p:nvSpPr>
          <p:cNvPr id="42" name="Text 36"/>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1  ·  INSTRUCTIONS</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Giving Iwa an Identity</a:t>
            </a:r>
            <a:endParaRPr lang="en-US" sz="24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649224" y="1110996"/>
            <a:ext cx="1645920" cy="45720"/>
          </a:xfrm>
          <a:prstGeom prst="rect">
            <a:avLst/>
          </a:prstGeom>
          <a:solidFill>
            <a:srgbClr val="CC0000"/>
          </a:solidFill>
          <a:ln w="12700">
            <a:solidFill>
              <a:srgbClr val="CC0000"/>
            </a:solidFill>
            <a:prstDash val="solid"/>
          </a:ln>
        </p:spPr>
      </p:sp>
      <p:sp>
        <p:nvSpPr>
          <p:cNvPr id="6" name="Shape 4"/>
          <p:cNvSpPr/>
          <p:nvPr/>
        </p:nvSpPr>
        <p:spPr>
          <a:xfrm>
            <a:off x="502920" y="987552"/>
            <a:ext cx="292608" cy="292608"/>
          </a:xfrm>
          <a:prstGeom prst="ellipse">
            <a:avLst/>
          </a:prstGeom>
          <a:solidFill>
            <a:srgbClr val="990000"/>
          </a:solidFill>
          <a:ln w="12700">
            <a:solidFill>
              <a:srgbClr val="990000"/>
            </a:solidFill>
            <a:prstDash val="solid"/>
          </a:ln>
        </p:spPr>
      </p:sp>
      <p:sp>
        <p:nvSpPr>
          <p:cNvPr id="7" name="Text 5"/>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8" name="Text 6"/>
          <p:cNvSpPr/>
          <p:nvPr/>
        </p:nvSpPr>
        <p:spPr>
          <a:xfrm>
            <a:off x="0" y="1325880"/>
            <a:ext cx="1298448" cy="228600"/>
          </a:xfrm>
          <a:prstGeom prst="rect">
            <a:avLst/>
          </a:prstGeom>
          <a:noFill/>
          <a:ln/>
        </p:spPr>
        <p:txBody>
          <a:bodyPr wrap="square" rtlCol="0" anchor="ctr"/>
          <a:lstStyle/>
          <a:p>
            <a:pPr algn="ctr" indent="0" marL="0">
              <a:buNone/>
            </a:pPr>
            <a:r>
              <a:rPr lang="en-US" sz="700" dirty="0">
                <a:solidFill>
                  <a:srgbClr val="770000"/>
                </a:solidFill>
              </a:rPr>
              <a:t>Base LLM</a:t>
            </a:r>
            <a:endParaRPr lang="en-US" sz="700" dirty="0"/>
          </a:p>
        </p:txBody>
      </p:sp>
      <p:sp>
        <p:nvSpPr>
          <p:cNvPr id="9" name="Shape 7"/>
          <p:cNvSpPr/>
          <p:nvPr/>
        </p:nvSpPr>
        <p:spPr>
          <a:xfrm>
            <a:off x="2148840" y="987552"/>
            <a:ext cx="292608" cy="292608"/>
          </a:xfrm>
          <a:prstGeom prst="ellipse">
            <a:avLst/>
          </a:prstGeom>
          <a:solidFill>
            <a:srgbClr val="CC0000"/>
          </a:solidFill>
          <a:ln w="25400">
            <a:solidFill>
              <a:srgbClr val="FFCD41"/>
            </a:solidFill>
            <a:prstDash val="solid"/>
          </a:ln>
        </p:spPr>
      </p:sp>
      <p:sp>
        <p:nvSpPr>
          <p:cNvPr id="10" name="Text 8"/>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Text 9"/>
          <p:cNvSpPr/>
          <p:nvPr/>
        </p:nvSpPr>
        <p:spPr>
          <a:xfrm>
            <a:off x="1645920" y="1325880"/>
            <a:ext cx="1298448" cy="228600"/>
          </a:xfrm>
          <a:prstGeom prst="rect">
            <a:avLst/>
          </a:prstGeom>
          <a:noFill/>
          <a:ln/>
        </p:spPr>
        <p:txBody>
          <a:bodyPr wrap="square" rtlCol="0" anchor="ctr"/>
          <a:lstStyle/>
          <a:p>
            <a:pPr algn="ctr" indent="0" marL="0">
              <a:buNone/>
            </a:pPr>
            <a:r>
              <a:rPr lang="en-US" sz="700" b="1" dirty="0">
                <a:solidFill>
                  <a:srgbClr val="CC0000"/>
                </a:solidFill>
              </a:rPr>
              <a:t>+Instructions</a:t>
            </a:r>
            <a:endParaRPr lang="en-US" sz="700" dirty="0"/>
          </a:p>
        </p:txBody>
      </p:sp>
      <p:sp>
        <p:nvSpPr>
          <p:cNvPr id="12" name="Shape 10"/>
          <p:cNvSpPr/>
          <p:nvPr/>
        </p:nvSpPr>
        <p:spPr>
          <a:xfrm>
            <a:off x="3749040" y="987552"/>
            <a:ext cx="292608" cy="292608"/>
          </a:xfrm>
          <a:prstGeom prst="ellipse">
            <a:avLst/>
          </a:prstGeom>
          <a:solidFill>
            <a:srgbClr val="CCCCCC"/>
          </a:solidFill>
          <a:ln w="12700">
            <a:solidFill>
              <a:srgbClr val="AAAAAA"/>
            </a:solidFill>
            <a:prstDash val="solid"/>
          </a:ln>
        </p:spPr>
      </p:sp>
      <p:sp>
        <p:nvSpPr>
          <p:cNvPr id="13" name="Text 11"/>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4" name="Text 12"/>
          <p:cNvSpPr/>
          <p:nvPr/>
        </p:nvSpPr>
        <p:spPr>
          <a:xfrm>
            <a:off x="3246120" y="1325880"/>
            <a:ext cx="1298448" cy="228600"/>
          </a:xfrm>
          <a:prstGeom prst="rect">
            <a:avLst/>
          </a:prstGeom>
          <a:noFill/>
          <a:ln/>
        </p:spPr>
        <p:txBody>
          <a:bodyPr wrap="square" rtlCol="0" anchor="ctr"/>
          <a:lstStyle/>
          <a:p>
            <a:pPr algn="ctr" indent="0" marL="0">
              <a:buNone/>
            </a:pPr>
            <a:r>
              <a:rPr lang="en-US" sz="700" dirty="0">
                <a:solidFill>
                  <a:srgbClr val="999999"/>
                </a:solidFill>
              </a:rPr>
              <a:t>+RAG</a:t>
            </a:r>
            <a:endParaRPr lang="en-US" sz="700" dirty="0"/>
          </a:p>
        </p:txBody>
      </p:sp>
      <p:sp>
        <p:nvSpPr>
          <p:cNvPr id="15" name="Shape 13"/>
          <p:cNvSpPr/>
          <p:nvPr/>
        </p:nvSpPr>
        <p:spPr>
          <a:xfrm>
            <a:off x="5349240" y="987552"/>
            <a:ext cx="292608" cy="292608"/>
          </a:xfrm>
          <a:prstGeom prst="ellipse">
            <a:avLst/>
          </a:prstGeom>
          <a:solidFill>
            <a:srgbClr val="CCCCCC"/>
          </a:solidFill>
          <a:ln w="12700">
            <a:solidFill>
              <a:srgbClr val="AAAAAA"/>
            </a:solidFill>
            <a:prstDash val="solid"/>
          </a:ln>
        </p:spPr>
      </p:sp>
      <p:sp>
        <p:nvSpPr>
          <p:cNvPr id="16" name="Text 14"/>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4846320" y="1325880"/>
            <a:ext cx="1298448" cy="228600"/>
          </a:xfrm>
          <a:prstGeom prst="rect">
            <a:avLst/>
          </a:prstGeom>
          <a:noFill/>
          <a:ln/>
        </p:spPr>
        <p:txBody>
          <a:bodyPr wrap="square" rtlCol="0" anchor="ctr"/>
          <a:lstStyle/>
          <a:p>
            <a:pPr algn="ctr" indent="0" marL="0">
              <a:buNone/>
            </a:pPr>
            <a:r>
              <a:rPr lang="en-US" sz="700" dirty="0">
                <a:solidFill>
                  <a:srgbClr val="999999"/>
                </a:solidFill>
              </a:rPr>
              <a:t>+Tool Outputs</a:t>
            </a:r>
            <a:endParaRPr lang="en-US" sz="700" dirty="0"/>
          </a:p>
        </p:txBody>
      </p:sp>
      <p:sp>
        <p:nvSpPr>
          <p:cNvPr id="18" name="Shape 16"/>
          <p:cNvSpPr/>
          <p:nvPr/>
        </p:nvSpPr>
        <p:spPr>
          <a:xfrm>
            <a:off x="6903720" y="987552"/>
            <a:ext cx="292608" cy="292608"/>
          </a:xfrm>
          <a:prstGeom prst="ellipse">
            <a:avLst/>
          </a:prstGeom>
          <a:solidFill>
            <a:srgbClr val="CCCCCC"/>
          </a:solidFill>
          <a:ln w="12700">
            <a:solidFill>
              <a:srgbClr val="AAAAAA"/>
            </a:solidFill>
            <a:prstDash val="solid"/>
          </a:ln>
        </p:spPr>
      </p:sp>
      <p:sp>
        <p:nvSpPr>
          <p:cNvPr id="19" name="Text 17"/>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0" name="Text 18"/>
          <p:cNvSpPr/>
          <p:nvPr/>
        </p:nvSpPr>
        <p:spPr>
          <a:xfrm>
            <a:off x="6400800" y="1325880"/>
            <a:ext cx="1298448" cy="228600"/>
          </a:xfrm>
          <a:prstGeom prst="rect">
            <a:avLst/>
          </a:prstGeom>
          <a:noFill/>
          <a:ln/>
        </p:spPr>
        <p:txBody>
          <a:bodyPr wrap="square" rtlCol="0" anchor="ctr"/>
          <a:lstStyle/>
          <a:p>
            <a:pPr algn="ctr" indent="0" marL="0">
              <a:buNone/>
            </a:pPr>
            <a:r>
              <a:rPr lang="en-US" sz="700" dirty="0">
                <a:solidFill>
                  <a:srgbClr val="999999"/>
                </a:solidFill>
              </a:rPr>
              <a:t>+History</a:t>
            </a:r>
            <a:endParaRPr lang="en-US" sz="700" dirty="0"/>
          </a:p>
        </p:txBody>
      </p:sp>
      <p:sp>
        <p:nvSpPr>
          <p:cNvPr id="21" name="Shape 19"/>
          <p:cNvSpPr/>
          <p:nvPr/>
        </p:nvSpPr>
        <p:spPr>
          <a:xfrm>
            <a:off x="8366760" y="987552"/>
            <a:ext cx="292608" cy="292608"/>
          </a:xfrm>
          <a:prstGeom prst="ellipse">
            <a:avLst/>
          </a:prstGeom>
          <a:solidFill>
            <a:srgbClr val="CCCCCC"/>
          </a:solidFill>
          <a:ln w="12700">
            <a:solidFill>
              <a:srgbClr val="AAAAAA"/>
            </a:solidFill>
            <a:prstDash val="solid"/>
          </a:ln>
        </p:spPr>
      </p:sp>
      <p:sp>
        <p:nvSpPr>
          <p:cNvPr id="22" name="Text 20"/>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863840" y="1325880"/>
            <a:ext cx="1298448" cy="228600"/>
          </a:xfrm>
          <a:prstGeom prst="rect">
            <a:avLst/>
          </a:prstGeom>
          <a:noFill/>
          <a:ln/>
        </p:spPr>
        <p:txBody>
          <a:bodyPr wrap="square" rtlCol="0" anchor="ctr"/>
          <a:lstStyle/>
          <a:p>
            <a:pPr algn="ctr" indent="0" marL="0">
              <a:buNone/>
            </a:pPr>
            <a:r>
              <a:rPr lang="en-US" sz="700" dirty="0">
                <a:solidFill>
                  <a:srgbClr val="999999"/>
                </a:solidFill>
              </a:rPr>
              <a:t>+Agent State</a:t>
            </a:r>
            <a:endParaRPr lang="en-US" sz="700" dirty="0"/>
          </a:p>
        </p:txBody>
      </p:sp>
      <p:sp>
        <p:nvSpPr>
          <p:cNvPr id="24" name="Shape 22"/>
          <p:cNvSpPr/>
          <p:nvPr/>
        </p:nvSpPr>
        <p:spPr>
          <a:xfrm>
            <a:off x="365760" y="1664208"/>
            <a:ext cx="8412480" cy="502920"/>
          </a:xfrm>
          <a:prstGeom prst="roundRect">
            <a:avLst>
              <a:gd name="adj" fmla="val 14545"/>
            </a:avLst>
          </a:prstGeom>
          <a:solidFill>
            <a:srgbClr val="F5E6E6"/>
          </a:solidFill>
          <a:ln w="12700">
            <a:solidFill>
              <a:srgbClr val="E8A0A0"/>
            </a:solidFill>
            <a:prstDash val="solid"/>
          </a:ln>
        </p:spPr>
      </p:sp>
      <p:pic>
        <p:nvPicPr>
          <p:cNvPr id="25" name="Image 0" descr="preencoded.png">    </p:cNvPr>
          <p:cNvPicPr>
            <a:picLocks noChangeAspect="1"/>
          </p:cNvPicPr>
          <p:nvPr/>
        </p:nvPicPr>
        <p:blipFill>
          <a:blip r:embed="rId1"/>
          <a:stretch>
            <a:fillRect/>
          </a:stretch>
        </p:blipFill>
        <p:spPr>
          <a:xfrm>
            <a:off x="411480" y="1709928"/>
            <a:ext cx="320040" cy="320040"/>
          </a:xfrm>
          <a:prstGeom prst="rect">
            <a:avLst/>
          </a:prstGeom>
        </p:spPr>
      </p:pic>
      <p:sp>
        <p:nvSpPr>
          <p:cNvPr id="26" name="Text 23"/>
          <p:cNvSpPr/>
          <p:nvPr/>
        </p:nvSpPr>
        <p:spPr>
          <a:xfrm>
            <a:off x="777240" y="1691640"/>
            <a:ext cx="7955280" cy="457200"/>
          </a:xfrm>
          <a:prstGeom prst="rect">
            <a:avLst/>
          </a:prstGeom>
          <a:noFill/>
          <a:ln/>
        </p:spPr>
        <p:txBody>
          <a:bodyPr wrap="square" rtlCol="0" anchor="ctr"/>
          <a:lstStyle/>
          <a:p>
            <a:pPr indent="0" marL="0">
              <a:buNone/>
            </a:pPr>
            <a:r>
              <a:rPr lang="en-US" sz="1100" b="1" dirty="0">
                <a:solidFill>
                  <a:srgbClr val="CC0000"/>
                </a:solidFill>
              </a:rPr>
              <a:t>Employee  </a:t>
            </a:r>
            <a:pPr indent="0" marL="0">
              <a:buNone/>
            </a:pPr>
            <a:r>
              <a:rPr lang="en-US" sz="1100" dirty="0">
                <a:solidFill>
                  <a:srgbClr val="1A1A1A"/>
                </a:solidFill>
              </a:rPr>
              <a:t>"Can I take leave next week?"</a:t>
            </a:r>
            <a:endParaRPr lang="en-US" sz="1100" dirty="0"/>
          </a:p>
        </p:txBody>
      </p:sp>
      <p:sp>
        <p:nvSpPr>
          <p:cNvPr id="27" name="Shape 24"/>
          <p:cNvSpPr/>
          <p:nvPr/>
        </p:nvSpPr>
        <p:spPr>
          <a:xfrm>
            <a:off x="365760" y="2286000"/>
            <a:ext cx="8412480" cy="822960"/>
          </a:xfrm>
          <a:prstGeom prst="roundRect">
            <a:avLst>
              <a:gd name="adj" fmla="val 8889"/>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8" name="Shape 25"/>
          <p:cNvSpPr/>
          <p:nvPr/>
        </p:nvSpPr>
        <p:spPr>
          <a:xfrm>
            <a:off x="411480" y="2359152"/>
            <a:ext cx="320040" cy="320040"/>
          </a:xfrm>
          <a:prstGeom prst="ellipse">
            <a:avLst/>
          </a:prstGeom>
          <a:solidFill>
            <a:srgbClr val="CC0000"/>
          </a:solidFill>
          <a:ln w="12700">
            <a:solidFill>
              <a:srgbClr val="CC0000"/>
            </a:solidFill>
            <a:prstDash val="solid"/>
          </a:ln>
        </p:spPr>
      </p:sp>
      <p:sp>
        <p:nvSpPr>
          <p:cNvPr id="29" name="Text 26"/>
          <p:cNvSpPr/>
          <p:nvPr/>
        </p:nvSpPr>
        <p:spPr>
          <a:xfrm>
            <a:off x="411480" y="23591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30" name="Text 27"/>
          <p:cNvSpPr/>
          <p:nvPr/>
        </p:nvSpPr>
        <p:spPr>
          <a:xfrm>
            <a:off x="768096" y="2350008"/>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31" name="Text 28"/>
          <p:cNvSpPr/>
          <p:nvPr/>
        </p:nvSpPr>
        <p:spPr>
          <a:xfrm>
            <a:off x="768096" y="2542032"/>
            <a:ext cx="7132320" cy="457200"/>
          </a:xfrm>
          <a:prstGeom prst="rect">
            <a:avLst/>
          </a:prstGeom>
          <a:noFill/>
          <a:ln/>
        </p:spPr>
        <p:txBody>
          <a:bodyPr wrap="square" rtlCol="0" anchor="t"/>
          <a:lstStyle/>
          <a:p>
            <a:pPr indent="0" marL="0">
              <a:buNone/>
            </a:pPr>
            <a:r>
              <a:rPr lang="en-US" sz="1100" dirty="0">
                <a:solidFill>
                  <a:srgbClr val="1A1A1A"/>
                </a:solidFill>
              </a:rPr>
              <a:t>Hi! I'm Iwa, ABC Corp's HR Assistant. I can certainly help with leave-related questions. However, I don't have access to your leave balance or your company's leave policy at this moment.</a:t>
            </a:r>
            <a:endParaRPr lang="en-US" sz="1100" dirty="0"/>
          </a:p>
        </p:txBody>
      </p:sp>
      <p:pic>
        <p:nvPicPr>
          <p:cNvPr id="32" name="Image 1" descr="preencoded.png">    </p:cNvPr>
          <p:cNvPicPr>
            <a:picLocks noChangeAspect="1"/>
          </p:cNvPicPr>
          <p:nvPr/>
        </p:nvPicPr>
        <p:blipFill>
          <a:blip r:embed="rId2"/>
          <a:stretch>
            <a:fillRect/>
          </a:stretch>
        </p:blipFill>
        <p:spPr>
          <a:xfrm>
            <a:off x="7863840" y="2304288"/>
            <a:ext cx="594360" cy="594360"/>
          </a:xfrm>
          <a:prstGeom prst="rect">
            <a:avLst/>
          </a:prstGeom>
        </p:spPr>
      </p:pic>
      <p:sp>
        <p:nvSpPr>
          <p:cNvPr id="33" name="Shape 29"/>
          <p:cNvSpPr/>
          <p:nvPr/>
        </p:nvSpPr>
        <p:spPr>
          <a:xfrm>
            <a:off x="365760" y="3218688"/>
            <a:ext cx="8412480" cy="411480"/>
          </a:xfrm>
          <a:prstGeom prst="roundRect">
            <a:avLst>
              <a:gd name="adj" fmla="val 15556"/>
            </a:avLst>
          </a:prstGeom>
          <a:solidFill>
            <a:srgbClr val="FFF8E8"/>
          </a:solidFill>
          <a:ln w="12700">
            <a:solidFill>
              <a:srgbClr val="FFCD41"/>
            </a:solidFill>
            <a:prstDash val="solid"/>
          </a:ln>
        </p:spPr>
      </p:sp>
      <p:sp>
        <p:nvSpPr>
          <p:cNvPr id="34" name="Shape 30"/>
          <p:cNvSpPr/>
          <p:nvPr/>
        </p:nvSpPr>
        <p:spPr>
          <a:xfrm>
            <a:off x="438912" y="3273552"/>
            <a:ext cx="274320" cy="274320"/>
          </a:xfrm>
          <a:prstGeom prst="ellipse">
            <a:avLst/>
          </a:prstGeom>
          <a:solidFill>
            <a:srgbClr val="FFCD41"/>
          </a:solidFill>
          <a:ln w="12700">
            <a:solidFill>
              <a:srgbClr val="FFCD41"/>
            </a:solidFill>
            <a:prstDash val="solid"/>
          </a:ln>
        </p:spPr>
      </p:sp>
      <p:sp>
        <p:nvSpPr>
          <p:cNvPr id="35" name="Text 31"/>
          <p:cNvSpPr/>
          <p:nvPr/>
        </p:nvSpPr>
        <p:spPr>
          <a:xfrm>
            <a:off x="438912" y="3273552"/>
            <a:ext cx="274320" cy="274320"/>
          </a:xfrm>
          <a:prstGeom prst="rect">
            <a:avLst/>
          </a:prstGeom>
          <a:noFill/>
          <a:ln/>
        </p:spPr>
        <p:txBody>
          <a:bodyPr wrap="square" lIns="0" tIns="0" rIns="0" bIns="0" rtlCol="0" anchor="ctr"/>
          <a:lstStyle/>
          <a:p>
            <a:pPr algn="ctr" indent="0" marL="0">
              <a:buNone/>
            </a:pPr>
            <a:r>
              <a:rPr lang="en-US" sz="1000" dirty="0">
                <a:solidFill>
                  <a:srgbClr val="990000"/>
                </a:solidFill>
              </a:rPr>
              <a:t>⚙</a:t>
            </a:r>
            <a:endParaRPr lang="en-US" sz="1000" dirty="0"/>
          </a:p>
        </p:txBody>
      </p:sp>
      <p:sp>
        <p:nvSpPr>
          <p:cNvPr id="36" name="Text 32"/>
          <p:cNvSpPr/>
          <p:nvPr/>
        </p:nvSpPr>
        <p:spPr>
          <a:xfrm>
            <a:off x="768096" y="3246120"/>
            <a:ext cx="7863840" cy="365760"/>
          </a:xfrm>
          <a:prstGeom prst="rect">
            <a:avLst/>
          </a:prstGeom>
          <a:noFill/>
          <a:ln/>
        </p:spPr>
        <p:txBody>
          <a:bodyPr wrap="square" rtlCol="0" anchor="ctr"/>
          <a:lstStyle/>
          <a:p>
            <a:pPr indent="0" marL="0">
              <a:buNone/>
            </a:pPr>
            <a:r>
              <a:rPr lang="en-US" sz="850" i="1" dirty="0">
                <a:solidFill>
                  <a:srgbClr val="990000"/>
                </a:solidFill>
              </a:rPr>
              <a:t>System Prompt: "You are Iwa, the HR assistant for ABC Corp. Be professional, Be concise, Never invent HR policies, Ask clarifying questions, Escalate when necessary."</a:t>
            </a:r>
            <a:endParaRPr lang="en-US" sz="850" dirty="0"/>
          </a:p>
        </p:txBody>
      </p:sp>
      <p:sp>
        <p:nvSpPr>
          <p:cNvPr id="37" name="Shape 33"/>
          <p:cNvSpPr/>
          <p:nvPr/>
        </p:nvSpPr>
        <p:spPr>
          <a:xfrm>
            <a:off x="365760" y="3721608"/>
            <a:ext cx="4114800" cy="1325880"/>
          </a:xfrm>
          <a:prstGeom prst="roundRect">
            <a:avLst>
              <a:gd name="adj" fmla="val 5517"/>
            </a:avLst>
          </a:prstGeom>
          <a:solidFill>
            <a:srgbClr val="F0FAF0"/>
          </a:solidFill>
          <a:ln w="12700">
            <a:solidFill>
              <a:srgbClr val="A5D6A7"/>
            </a:solidFill>
            <a:prstDash val="solid"/>
          </a:ln>
        </p:spPr>
      </p:sp>
      <p:pic>
        <p:nvPicPr>
          <p:cNvPr id="38" name="Image 2" descr="preencoded.png">    </p:cNvPr>
          <p:cNvPicPr>
            <a:picLocks noChangeAspect="1"/>
          </p:cNvPicPr>
          <p:nvPr/>
        </p:nvPicPr>
        <p:blipFill>
          <a:blip r:embed="rId3"/>
          <a:stretch>
            <a:fillRect/>
          </a:stretch>
        </p:blipFill>
        <p:spPr>
          <a:xfrm>
            <a:off x="457200" y="3813048"/>
            <a:ext cx="274320" cy="274320"/>
          </a:xfrm>
          <a:prstGeom prst="rect">
            <a:avLst/>
          </a:prstGeom>
        </p:spPr>
      </p:pic>
      <p:sp>
        <p:nvSpPr>
          <p:cNvPr id="39" name="Text 34"/>
          <p:cNvSpPr/>
          <p:nvPr/>
        </p:nvSpPr>
        <p:spPr>
          <a:xfrm>
            <a:off x="777240" y="3813048"/>
            <a:ext cx="3474720" cy="256032"/>
          </a:xfrm>
          <a:prstGeom prst="rect">
            <a:avLst/>
          </a:prstGeom>
          <a:noFill/>
          <a:ln/>
        </p:spPr>
        <p:txBody>
          <a:bodyPr wrap="square" rtlCol="0" anchor="ctr"/>
          <a:lstStyle/>
          <a:p>
            <a:pPr indent="0" marL="0">
              <a:buNone/>
            </a:pPr>
            <a:r>
              <a:rPr lang="en-US" sz="1100" b="1" dirty="0">
                <a:solidFill>
                  <a:srgbClr val="2E7D32"/>
                </a:solidFill>
              </a:rPr>
              <a:t>What Changed?</a:t>
            </a:r>
            <a:endParaRPr lang="en-US" sz="1100" dirty="0"/>
          </a:p>
        </p:txBody>
      </p:sp>
      <p:sp>
        <p:nvSpPr>
          <p:cNvPr id="40" name="Shape 35"/>
          <p:cNvSpPr/>
          <p:nvPr/>
        </p:nvSpPr>
        <p:spPr>
          <a:xfrm>
            <a:off x="457200" y="4114800"/>
            <a:ext cx="3840480" cy="0"/>
          </a:xfrm>
          <a:prstGeom prst="line">
            <a:avLst/>
          </a:prstGeom>
          <a:noFill/>
          <a:ln w="12700">
            <a:solidFill>
              <a:srgbClr val="A5D6A7"/>
            </a:solidFill>
            <a:prstDash val="solid"/>
          </a:ln>
        </p:spPr>
      </p:sp>
      <p:sp>
        <p:nvSpPr>
          <p:cNvPr id="41" name="Text 36"/>
          <p:cNvSpPr/>
          <p:nvPr/>
        </p:nvSpPr>
        <p:spPr>
          <a:xfrm>
            <a:off x="457200" y="4178808"/>
            <a:ext cx="3840480" cy="777240"/>
          </a:xfrm>
          <a:prstGeom prst="rect">
            <a:avLst/>
          </a:prstGeom>
          <a:noFill/>
          <a:ln/>
        </p:spPr>
        <p:txBody>
          <a:bodyPr wrap="square" rtlCol="0" anchor="t"/>
          <a:lstStyle/>
          <a:p>
            <a:pPr indent="0" marL="0">
              <a:buNone/>
            </a:pPr>
            <a:r>
              <a:rPr lang="en-US" sz="1000" dirty="0">
                <a:solidFill>
                  <a:srgbClr val="444444"/>
                </a:solidFill>
              </a:rPr>
              <a:t>A system prompt gives Iwa an identity, tone, and boundaries. It now sounds professional while acknowledging its limitations.</a:t>
            </a:r>
            <a:endParaRPr lang="en-US" sz="1000" dirty="0"/>
          </a:p>
        </p:txBody>
      </p:sp>
      <p:sp>
        <p:nvSpPr>
          <p:cNvPr id="42" name="Shape 37"/>
          <p:cNvSpPr/>
          <p:nvPr/>
        </p:nvSpPr>
        <p:spPr>
          <a:xfrm>
            <a:off x="4663440" y="3721608"/>
            <a:ext cx="4114800" cy="1325880"/>
          </a:xfrm>
          <a:prstGeom prst="roundRect">
            <a:avLst>
              <a:gd name="adj" fmla="val 5517"/>
            </a:avLst>
          </a:prstGeom>
          <a:solidFill>
            <a:srgbClr val="FFF8E1"/>
          </a:solidFill>
          <a:ln w="12700">
            <a:solidFill>
              <a:srgbClr val="FFCC80"/>
            </a:solidFill>
            <a:prstDash val="solid"/>
          </a:ln>
        </p:spPr>
      </p:sp>
      <p:pic>
        <p:nvPicPr>
          <p:cNvPr id="43" name="Image 3" descr="preencoded.png">    </p:cNvPr>
          <p:cNvPicPr>
            <a:picLocks noChangeAspect="1"/>
          </p:cNvPicPr>
          <p:nvPr/>
        </p:nvPicPr>
        <p:blipFill>
          <a:blip r:embed="rId4"/>
          <a:stretch>
            <a:fillRect/>
          </a:stretch>
        </p:blipFill>
        <p:spPr>
          <a:xfrm>
            <a:off x="4754880" y="3813048"/>
            <a:ext cx="274320" cy="274320"/>
          </a:xfrm>
          <a:prstGeom prst="rect">
            <a:avLst/>
          </a:prstGeom>
        </p:spPr>
      </p:pic>
      <p:sp>
        <p:nvSpPr>
          <p:cNvPr id="44" name="Text 38"/>
          <p:cNvSpPr/>
          <p:nvPr/>
        </p:nvSpPr>
        <p:spPr>
          <a:xfrm>
            <a:off x="5074920" y="3813048"/>
            <a:ext cx="3474720" cy="256032"/>
          </a:xfrm>
          <a:prstGeom prst="rect">
            <a:avLst/>
          </a:prstGeom>
          <a:noFill/>
          <a:ln/>
        </p:spPr>
        <p:txBody>
          <a:bodyPr wrap="square" rtlCol="0" anchor="ctr"/>
          <a:lstStyle/>
          <a:p>
            <a:pPr indent="0" marL="0">
              <a:buNone/>
            </a:pPr>
            <a:r>
              <a:rPr lang="en-US" sz="1100" b="1" dirty="0">
                <a:solidFill>
                  <a:srgbClr val="E65100"/>
                </a:solidFill>
              </a:rPr>
              <a:t>Still Missing</a:t>
            </a:r>
            <a:endParaRPr lang="en-US" sz="1100" dirty="0"/>
          </a:p>
        </p:txBody>
      </p:sp>
      <p:sp>
        <p:nvSpPr>
          <p:cNvPr id="45" name="Shape 39"/>
          <p:cNvSpPr/>
          <p:nvPr/>
        </p:nvSpPr>
        <p:spPr>
          <a:xfrm>
            <a:off x="4754880" y="4114800"/>
            <a:ext cx="3840480" cy="0"/>
          </a:xfrm>
          <a:prstGeom prst="line">
            <a:avLst/>
          </a:prstGeom>
          <a:noFill/>
          <a:ln w="12700">
            <a:solidFill>
              <a:srgbClr val="FFCC80"/>
            </a:solidFill>
            <a:prstDash val="solid"/>
          </a:ln>
        </p:spPr>
      </p:sp>
      <p:sp>
        <p:nvSpPr>
          <p:cNvPr id="46" name="Text 40"/>
          <p:cNvSpPr/>
          <p:nvPr/>
        </p:nvSpPr>
        <p:spPr>
          <a:xfrm>
            <a:off x="4754880" y="4178808"/>
            <a:ext cx="3840480" cy="777240"/>
          </a:xfrm>
          <a:prstGeom prst="rect">
            <a:avLst/>
          </a:prstGeom>
          <a:noFill/>
          <a:ln/>
        </p:spPr>
        <p:txBody>
          <a:bodyPr wrap="square" rtlCol="0" anchor="t"/>
          <a:lstStyle/>
          <a:p>
            <a:pPr indent="0" marL="0">
              <a:buNone/>
            </a:pPr>
            <a:r>
              <a:rPr lang="en-US" sz="1000" dirty="0">
                <a:solidFill>
                  <a:srgbClr val="444444"/>
                </a:solidFill>
              </a:rPr>
              <a:t>Zero real facts. It sounds more professional while acknowledging limitations but lacks access to company knowledge, employee data, and team calendar.</a:t>
            </a:r>
            <a:endParaRPr lang="en-US" sz="1000" dirty="0"/>
          </a:p>
        </p:txBody>
      </p:sp>
      <p:sp>
        <p:nvSpPr>
          <p:cNvPr id="47" name="Text 41"/>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2  ·  RETRIEVED KNOWLEDGE (RAG)</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Grounding Iwa with Enterprise Knowledge</a:t>
            </a:r>
            <a:endParaRPr lang="en-US" sz="22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649224" y="1110996"/>
            <a:ext cx="3246120" cy="45720"/>
          </a:xfrm>
          <a:prstGeom prst="rect">
            <a:avLst/>
          </a:prstGeom>
          <a:solidFill>
            <a:srgbClr val="CC0000"/>
          </a:solidFill>
          <a:ln w="12700">
            <a:solidFill>
              <a:srgbClr val="CC0000"/>
            </a:solidFill>
            <a:prstDash val="solid"/>
          </a:ln>
        </p:spPr>
      </p:sp>
      <p:sp>
        <p:nvSpPr>
          <p:cNvPr id="6" name="Shape 4"/>
          <p:cNvSpPr/>
          <p:nvPr/>
        </p:nvSpPr>
        <p:spPr>
          <a:xfrm>
            <a:off x="502920" y="987552"/>
            <a:ext cx="292608" cy="292608"/>
          </a:xfrm>
          <a:prstGeom prst="ellipse">
            <a:avLst/>
          </a:prstGeom>
          <a:solidFill>
            <a:srgbClr val="990000"/>
          </a:solidFill>
          <a:ln w="12700">
            <a:solidFill>
              <a:srgbClr val="990000"/>
            </a:solidFill>
            <a:prstDash val="solid"/>
          </a:ln>
        </p:spPr>
      </p:sp>
      <p:sp>
        <p:nvSpPr>
          <p:cNvPr id="7" name="Text 5"/>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8" name="Text 6"/>
          <p:cNvSpPr/>
          <p:nvPr/>
        </p:nvSpPr>
        <p:spPr>
          <a:xfrm>
            <a:off x="0" y="1325880"/>
            <a:ext cx="1298448" cy="228600"/>
          </a:xfrm>
          <a:prstGeom prst="rect">
            <a:avLst/>
          </a:prstGeom>
          <a:noFill/>
          <a:ln/>
        </p:spPr>
        <p:txBody>
          <a:bodyPr wrap="square" rtlCol="0" anchor="ctr"/>
          <a:lstStyle/>
          <a:p>
            <a:pPr algn="ctr" indent="0" marL="0">
              <a:buNone/>
            </a:pPr>
            <a:r>
              <a:rPr lang="en-US" sz="700" dirty="0">
                <a:solidFill>
                  <a:srgbClr val="770000"/>
                </a:solidFill>
              </a:rPr>
              <a:t>Base LLM</a:t>
            </a:r>
            <a:endParaRPr lang="en-US" sz="700" dirty="0"/>
          </a:p>
        </p:txBody>
      </p:sp>
      <p:sp>
        <p:nvSpPr>
          <p:cNvPr id="9" name="Shape 7"/>
          <p:cNvSpPr/>
          <p:nvPr/>
        </p:nvSpPr>
        <p:spPr>
          <a:xfrm>
            <a:off x="2148840" y="987552"/>
            <a:ext cx="292608" cy="292608"/>
          </a:xfrm>
          <a:prstGeom prst="ellipse">
            <a:avLst/>
          </a:prstGeom>
          <a:solidFill>
            <a:srgbClr val="990000"/>
          </a:solidFill>
          <a:ln w="12700">
            <a:solidFill>
              <a:srgbClr val="990000"/>
            </a:solidFill>
            <a:prstDash val="solid"/>
          </a:ln>
        </p:spPr>
      </p:sp>
      <p:sp>
        <p:nvSpPr>
          <p:cNvPr id="10" name="Text 8"/>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Text 9"/>
          <p:cNvSpPr/>
          <p:nvPr/>
        </p:nvSpPr>
        <p:spPr>
          <a:xfrm>
            <a:off x="1645920" y="1325880"/>
            <a:ext cx="1298448" cy="228600"/>
          </a:xfrm>
          <a:prstGeom prst="rect">
            <a:avLst/>
          </a:prstGeom>
          <a:noFill/>
          <a:ln/>
        </p:spPr>
        <p:txBody>
          <a:bodyPr wrap="square" rtlCol="0" anchor="ctr"/>
          <a:lstStyle/>
          <a:p>
            <a:pPr algn="ctr" indent="0" marL="0">
              <a:buNone/>
            </a:pPr>
            <a:r>
              <a:rPr lang="en-US" sz="700" dirty="0">
                <a:solidFill>
                  <a:srgbClr val="770000"/>
                </a:solidFill>
              </a:rPr>
              <a:t>+Instructions</a:t>
            </a:r>
            <a:endParaRPr lang="en-US" sz="700" dirty="0"/>
          </a:p>
        </p:txBody>
      </p:sp>
      <p:sp>
        <p:nvSpPr>
          <p:cNvPr id="12" name="Shape 10"/>
          <p:cNvSpPr/>
          <p:nvPr/>
        </p:nvSpPr>
        <p:spPr>
          <a:xfrm>
            <a:off x="3749040" y="987552"/>
            <a:ext cx="292608" cy="292608"/>
          </a:xfrm>
          <a:prstGeom prst="ellipse">
            <a:avLst/>
          </a:prstGeom>
          <a:solidFill>
            <a:srgbClr val="CC0000"/>
          </a:solidFill>
          <a:ln w="25400">
            <a:solidFill>
              <a:srgbClr val="FFCD41"/>
            </a:solidFill>
            <a:prstDash val="solid"/>
          </a:ln>
        </p:spPr>
      </p:sp>
      <p:sp>
        <p:nvSpPr>
          <p:cNvPr id="13" name="Text 11"/>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4" name="Text 12"/>
          <p:cNvSpPr/>
          <p:nvPr/>
        </p:nvSpPr>
        <p:spPr>
          <a:xfrm>
            <a:off x="3246120" y="1325880"/>
            <a:ext cx="1298448" cy="228600"/>
          </a:xfrm>
          <a:prstGeom prst="rect">
            <a:avLst/>
          </a:prstGeom>
          <a:noFill/>
          <a:ln/>
        </p:spPr>
        <p:txBody>
          <a:bodyPr wrap="square" rtlCol="0" anchor="ctr"/>
          <a:lstStyle/>
          <a:p>
            <a:pPr algn="ctr" indent="0" marL="0">
              <a:buNone/>
            </a:pPr>
            <a:r>
              <a:rPr lang="en-US" sz="700" b="1" dirty="0">
                <a:solidFill>
                  <a:srgbClr val="CC0000"/>
                </a:solidFill>
              </a:rPr>
              <a:t>+RAG</a:t>
            </a:r>
            <a:endParaRPr lang="en-US" sz="700" dirty="0"/>
          </a:p>
        </p:txBody>
      </p:sp>
      <p:sp>
        <p:nvSpPr>
          <p:cNvPr id="15" name="Shape 13"/>
          <p:cNvSpPr/>
          <p:nvPr/>
        </p:nvSpPr>
        <p:spPr>
          <a:xfrm>
            <a:off x="5349240" y="987552"/>
            <a:ext cx="292608" cy="292608"/>
          </a:xfrm>
          <a:prstGeom prst="ellipse">
            <a:avLst/>
          </a:prstGeom>
          <a:solidFill>
            <a:srgbClr val="CCCCCC"/>
          </a:solidFill>
          <a:ln w="12700">
            <a:solidFill>
              <a:srgbClr val="AAAAAA"/>
            </a:solidFill>
            <a:prstDash val="solid"/>
          </a:ln>
        </p:spPr>
      </p:sp>
      <p:sp>
        <p:nvSpPr>
          <p:cNvPr id="16" name="Text 14"/>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4846320" y="1325880"/>
            <a:ext cx="1298448" cy="228600"/>
          </a:xfrm>
          <a:prstGeom prst="rect">
            <a:avLst/>
          </a:prstGeom>
          <a:noFill/>
          <a:ln/>
        </p:spPr>
        <p:txBody>
          <a:bodyPr wrap="square" rtlCol="0" anchor="ctr"/>
          <a:lstStyle/>
          <a:p>
            <a:pPr algn="ctr" indent="0" marL="0">
              <a:buNone/>
            </a:pPr>
            <a:r>
              <a:rPr lang="en-US" sz="700" dirty="0">
                <a:solidFill>
                  <a:srgbClr val="999999"/>
                </a:solidFill>
              </a:rPr>
              <a:t>+Tool Outputs</a:t>
            </a:r>
            <a:endParaRPr lang="en-US" sz="700" dirty="0"/>
          </a:p>
        </p:txBody>
      </p:sp>
      <p:sp>
        <p:nvSpPr>
          <p:cNvPr id="18" name="Shape 16"/>
          <p:cNvSpPr/>
          <p:nvPr/>
        </p:nvSpPr>
        <p:spPr>
          <a:xfrm>
            <a:off x="6903720" y="987552"/>
            <a:ext cx="292608" cy="292608"/>
          </a:xfrm>
          <a:prstGeom prst="ellipse">
            <a:avLst/>
          </a:prstGeom>
          <a:solidFill>
            <a:srgbClr val="CCCCCC"/>
          </a:solidFill>
          <a:ln w="12700">
            <a:solidFill>
              <a:srgbClr val="AAAAAA"/>
            </a:solidFill>
            <a:prstDash val="solid"/>
          </a:ln>
        </p:spPr>
      </p:sp>
      <p:sp>
        <p:nvSpPr>
          <p:cNvPr id="19" name="Text 17"/>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0" name="Text 18"/>
          <p:cNvSpPr/>
          <p:nvPr/>
        </p:nvSpPr>
        <p:spPr>
          <a:xfrm>
            <a:off x="6400800" y="1325880"/>
            <a:ext cx="1298448" cy="228600"/>
          </a:xfrm>
          <a:prstGeom prst="rect">
            <a:avLst/>
          </a:prstGeom>
          <a:noFill/>
          <a:ln/>
        </p:spPr>
        <p:txBody>
          <a:bodyPr wrap="square" rtlCol="0" anchor="ctr"/>
          <a:lstStyle/>
          <a:p>
            <a:pPr algn="ctr" indent="0" marL="0">
              <a:buNone/>
            </a:pPr>
            <a:r>
              <a:rPr lang="en-US" sz="700" dirty="0">
                <a:solidFill>
                  <a:srgbClr val="999999"/>
                </a:solidFill>
              </a:rPr>
              <a:t>+History</a:t>
            </a:r>
            <a:endParaRPr lang="en-US" sz="700" dirty="0"/>
          </a:p>
        </p:txBody>
      </p:sp>
      <p:sp>
        <p:nvSpPr>
          <p:cNvPr id="21" name="Shape 19"/>
          <p:cNvSpPr/>
          <p:nvPr/>
        </p:nvSpPr>
        <p:spPr>
          <a:xfrm>
            <a:off x="8366760" y="987552"/>
            <a:ext cx="292608" cy="292608"/>
          </a:xfrm>
          <a:prstGeom prst="ellipse">
            <a:avLst/>
          </a:prstGeom>
          <a:solidFill>
            <a:srgbClr val="CCCCCC"/>
          </a:solidFill>
          <a:ln w="12700">
            <a:solidFill>
              <a:srgbClr val="AAAAAA"/>
            </a:solidFill>
            <a:prstDash val="solid"/>
          </a:ln>
        </p:spPr>
      </p:sp>
      <p:sp>
        <p:nvSpPr>
          <p:cNvPr id="22" name="Text 20"/>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863840" y="1325880"/>
            <a:ext cx="1298448" cy="228600"/>
          </a:xfrm>
          <a:prstGeom prst="rect">
            <a:avLst/>
          </a:prstGeom>
          <a:noFill/>
          <a:ln/>
        </p:spPr>
        <p:txBody>
          <a:bodyPr wrap="square" rtlCol="0" anchor="ctr"/>
          <a:lstStyle/>
          <a:p>
            <a:pPr algn="ctr" indent="0" marL="0">
              <a:buNone/>
            </a:pPr>
            <a:r>
              <a:rPr lang="en-US" sz="700" dirty="0">
                <a:solidFill>
                  <a:srgbClr val="999999"/>
                </a:solidFill>
              </a:rPr>
              <a:t>+Agent State</a:t>
            </a:r>
            <a:endParaRPr lang="en-US" sz="700" dirty="0"/>
          </a:p>
        </p:txBody>
      </p:sp>
      <p:sp>
        <p:nvSpPr>
          <p:cNvPr id="24" name="Shape 22"/>
          <p:cNvSpPr/>
          <p:nvPr/>
        </p:nvSpPr>
        <p:spPr>
          <a:xfrm>
            <a:off x="365760" y="1664208"/>
            <a:ext cx="8412480" cy="502920"/>
          </a:xfrm>
          <a:prstGeom prst="roundRect">
            <a:avLst>
              <a:gd name="adj" fmla="val 14545"/>
            </a:avLst>
          </a:prstGeom>
          <a:solidFill>
            <a:srgbClr val="F5E6E6"/>
          </a:solidFill>
          <a:ln w="12700">
            <a:solidFill>
              <a:srgbClr val="E8A0A0"/>
            </a:solidFill>
            <a:prstDash val="solid"/>
          </a:ln>
        </p:spPr>
      </p:sp>
      <p:pic>
        <p:nvPicPr>
          <p:cNvPr id="25" name="Image 0" descr="preencoded.png">    </p:cNvPr>
          <p:cNvPicPr>
            <a:picLocks noChangeAspect="1"/>
          </p:cNvPicPr>
          <p:nvPr/>
        </p:nvPicPr>
        <p:blipFill>
          <a:blip r:embed="rId1"/>
          <a:stretch>
            <a:fillRect/>
          </a:stretch>
        </p:blipFill>
        <p:spPr>
          <a:xfrm>
            <a:off x="411480" y="1709928"/>
            <a:ext cx="320040" cy="320040"/>
          </a:xfrm>
          <a:prstGeom prst="rect">
            <a:avLst/>
          </a:prstGeom>
        </p:spPr>
      </p:pic>
      <p:sp>
        <p:nvSpPr>
          <p:cNvPr id="26" name="Text 23"/>
          <p:cNvSpPr/>
          <p:nvPr/>
        </p:nvSpPr>
        <p:spPr>
          <a:xfrm>
            <a:off x="777240" y="1691640"/>
            <a:ext cx="7955280" cy="457200"/>
          </a:xfrm>
          <a:prstGeom prst="rect">
            <a:avLst/>
          </a:prstGeom>
          <a:noFill/>
          <a:ln/>
        </p:spPr>
        <p:txBody>
          <a:bodyPr wrap="square" rtlCol="0" anchor="ctr"/>
          <a:lstStyle/>
          <a:p>
            <a:pPr indent="0" marL="0">
              <a:buNone/>
            </a:pPr>
            <a:r>
              <a:rPr lang="en-US" sz="1100" b="1" dirty="0">
                <a:solidFill>
                  <a:srgbClr val="CC0000"/>
                </a:solidFill>
              </a:rPr>
              <a:t>Employee  </a:t>
            </a:r>
            <a:pPr indent="0" marL="0">
              <a:buNone/>
            </a:pPr>
            <a:r>
              <a:rPr lang="en-US" sz="1100" dirty="0">
                <a:solidFill>
                  <a:srgbClr val="1A1A1A"/>
                </a:solidFill>
              </a:rPr>
              <a:t>"Can I take leave next week?"</a:t>
            </a:r>
            <a:endParaRPr lang="en-US" sz="1100" dirty="0"/>
          </a:p>
        </p:txBody>
      </p:sp>
      <p:sp>
        <p:nvSpPr>
          <p:cNvPr id="27" name="Shape 24"/>
          <p:cNvSpPr/>
          <p:nvPr/>
        </p:nvSpPr>
        <p:spPr>
          <a:xfrm>
            <a:off x="365760" y="2286000"/>
            <a:ext cx="8412480" cy="960120"/>
          </a:xfrm>
          <a:prstGeom prst="roundRect">
            <a:avLst>
              <a:gd name="adj" fmla="val 7619"/>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8" name="Shape 25"/>
          <p:cNvSpPr/>
          <p:nvPr/>
        </p:nvSpPr>
        <p:spPr>
          <a:xfrm>
            <a:off x="411480" y="2359152"/>
            <a:ext cx="320040" cy="320040"/>
          </a:xfrm>
          <a:prstGeom prst="ellipse">
            <a:avLst/>
          </a:prstGeom>
          <a:solidFill>
            <a:srgbClr val="CC0000"/>
          </a:solidFill>
          <a:ln w="12700">
            <a:solidFill>
              <a:srgbClr val="CC0000"/>
            </a:solidFill>
            <a:prstDash val="solid"/>
          </a:ln>
        </p:spPr>
      </p:sp>
      <p:sp>
        <p:nvSpPr>
          <p:cNvPr id="29" name="Text 26"/>
          <p:cNvSpPr/>
          <p:nvPr/>
        </p:nvSpPr>
        <p:spPr>
          <a:xfrm>
            <a:off x="411480" y="23591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30" name="Text 27"/>
          <p:cNvSpPr/>
          <p:nvPr/>
        </p:nvSpPr>
        <p:spPr>
          <a:xfrm>
            <a:off x="768096" y="2350008"/>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31" name="Text 28"/>
          <p:cNvSpPr/>
          <p:nvPr/>
        </p:nvSpPr>
        <p:spPr>
          <a:xfrm>
            <a:off x="768096" y="2542032"/>
            <a:ext cx="7132320" cy="594360"/>
          </a:xfrm>
          <a:prstGeom prst="rect">
            <a:avLst/>
          </a:prstGeom>
          <a:noFill/>
          <a:ln/>
        </p:spPr>
        <p:txBody>
          <a:bodyPr wrap="square" rtlCol="0" anchor="t"/>
          <a:lstStyle/>
          <a:p>
            <a:pPr indent="0" marL="0">
              <a:buNone/>
            </a:pPr>
            <a:r>
              <a:rPr lang="en-US" sz="1100" dirty="0">
                <a:solidFill>
                  <a:srgbClr val="1A1A1A"/>
                </a:solidFill>
              </a:rPr>
              <a:t>Based on ABC Corp's leave policy, full-time employees receive 21 days of annual leave and should submit non-emergency leave at least 3 business days in advance.</a:t>
            </a:r>
            <a:endParaRPr lang="en-US" sz="1100" dirty="0"/>
          </a:p>
          <a:p>
            <a:pPr indent="0" marL="0">
              <a:buNone/>
            </a:pPr>
            <a:endParaRPr lang="en-US" sz="1100" dirty="0"/>
          </a:p>
          <a:p>
            <a:pPr indent="0" marL="0">
              <a:buNone/>
            </a:pPr>
            <a:r>
              <a:rPr lang="en-US" sz="1100" dirty="0">
                <a:solidFill>
                  <a:srgbClr val="1A1A1A"/>
                </a:solidFill>
              </a:rPr>
              <a:t>However, I still need to check your leave balance and your team's availability before confirming your request.</a:t>
            </a:r>
            <a:endParaRPr lang="en-US" sz="1100" dirty="0"/>
          </a:p>
        </p:txBody>
      </p:sp>
      <p:pic>
        <p:nvPicPr>
          <p:cNvPr id="32" name="Image 1" descr="preencoded.png">    </p:cNvPr>
          <p:cNvPicPr>
            <a:picLocks noChangeAspect="1"/>
          </p:cNvPicPr>
          <p:nvPr/>
        </p:nvPicPr>
        <p:blipFill>
          <a:blip r:embed="rId2"/>
          <a:stretch>
            <a:fillRect/>
          </a:stretch>
        </p:blipFill>
        <p:spPr>
          <a:xfrm>
            <a:off x="7863840" y="2304288"/>
            <a:ext cx="594360" cy="594360"/>
          </a:xfrm>
          <a:prstGeom prst="rect">
            <a:avLst/>
          </a:prstGeom>
        </p:spPr>
      </p:pic>
      <p:sp>
        <p:nvSpPr>
          <p:cNvPr id="33" name="Shape 29"/>
          <p:cNvSpPr/>
          <p:nvPr/>
        </p:nvSpPr>
        <p:spPr>
          <a:xfrm>
            <a:off x="365760" y="3355848"/>
            <a:ext cx="4114800" cy="1325880"/>
          </a:xfrm>
          <a:prstGeom prst="roundRect">
            <a:avLst>
              <a:gd name="adj" fmla="val 5517"/>
            </a:avLst>
          </a:prstGeom>
          <a:solidFill>
            <a:srgbClr val="F0FAF0"/>
          </a:solidFill>
          <a:ln w="12700">
            <a:solidFill>
              <a:srgbClr val="A5D6A7"/>
            </a:solidFill>
            <a:prstDash val="solid"/>
          </a:ln>
        </p:spPr>
      </p:sp>
      <p:pic>
        <p:nvPicPr>
          <p:cNvPr id="34" name="Image 2" descr="preencoded.png">    </p:cNvPr>
          <p:cNvPicPr>
            <a:picLocks noChangeAspect="1"/>
          </p:cNvPicPr>
          <p:nvPr/>
        </p:nvPicPr>
        <p:blipFill>
          <a:blip r:embed="rId3"/>
          <a:stretch>
            <a:fillRect/>
          </a:stretch>
        </p:blipFill>
        <p:spPr>
          <a:xfrm>
            <a:off x="457200" y="3447288"/>
            <a:ext cx="274320" cy="274320"/>
          </a:xfrm>
          <a:prstGeom prst="rect">
            <a:avLst/>
          </a:prstGeom>
        </p:spPr>
      </p:pic>
      <p:sp>
        <p:nvSpPr>
          <p:cNvPr id="35" name="Text 30"/>
          <p:cNvSpPr/>
          <p:nvPr/>
        </p:nvSpPr>
        <p:spPr>
          <a:xfrm>
            <a:off x="777240" y="3447288"/>
            <a:ext cx="3474720" cy="256032"/>
          </a:xfrm>
          <a:prstGeom prst="rect">
            <a:avLst/>
          </a:prstGeom>
          <a:noFill/>
          <a:ln/>
        </p:spPr>
        <p:txBody>
          <a:bodyPr wrap="square" rtlCol="0" anchor="ctr"/>
          <a:lstStyle/>
          <a:p>
            <a:pPr indent="0" marL="0">
              <a:buNone/>
            </a:pPr>
            <a:r>
              <a:rPr lang="en-US" sz="1100" b="1" dirty="0">
                <a:solidFill>
                  <a:srgbClr val="2E7D32"/>
                </a:solidFill>
              </a:rPr>
              <a:t>What Changed?</a:t>
            </a:r>
            <a:endParaRPr lang="en-US" sz="1100" dirty="0"/>
          </a:p>
        </p:txBody>
      </p:sp>
      <p:sp>
        <p:nvSpPr>
          <p:cNvPr id="36" name="Shape 31"/>
          <p:cNvSpPr/>
          <p:nvPr/>
        </p:nvSpPr>
        <p:spPr>
          <a:xfrm>
            <a:off x="457200" y="3749040"/>
            <a:ext cx="3840480" cy="0"/>
          </a:xfrm>
          <a:prstGeom prst="line">
            <a:avLst/>
          </a:prstGeom>
          <a:noFill/>
          <a:ln w="12700">
            <a:solidFill>
              <a:srgbClr val="A5D6A7"/>
            </a:solidFill>
            <a:prstDash val="solid"/>
          </a:ln>
        </p:spPr>
      </p:sp>
      <p:sp>
        <p:nvSpPr>
          <p:cNvPr id="37" name="Text 32"/>
          <p:cNvSpPr/>
          <p:nvPr/>
        </p:nvSpPr>
        <p:spPr>
          <a:xfrm>
            <a:off x="457200" y="3813048"/>
            <a:ext cx="3840480" cy="777240"/>
          </a:xfrm>
          <a:prstGeom prst="rect">
            <a:avLst/>
          </a:prstGeom>
          <a:noFill/>
          <a:ln/>
        </p:spPr>
        <p:txBody>
          <a:bodyPr wrap="square" rtlCol="0" anchor="t"/>
          <a:lstStyle/>
          <a:p>
            <a:pPr indent="0" marL="0">
              <a:buNone/>
            </a:pPr>
            <a:r>
              <a:rPr lang="en-US" sz="1000" dirty="0">
                <a:solidFill>
                  <a:srgbClr val="444444"/>
                </a:solidFill>
              </a:rPr>
              <a:t>RAG connects Iwa to ABC Corp's real policy documents via a vector database. It now cites the leave policy clause instead of generic or hallucinated advice — critical for HR/compliance trust.</a:t>
            </a:r>
            <a:endParaRPr lang="en-US" sz="1000" dirty="0"/>
          </a:p>
        </p:txBody>
      </p:sp>
      <p:sp>
        <p:nvSpPr>
          <p:cNvPr id="38" name="Shape 33"/>
          <p:cNvSpPr/>
          <p:nvPr/>
        </p:nvSpPr>
        <p:spPr>
          <a:xfrm>
            <a:off x="4663440" y="3355848"/>
            <a:ext cx="4114800" cy="1325880"/>
          </a:xfrm>
          <a:prstGeom prst="roundRect">
            <a:avLst>
              <a:gd name="adj" fmla="val 5517"/>
            </a:avLst>
          </a:prstGeom>
          <a:solidFill>
            <a:srgbClr val="FFF8E1"/>
          </a:solidFill>
          <a:ln w="12700">
            <a:solidFill>
              <a:srgbClr val="FFCC80"/>
            </a:solidFill>
            <a:prstDash val="solid"/>
          </a:ln>
        </p:spPr>
      </p:sp>
      <p:pic>
        <p:nvPicPr>
          <p:cNvPr id="39" name="Image 3" descr="preencoded.png">    </p:cNvPr>
          <p:cNvPicPr>
            <a:picLocks noChangeAspect="1"/>
          </p:cNvPicPr>
          <p:nvPr/>
        </p:nvPicPr>
        <p:blipFill>
          <a:blip r:embed="rId4"/>
          <a:stretch>
            <a:fillRect/>
          </a:stretch>
        </p:blipFill>
        <p:spPr>
          <a:xfrm>
            <a:off x="4754880" y="3447288"/>
            <a:ext cx="274320" cy="274320"/>
          </a:xfrm>
          <a:prstGeom prst="rect">
            <a:avLst/>
          </a:prstGeom>
        </p:spPr>
      </p:pic>
      <p:sp>
        <p:nvSpPr>
          <p:cNvPr id="40" name="Text 34"/>
          <p:cNvSpPr/>
          <p:nvPr/>
        </p:nvSpPr>
        <p:spPr>
          <a:xfrm>
            <a:off x="5074920" y="3447288"/>
            <a:ext cx="3474720" cy="256032"/>
          </a:xfrm>
          <a:prstGeom prst="rect">
            <a:avLst/>
          </a:prstGeom>
          <a:noFill/>
          <a:ln/>
        </p:spPr>
        <p:txBody>
          <a:bodyPr wrap="square" rtlCol="0" anchor="ctr"/>
          <a:lstStyle/>
          <a:p>
            <a:pPr indent="0" marL="0">
              <a:buNone/>
            </a:pPr>
            <a:r>
              <a:rPr lang="en-US" sz="1100" b="1" dirty="0">
                <a:solidFill>
                  <a:srgbClr val="E65100"/>
                </a:solidFill>
              </a:rPr>
              <a:t>Still Missing</a:t>
            </a:r>
            <a:endParaRPr lang="en-US" sz="1100" dirty="0"/>
          </a:p>
        </p:txBody>
      </p:sp>
      <p:sp>
        <p:nvSpPr>
          <p:cNvPr id="41" name="Shape 35"/>
          <p:cNvSpPr/>
          <p:nvPr/>
        </p:nvSpPr>
        <p:spPr>
          <a:xfrm>
            <a:off x="4754880" y="3749040"/>
            <a:ext cx="3840480" cy="0"/>
          </a:xfrm>
          <a:prstGeom prst="line">
            <a:avLst/>
          </a:prstGeom>
          <a:noFill/>
          <a:ln w="12700">
            <a:solidFill>
              <a:srgbClr val="FFCC80"/>
            </a:solidFill>
            <a:prstDash val="solid"/>
          </a:ln>
        </p:spPr>
      </p:sp>
      <p:sp>
        <p:nvSpPr>
          <p:cNvPr id="42" name="Text 36"/>
          <p:cNvSpPr/>
          <p:nvPr/>
        </p:nvSpPr>
        <p:spPr>
          <a:xfrm>
            <a:off x="4754880" y="3813048"/>
            <a:ext cx="3840480" cy="777240"/>
          </a:xfrm>
          <a:prstGeom prst="rect">
            <a:avLst/>
          </a:prstGeom>
          <a:noFill/>
          <a:ln/>
        </p:spPr>
        <p:txBody>
          <a:bodyPr wrap="square" rtlCol="0" anchor="t"/>
          <a:lstStyle/>
          <a:p>
            <a:pPr indent="0" marL="0">
              <a:buNone/>
            </a:pPr>
            <a:r>
              <a:rPr lang="en-US" sz="1000" dirty="0">
                <a:solidFill>
                  <a:srgbClr val="444444"/>
                </a:solidFill>
              </a:rPr>
              <a:t>This is generic policy knowledge — true for every employee. It still doesn't know the employee's leave balance, manager approvals, or team availability.</a:t>
            </a:r>
            <a:endParaRPr lang="en-US" sz="1000" dirty="0"/>
          </a:p>
        </p:txBody>
      </p:sp>
      <p:sp>
        <p:nvSpPr>
          <p:cNvPr id="43" name="Text 37"/>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3  ·  TOOL OUTPUTS</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Giving Iwa Real-Time Eyes</a:t>
            </a:r>
            <a:endParaRPr lang="en-US" sz="24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649224" y="1110996"/>
            <a:ext cx="4846320" cy="45720"/>
          </a:xfrm>
          <a:prstGeom prst="rect">
            <a:avLst/>
          </a:prstGeom>
          <a:solidFill>
            <a:srgbClr val="CC0000"/>
          </a:solidFill>
          <a:ln w="12700">
            <a:solidFill>
              <a:srgbClr val="CC0000"/>
            </a:solidFill>
            <a:prstDash val="solid"/>
          </a:ln>
        </p:spPr>
      </p:sp>
      <p:sp>
        <p:nvSpPr>
          <p:cNvPr id="6" name="Shape 4"/>
          <p:cNvSpPr/>
          <p:nvPr/>
        </p:nvSpPr>
        <p:spPr>
          <a:xfrm>
            <a:off x="502920" y="987552"/>
            <a:ext cx="292608" cy="292608"/>
          </a:xfrm>
          <a:prstGeom prst="ellipse">
            <a:avLst/>
          </a:prstGeom>
          <a:solidFill>
            <a:srgbClr val="990000"/>
          </a:solidFill>
          <a:ln w="12700">
            <a:solidFill>
              <a:srgbClr val="990000"/>
            </a:solidFill>
            <a:prstDash val="solid"/>
          </a:ln>
        </p:spPr>
      </p:sp>
      <p:sp>
        <p:nvSpPr>
          <p:cNvPr id="7" name="Text 5"/>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8" name="Text 6"/>
          <p:cNvSpPr/>
          <p:nvPr/>
        </p:nvSpPr>
        <p:spPr>
          <a:xfrm>
            <a:off x="0" y="1325880"/>
            <a:ext cx="1298448" cy="228600"/>
          </a:xfrm>
          <a:prstGeom prst="rect">
            <a:avLst/>
          </a:prstGeom>
          <a:noFill/>
          <a:ln/>
        </p:spPr>
        <p:txBody>
          <a:bodyPr wrap="square" rtlCol="0" anchor="ctr"/>
          <a:lstStyle/>
          <a:p>
            <a:pPr algn="ctr" indent="0" marL="0">
              <a:buNone/>
            </a:pPr>
            <a:r>
              <a:rPr lang="en-US" sz="700" dirty="0">
                <a:solidFill>
                  <a:srgbClr val="770000"/>
                </a:solidFill>
              </a:rPr>
              <a:t>Base LLM</a:t>
            </a:r>
            <a:endParaRPr lang="en-US" sz="700" dirty="0"/>
          </a:p>
        </p:txBody>
      </p:sp>
      <p:sp>
        <p:nvSpPr>
          <p:cNvPr id="9" name="Shape 7"/>
          <p:cNvSpPr/>
          <p:nvPr/>
        </p:nvSpPr>
        <p:spPr>
          <a:xfrm>
            <a:off x="2148840" y="987552"/>
            <a:ext cx="292608" cy="292608"/>
          </a:xfrm>
          <a:prstGeom prst="ellipse">
            <a:avLst/>
          </a:prstGeom>
          <a:solidFill>
            <a:srgbClr val="990000"/>
          </a:solidFill>
          <a:ln w="12700">
            <a:solidFill>
              <a:srgbClr val="990000"/>
            </a:solidFill>
            <a:prstDash val="solid"/>
          </a:ln>
        </p:spPr>
      </p:sp>
      <p:sp>
        <p:nvSpPr>
          <p:cNvPr id="10" name="Text 8"/>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Text 9"/>
          <p:cNvSpPr/>
          <p:nvPr/>
        </p:nvSpPr>
        <p:spPr>
          <a:xfrm>
            <a:off x="1645920" y="1325880"/>
            <a:ext cx="1298448" cy="228600"/>
          </a:xfrm>
          <a:prstGeom prst="rect">
            <a:avLst/>
          </a:prstGeom>
          <a:noFill/>
          <a:ln/>
        </p:spPr>
        <p:txBody>
          <a:bodyPr wrap="square" rtlCol="0" anchor="ctr"/>
          <a:lstStyle/>
          <a:p>
            <a:pPr algn="ctr" indent="0" marL="0">
              <a:buNone/>
            </a:pPr>
            <a:r>
              <a:rPr lang="en-US" sz="700" dirty="0">
                <a:solidFill>
                  <a:srgbClr val="770000"/>
                </a:solidFill>
              </a:rPr>
              <a:t>+Instructions</a:t>
            </a:r>
            <a:endParaRPr lang="en-US" sz="700" dirty="0"/>
          </a:p>
        </p:txBody>
      </p:sp>
      <p:sp>
        <p:nvSpPr>
          <p:cNvPr id="12" name="Shape 10"/>
          <p:cNvSpPr/>
          <p:nvPr/>
        </p:nvSpPr>
        <p:spPr>
          <a:xfrm>
            <a:off x="3749040" y="987552"/>
            <a:ext cx="292608" cy="292608"/>
          </a:xfrm>
          <a:prstGeom prst="ellipse">
            <a:avLst/>
          </a:prstGeom>
          <a:solidFill>
            <a:srgbClr val="990000"/>
          </a:solidFill>
          <a:ln w="12700">
            <a:solidFill>
              <a:srgbClr val="990000"/>
            </a:solidFill>
            <a:prstDash val="solid"/>
          </a:ln>
        </p:spPr>
      </p:sp>
      <p:sp>
        <p:nvSpPr>
          <p:cNvPr id="13" name="Text 11"/>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4" name="Text 12"/>
          <p:cNvSpPr/>
          <p:nvPr/>
        </p:nvSpPr>
        <p:spPr>
          <a:xfrm>
            <a:off x="3246120" y="1325880"/>
            <a:ext cx="1298448" cy="228600"/>
          </a:xfrm>
          <a:prstGeom prst="rect">
            <a:avLst/>
          </a:prstGeom>
          <a:noFill/>
          <a:ln/>
        </p:spPr>
        <p:txBody>
          <a:bodyPr wrap="square" rtlCol="0" anchor="ctr"/>
          <a:lstStyle/>
          <a:p>
            <a:pPr algn="ctr" indent="0" marL="0">
              <a:buNone/>
            </a:pPr>
            <a:r>
              <a:rPr lang="en-US" sz="700" dirty="0">
                <a:solidFill>
                  <a:srgbClr val="770000"/>
                </a:solidFill>
              </a:rPr>
              <a:t>+RAG</a:t>
            </a:r>
            <a:endParaRPr lang="en-US" sz="700" dirty="0"/>
          </a:p>
        </p:txBody>
      </p:sp>
      <p:sp>
        <p:nvSpPr>
          <p:cNvPr id="15" name="Shape 13"/>
          <p:cNvSpPr/>
          <p:nvPr/>
        </p:nvSpPr>
        <p:spPr>
          <a:xfrm>
            <a:off x="5349240" y="987552"/>
            <a:ext cx="292608" cy="292608"/>
          </a:xfrm>
          <a:prstGeom prst="ellipse">
            <a:avLst/>
          </a:prstGeom>
          <a:solidFill>
            <a:srgbClr val="CC0000"/>
          </a:solidFill>
          <a:ln w="25400">
            <a:solidFill>
              <a:srgbClr val="FFCD41"/>
            </a:solidFill>
            <a:prstDash val="solid"/>
          </a:ln>
        </p:spPr>
      </p:sp>
      <p:sp>
        <p:nvSpPr>
          <p:cNvPr id="16" name="Text 14"/>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4846320" y="1325880"/>
            <a:ext cx="1298448" cy="228600"/>
          </a:xfrm>
          <a:prstGeom prst="rect">
            <a:avLst/>
          </a:prstGeom>
          <a:noFill/>
          <a:ln/>
        </p:spPr>
        <p:txBody>
          <a:bodyPr wrap="square" rtlCol="0" anchor="ctr"/>
          <a:lstStyle/>
          <a:p>
            <a:pPr algn="ctr" indent="0" marL="0">
              <a:buNone/>
            </a:pPr>
            <a:r>
              <a:rPr lang="en-US" sz="700" b="1" dirty="0">
                <a:solidFill>
                  <a:srgbClr val="CC0000"/>
                </a:solidFill>
              </a:rPr>
              <a:t>+Tool Outputs</a:t>
            </a:r>
            <a:endParaRPr lang="en-US" sz="700" dirty="0"/>
          </a:p>
        </p:txBody>
      </p:sp>
      <p:sp>
        <p:nvSpPr>
          <p:cNvPr id="18" name="Shape 16"/>
          <p:cNvSpPr/>
          <p:nvPr/>
        </p:nvSpPr>
        <p:spPr>
          <a:xfrm>
            <a:off x="6903720" y="987552"/>
            <a:ext cx="292608" cy="292608"/>
          </a:xfrm>
          <a:prstGeom prst="ellipse">
            <a:avLst/>
          </a:prstGeom>
          <a:solidFill>
            <a:srgbClr val="CCCCCC"/>
          </a:solidFill>
          <a:ln w="12700">
            <a:solidFill>
              <a:srgbClr val="AAAAAA"/>
            </a:solidFill>
            <a:prstDash val="solid"/>
          </a:ln>
        </p:spPr>
      </p:sp>
      <p:sp>
        <p:nvSpPr>
          <p:cNvPr id="19" name="Text 17"/>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0" name="Text 18"/>
          <p:cNvSpPr/>
          <p:nvPr/>
        </p:nvSpPr>
        <p:spPr>
          <a:xfrm>
            <a:off x="6400800" y="1325880"/>
            <a:ext cx="1298448" cy="228600"/>
          </a:xfrm>
          <a:prstGeom prst="rect">
            <a:avLst/>
          </a:prstGeom>
          <a:noFill/>
          <a:ln/>
        </p:spPr>
        <p:txBody>
          <a:bodyPr wrap="square" rtlCol="0" anchor="ctr"/>
          <a:lstStyle/>
          <a:p>
            <a:pPr algn="ctr" indent="0" marL="0">
              <a:buNone/>
            </a:pPr>
            <a:r>
              <a:rPr lang="en-US" sz="700" dirty="0">
                <a:solidFill>
                  <a:srgbClr val="999999"/>
                </a:solidFill>
              </a:rPr>
              <a:t>+History</a:t>
            </a:r>
            <a:endParaRPr lang="en-US" sz="700" dirty="0"/>
          </a:p>
        </p:txBody>
      </p:sp>
      <p:sp>
        <p:nvSpPr>
          <p:cNvPr id="21" name="Shape 19"/>
          <p:cNvSpPr/>
          <p:nvPr/>
        </p:nvSpPr>
        <p:spPr>
          <a:xfrm>
            <a:off x="8366760" y="987552"/>
            <a:ext cx="292608" cy="292608"/>
          </a:xfrm>
          <a:prstGeom prst="ellipse">
            <a:avLst/>
          </a:prstGeom>
          <a:solidFill>
            <a:srgbClr val="CCCCCC"/>
          </a:solidFill>
          <a:ln w="12700">
            <a:solidFill>
              <a:srgbClr val="AAAAAA"/>
            </a:solidFill>
            <a:prstDash val="solid"/>
          </a:ln>
        </p:spPr>
      </p:sp>
      <p:sp>
        <p:nvSpPr>
          <p:cNvPr id="22" name="Text 20"/>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863840" y="1325880"/>
            <a:ext cx="1298448" cy="228600"/>
          </a:xfrm>
          <a:prstGeom prst="rect">
            <a:avLst/>
          </a:prstGeom>
          <a:noFill/>
          <a:ln/>
        </p:spPr>
        <p:txBody>
          <a:bodyPr wrap="square" rtlCol="0" anchor="ctr"/>
          <a:lstStyle/>
          <a:p>
            <a:pPr algn="ctr" indent="0" marL="0">
              <a:buNone/>
            </a:pPr>
            <a:r>
              <a:rPr lang="en-US" sz="700" dirty="0">
                <a:solidFill>
                  <a:srgbClr val="999999"/>
                </a:solidFill>
              </a:rPr>
              <a:t>+Agent State</a:t>
            </a:r>
            <a:endParaRPr lang="en-US" sz="700" dirty="0"/>
          </a:p>
        </p:txBody>
      </p:sp>
      <p:sp>
        <p:nvSpPr>
          <p:cNvPr id="24" name="Shape 22"/>
          <p:cNvSpPr/>
          <p:nvPr/>
        </p:nvSpPr>
        <p:spPr>
          <a:xfrm>
            <a:off x="365760" y="1664208"/>
            <a:ext cx="8412480" cy="502920"/>
          </a:xfrm>
          <a:prstGeom prst="roundRect">
            <a:avLst>
              <a:gd name="adj" fmla="val 14545"/>
            </a:avLst>
          </a:prstGeom>
          <a:solidFill>
            <a:srgbClr val="F5E6E6"/>
          </a:solidFill>
          <a:ln w="12700">
            <a:solidFill>
              <a:srgbClr val="E8A0A0"/>
            </a:solidFill>
            <a:prstDash val="solid"/>
          </a:ln>
        </p:spPr>
      </p:sp>
      <p:pic>
        <p:nvPicPr>
          <p:cNvPr id="25" name="Image 0" descr="preencoded.png">    </p:cNvPr>
          <p:cNvPicPr>
            <a:picLocks noChangeAspect="1"/>
          </p:cNvPicPr>
          <p:nvPr/>
        </p:nvPicPr>
        <p:blipFill>
          <a:blip r:embed="rId1"/>
          <a:stretch>
            <a:fillRect/>
          </a:stretch>
        </p:blipFill>
        <p:spPr>
          <a:xfrm>
            <a:off x="411480" y="1709928"/>
            <a:ext cx="320040" cy="320040"/>
          </a:xfrm>
          <a:prstGeom prst="rect">
            <a:avLst/>
          </a:prstGeom>
        </p:spPr>
      </p:pic>
      <p:sp>
        <p:nvSpPr>
          <p:cNvPr id="26" name="Text 23"/>
          <p:cNvSpPr/>
          <p:nvPr/>
        </p:nvSpPr>
        <p:spPr>
          <a:xfrm>
            <a:off x="777240" y="1691640"/>
            <a:ext cx="7955280" cy="457200"/>
          </a:xfrm>
          <a:prstGeom prst="rect">
            <a:avLst/>
          </a:prstGeom>
          <a:noFill/>
          <a:ln/>
        </p:spPr>
        <p:txBody>
          <a:bodyPr wrap="square" rtlCol="0" anchor="ctr"/>
          <a:lstStyle/>
          <a:p>
            <a:pPr indent="0" marL="0">
              <a:buNone/>
            </a:pPr>
            <a:r>
              <a:rPr lang="en-US" sz="1100" b="1" dirty="0">
                <a:solidFill>
                  <a:srgbClr val="CC0000"/>
                </a:solidFill>
              </a:rPr>
              <a:t>Employee  </a:t>
            </a:r>
            <a:pPr indent="0" marL="0">
              <a:buNone/>
            </a:pPr>
            <a:r>
              <a:rPr lang="en-US" sz="1100" dirty="0">
                <a:solidFill>
                  <a:srgbClr val="1A1A1A"/>
                </a:solidFill>
              </a:rPr>
              <a:t>"Can I take leave next week?"</a:t>
            </a:r>
            <a:endParaRPr lang="en-US" sz="1100" dirty="0"/>
          </a:p>
        </p:txBody>
      </p:sp>
      <p:sp>
        <p:nvSpPr>
          <p:cNvPr id="27" name="Shape 24"/>
          <p:cNvSpPr/>
          <p:nvPr/>
        </p:nvSpPr>
        <p:spPr>
          <a:xfrm>
            <a:off x="365760" y="2286000"/>
            <a:ext cx="8412480" cy="914400"/>
          </a:xfrm>
          <a:prstGeom prst="roundRect">
            <a:avLst>
              <a:gd name="adj" fmla="val 8000"/>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8" name="Shape 25"/>
          <p:cNvSpPr/>
          <p:nvPr/>
        </p:nvSpPr>
        <p:spPr>
          <a:xfrm>
            <a:off x="411480" y="2359152"/>
            <a:ext cx="320040" cy="320040"/>
          </a:xfrm>
          <a:prstGeom prst="ellipse">
            <a:avLst/>
          </a:prstGeom>
          <a:solidFill>
            <a:srgbClr val="CC0000"/>
          </a:solidFill>
          <a:ln w="12700">
            <a:solidFill>
              <a:srgbClr val="CC0000"/>
            </a:solidFill>
            <a:prstDash val="solid"/>
          </a:ln>
        </p:spPr>
      </p:sp>
      <p:sp>
        <p:nvSpPr>
          <p:cNvPr id="29" name="Text 26"/>
          <p:cNvSpPr/>
          <p:nvPr/>
        </p:nvSpPr>
        <p:spPr>
          <a:xfrm>
            <a:off x="411480" y="23591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30" name="Text 27"/>
          <p:cNvSpPr/>
          <p:nvPr/>
        </p:nvSpPr>
        <p:spPr>
          <a:xfrm>
            <a:off x="768096" y="2350008"/>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31" name="Text 28"/>
          <p:cNvSpPr/>
          <p:nvPr/>
        </p:nvSpPr>
        <p:spPr>
          <a:xfrm>
            <a:off x="768096" y="2542032"/>
            <a:ext cx="7132320" cy="548640"/>
          </a:xfrm>
          <a:prstGeom prst="rect">
            <a:avLst/>
          </a:prstGeom>
          <a:noFill/>
          <a:ln/>
        </p:spPr>
        <p:txBody>
          <a:bodyPr wrap="square" rtlCol="0" anchor="t"/>
          <a:lstStyle/>
          <a:p>
            <a:pPr indent="0" marL="0">
              <a:buNone/>
            </a:pPr>
            <a:r>
              <a:rPr lang="en-US" sz="1100" dirty="0">
                <a:solidFill>
                  <a:srgbClr val="1A1A1A"/>
                </a:solidFill>
              </a:rPr>
              <a:t>I've checked your Workday profile. You currently have 8 days of annual leave available. Your manager Priya would need to approve. Would you want me to submit the leave request for Mar 12–13?</a:t>
            </a:r>
            <a:endParaRPr lang="en-US" sz="1100" dirty="0"/>
          </a:p>
        </p:txBody>
      </p:sp>
      <p:pic>
        <p:nvPicPr>
          <p:cNvPr id="32" name="Image 1" descr="preencoded.png">    </p:cNvPr>
          <p:cNvPicPr>
            <a:picLocks noChangeAspect="1"/>
          </p:cNvPicPr>
          <p:nvPr/>
        </p:nvPicPr>
        <p:blipFill>
          <a:blip r:embed="rId2"/>
          <a:stretch>
            <a:fillRect/>
          </a:stretch>
        </p:blipFill>
        <p:spPr>
          <a:xfrm>
            <a:off x="7863840" y="2304288"/>
            <a:ext cx="594360" cy="594360"/>
          </a:xfrm>
          <a:prstGeom prst="rect">
            <a:avLst/>
          </a:prstGeom>
        </p:spPr>
      </p:pic>
      <p:sp>
        <p:nvSpPr>
          <p:cNvPr id="33" name="Shape 29"/>
          <p:cNvSpPr/>
          <p:nvPr/>
        </p:nvSpPr>
        <p:spPr>
          <a:xfrm>
            <a:off x="365760" y="3310128"/>
            <a:ext cx="4114800" cy="1325880"/>
          </a:xfrm>
          <a:prstGeom prst="roundRect">
            <a:avLst>
              <a:gd name="adj" fmla="val 5517"/>
            </a:avLst>
          </a:prstGeom>
          <a:solidFill>
            <a:srgbClr val="F0FAF0"/>
          </a:solidFill>
          <a:ln w="12700">
            <a:solidFill>
              <a:srgbClr val="A5D6A7"/>
            </a:solidFill>
            <a:prstDash val="solid"/>
          </a:ln>
        </p:spPr>
      </p:sp>
      <p:pic>
        <p:nvPicPr>
          <p:cNvPr id="34" name="Image 2" descr="preencoded.png">    </p:cNvPr>
          <p:cNvPicPr>
            <a:picLocks noChangeAspect="1"/>
          </p:cNvPicPr>
          <p:nvPr/>
        </p:nvPicPr>
        <p:blipFill>
          <a:blip r:embed="rId3"/>
          <a:stretch>
            <a:fillRect/>
          </a:stretch>
        </p:blipFill>
        <p:spPr>
          <a:xfrm>
            <a:off x="457200" y="3401568"/>
            <a:ext cx="274320" cy="274320"/>
          </a:xfrm>
          <a:prstGeom prst="rect">
            <a:avLst/>
          </a:prstGeom>
        </p:spPr>
      </p:pic>
      <p:sp>
        <p:nvSpPr>
          <p:cNvPr id="35" name="Text 30"/>
          <p:cNvSpPr/>
          <p:nvPr/>
        </p:nvSpPr>
        <p:spPr>
          <a:xfrm>
            <a:off x="777240" y="3401568"/>
            <a:ext cx="3474720" cy="256032"/>
          </a:xfrm>
          <a:prstGeom prst="rect">
            <a:avLst/>
          </a:prstGeom>
          <a:noFill/>
          <a:ln/>
        </p:spPr>
        <p:txBody>
          <a:bodyPr wrap="square" rtlCol="0" anchor="ctr"/>
          <a:lstStyle/>
          <a:p>
            <a:pPr indent="0" marL="0">
              <a:buNone/>
            </a:pPr>
            <a:r>
              <a:rPr lang="en-US" sz="1100" b="1" dirty="0">
                <a:solidFill>
                  <a:srgbClr val="2E7D32"/>
                </a:solidFill>
              </a:rPr>
              <a:t>What Changed?</a:t>
            </a:r>
            <a:endParaRPr lang="en-US" sz="1100" dirty="0"/>
          </a:p>
        </p:txBody>
      </p:sp>
      <p:sp>
        <p:nvSpPr>
          <p:cNvPr id="36" name="Shape 31"/>
          <p:cNvSpPr/>
          <p:nvPr/>
        </p:nvSpPr>
        <p:spPr>
          <a:xfrm>
            <a:off x="457200" y="3703320"/>
            <a:ext cx="3840480" cy="0"/>
          </a:xfrm>
          <a:prstGeom prst="line">
            <a:avLst/>
          </a:prstGeom>
          <a:noFill/>
          <a:ln w="12700">
            <a:solidFill>
              <a:srgbClr val="A5D6A7"/>
            </a:solidFill>
            <a:prstDash val="solid"/>
          </a:ln>
        </p:spPr>
      </p:sp>
      <p:sp>
        <p:nvSpPr>
          <p:cNvPr id="37" name="Text 32"/>
          <p:cNvSpPr/>
          <p:nvPr/>
        </p:nvSpPr>
        <p:spPr>
          <a:xfrm>
            <a:off x="457200" y="3767328"/>
            <a:ext cx="3840480" cy="777240"/>
          </a:xfrm>
          <a:prstGeom prst="rect">
            <a:avLst/>
          </a:prstGeom>
          <a:noFill/>
          <a:ln/>
        </p:spPr>
        <p:txBody>
          <a:bodyPr wrap="square" rtlCol="0" anchor="t"/>
          <a:lstStyle/>
          <a:p>
            <a:pPr indent="0" marL="0">
              <a:buNone/>
            </a:pPr>
            <a:r>
              <a:rPr lang="en-US" sz="1000" dirty="0">
                <a:solidFill>
                  <a:srgbClr val="444444"/>
                </a:solidFill>
              </a:rPr>
              <a:t>Iwa is now connected to Workday and can retrieve live employee information and perform actions.</a:t>
            </a:r>
            <a:endParaRPr lang="en-US" sz="1000" dirty="0"/>
          </a:p>
        </p:txBody>
      </p:sp>
      <p:sp>
        <p:nvSpPr>
          <p:cNvPr id="38" name="Shape 33"/>
          <p:cNvSpPr/>
          <p:nvPr/>
        </p:nvSpPr>
        <p:spPr>
          <a:xfrm>
            <a:off x="4663440" y="3310128"/>
            <a:ext cx="4114800" cy="1325880"/>
          </a:xfrm>
          <a:prstGeom prst="roundRect">
            <a:avLst>
              <a:gd name="adj" fmla="val 5517"/>
            </a:avLst>
          </a:prstGeom>
          <a:solidFill>
            <a:srgbClr val="FFF8E1"/>
          </a:solidFill>
          <a:ln w="12700">
            <a:solidFill>
              <a:srgbClr val="FFCC80"/>
            </a:solidFill>
            <a:prstDash val="solid"/>
          </a:ln>
        </p:spPr>
      </p:sp>
      <p:pic>
        <p:nvPicPr>
          <p:cNvPr id="39" name="Image 3" descr="preencoded.png">    </p:cNvPr>
          <p:cNvPicPr>
            <a:picLocks noChangeAspect="1"/>
          </p:cNvPicPr>
          <p:nvPr/>
        </p:nvPicPr>
        <p:blipFill>
          <a:blip r:embed="rId4"/>
          <a:stretch>
            <a:fillRect/>
          </a:stretch>
        </p:blipFill>
        <p:spPr>
          <a:xfrm>
            <a:off x="4754880" y="3401568"/>
            <a:ext cx="274320" cy="274320"/>
          </a:xfrm>
          <a:prstGeom prst="rect">
            <a:avLst/>
          </a:prstGeom>
        </p:spPr>
      </p:pic>
      <p:sp>
        <p:nvSpPr>
          <p:cNvPr id="40" name="Text 34"/>
          <p:cNvSpPr/>
          <p:nvPr/>
        </p:nvSpPr>
        <p:spPr>
          <a:xfrm>
            <a:off x="5074920" y="3401568"/>
            <a:ext cx="3474720" cy="256032"/>
          </a:xfrm>
          <a:prstGeom prst="rect">
            <a:avLst/>
          </a:prstGeom>
          <a:noFill/>
          <a:ln/>
        </p:spPr>
        <p:txBody>
          <a:bodyPr wrap="square" rtlCol="0" anchor="ctr"/>
          <a:lstStyle/>
          <a:p>
            <a:pPr indent="0" marL="0">
              <a:buNone/>
            </a:pPr>
            <a:r>
              <a:rPr lang="en-US" sz="1100" b="1" dirty="0">
                <a:solidFill>
                  <a:srgbClr val="E65100"/>
                </a:solidFill>
              </a:rPr>
              <a:t>Still Missing</a:t>
            </a:r>
            <a:endParaRPr lang="en-US" sz="1100" dirty="0"/>
          </a:p>
        </p:txBody>
      </p:sp>
      <p:sp>
        <p:nvSpPr>
          <p:cNvPr id="41" name="Shape 35"/>
          <p:cNvSpPr/>
          <p:nvPr/>
        </p:nvSpPr>
        <p:spPr>
          <a:xfrm>
            <a:off x="4754880" y="3703320"/>
            <a:ext cx="3840480" cy="0"/>
          </a:xfrm>
          <a:prstGeom prst="line">
            <a:avLst/>
          </a:prstGeom>
          <a:noFill/>
          <a:ln w="12700">
            <a:solidFill>
              <a:srgbClr val="FFCC80"/>
            </a:solidFill>
            <a:prstDash val="solid"/>
          </a:ln>
        </p:spPr>
      </p:sp>
      <p:sp>
        <p:nvSpPr>
          <p:cNvPr id="42" name="Text 36"/>
          <p:cNvSpPr/>
          <p:nvPr/>
        </p:nvSpPr>
        <p:spPr>
          <a:xfrm>
            <a:off x="4754880" y="3767328"/>
            <a:ext cx="3840480" cy="777240"/>
          </a:xfrm>
          <a:prstGeom prst="rect">
            <a:avLst/>
          </a:prstGeom>
          <a:noFill/>
          <a:ln/>
        </p:spPr>
        <p:txBody>
          <a:bodyPr wrap="square" rtlCol="0" anchor="t"/>
          <a:lstStyle/>
          <a:p>
            <a:pPr indent="0" marL="0">
              <a:buNone/>
            </a:pPr>
            <a:r>
              <a:rPr lang="en-US" sz="1000" dirty="0">
                <a:solidFill>
                  <a:srgbClr val="444444"/>
                </a:solidFill>
              </a:rPr>
              <a:t>Iwa can access Workday and complete tasks, but every interaction is still independent. If the employee later says, "Can you apply one more day?" Iwa won't know which leave request. That's where conversational history comes in.</a:t>
            </a:r>
            <a:endParaRPr lang="en-US" sz="1000" dirty="0"/>
          </a:p>
        </p:txBody>
      </p:sp>
      <p:sp>
        <p:nvSpPr>
          <p:cNvPr id="43" name="Text 37"/>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4  ·  CONVERSATION HISTORY</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Giving Iwa a Memory</a:t>
            </a:r>
            <a:endParaRPr lang="en-US" sz="24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649224" y="1110996"/>
            <a:ext cx="6400800" cy="45720"/>
          </a:xfrm>
          <a:prstGeom prst="rect">
            <a:avLst/>
          </a:prstGeom>
          <a:solidFill>
            <a:srgbClr val="CC0000"/>
          </a:solidFill>
          <a:ln w="12700">
            <a:solidFill>
              <a:srgbClr val="CC0000"/>
            </a:solidFill>
            <a:prstDash val="solid"/>
          </a:ln>
        </p:spPr>
      </p:sp>
      <p:sp>
        <p:nvSpPr>
          <p:cNvPr id="6" name="Shape 4"/>
          <p:cNvSpPr/>
          <p:nvPr/>
        </p:nvSpPr>
        <p:spPr>
          <a:xfrm>
            <a:off x="502920" y="987552"/>
            <a:ext cx="292608" cy="292608"/>
          </a:xfrm>
          <a:prstGeom prst="ellipse">
            <a:avLst/>
          </a:prstGeom>
          <a:solidFill>
            <a:srgbClr val="990000"/>
          </a:solidFill>
          <a:ln w="12700">
            <a:solidFill>
              <a:srgbClr val="990000"/>
            </a:solidFill>
            <a:prstDash val="solid"/>
          </a:ln>
        </p:spPr>
      </p:sp>
      <p:sp>
        <p:nvSpPr>
          <p:cNvPr id="7" name="Text 5"/>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8" name="Text 6"/>
          <p:cNvSpPr/>
          <p:nvPr/>
        </p:nvSpPr>
        <p:spPr>
          <a:xfrm>
            <a:off x="0" y="1325880"/>
            <a:ext cx="1298448" cy="228600"/>
          </a:xfrm>
          <a:prstGeom prst="rect">
            <a:avLst/>
          </a:prstGeom>
          <a:noFill/>
          <a:ln/>
        </p:spPr>
        <p:txBody>
          <a:bodyPr wrap="square" rtlCol="0" anchor="ctr"/>
          <a:lstStyle/>
          <a:p>
            <a:pPr algn="ctr" indent="0" marL="0">
              <a:buNone/>
            </a:pPr>
            <a:r>
              <a:rPr lang="en-US" sz="700" dirty="0">
                <a:solidFill>
                  <a:srgbClr val="770000"/>
                </a:solidFill>
              </a:rPr>
              <a:t>Base LLM</a:t>
            </a:r>
            <a:endParaRPr lang="en-US" sz="700" dirty="0"/>
          </a:p>
        </p:txBody>
      </p:sp>
      <p:sp>
        <p:nvSpPr>
          <p:cNvPr id="9" name="Shape 7"/>
          <p:cNvSpPr/>
          <p:nvPr/>
        </p:nvSpPr>
        <p:spPr>
          <a:xfrm>
            <a:off x="2148840" y="987552"/>
            <a:ext cx="292608" cy="292608"/>
          </a:xfrm>
          <a:prstGeom prst="ellipse">
            <a:avLst/>
          </a:prstGeom>
          <a:solidFill>
            <a:srgbClr val="990000"/>
          </a:solidFill>
          <a:ln w="12700">
            <a:solidFill>
              <a:srgbClr val="990000"/>
            </a:solidFill>
            <a:prstDash val="solid"/>
          </a:ln>
        </p:spPr>
      </p:sp>
      <p:sp>
        <p:nvSpPr>
          <p:cNvPr id="10" name="Text 8"/>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Text 9"/>
          <p:cNvSpPr/>
          <p:nvPr/>
        </p:nvSpPr>
        <p:spPr>
          <a:xfrm>
            <a:off x="1645920" y="1325880"/>
            <a:ext cx="1298448" cy="228600"/>
          </a:xfrm>
          <a:prstGeom prst="rect">
            <a:avLst/>
          </a:prstGeom>
          <a:noFill/>
          <a:ln/>
        </p:spPr>
        <p:txBody>
          <a:bodyPr wrap="square" rtlCol="0" anchor="ctr"/>
          <a:lstStyle/>
          <a:p>
            <a:pPr algn="ctr" indent="0" marL="0">
              <a:buNone/>
            </a:pPr>
            <a:r>
              <a:rPr lang="en-US" sz="700" dirty="0">
                <a:solidFill>
                  <a:srgbClr val="770000"/>
                </a:solidFill>
              </a:rPr>
              <a:t>+Instructions</a:t>
            </a:r>
            <a:endParaRPr lang="en-US" sz="700" dirty="0"/>
          </a:p>
        </p:txBody>
      </p:sp>
      <p:sp>
        <p:nvSpPr>
          <p:cNvPr id="12" name="Shape 10"/>
          <p:cNvSpPr/>
          <p:nvPr/>
        </p:nvSpPr>
        <p:spPr>
          <a:xfrm>
            <a:off x="3749040" y="987552"/>
            <a:ext cx="292608" cy="292608"/>
          </a:xfrm>
          <a:prstGeom prst="ellipse">
            <a:avLst/>
          </a:prstGeom>
          <a:solidFill>
            <a:srgbClr val="990000"/>
          </a:solidFill>
          <a:ln w="12700">
            <a:solidFill>
              <a:srgbClr val="990000"/>
            </a:solidFill>
            <a:prstDash val="solid"/>
          </a:ln>
        </p:spPr>
      </p:sp>
      <p:sp>
        <p:nvSpPr>
          <p:cNvPr id="13" name="Text 11"/>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4" name="Text 12"/>
          <p:cNvSpPr/>
          <p:nvPr/>
        </p:nvSpPr>
        <p:spPr>
          <a:xfrm>
            <a:off x="3246120" y="1325880"/>
            <a:ext cx="1298448" cy="228600"/>
          </a:xfrm>
          <a:prstGeom prst="rect">
            <a:avLst/>
          </a:prstGeom>
          <a:noFill/>
          <a:ln/>
        </p:spPr>
        <p:txBody>
          <a:bodyPr wrap="square" rtlCol="0" anchor="ctr"/>
          <a:lstStyle/>
          <a:p>
            <a:pPr algn="ctr" indent="0" marL="0">
              <a:buNone/>
            </a:pPr>
            <a:r>
              <a:rPr lang="en-US" sz="700" dirty="0">
                <a:solidFill>
                  <a:srgbClr val="770000"/>
                </a:solidFill>
              </a:rPr>
              <a:t>+RAG</a:t>
            </a:r>
            <a:endParaRPr lang="en-US" sz="700" dirty="0"/>
          </a:p>
        </p:txBody>
      </p:sp>
      <p:sp>
        <p:nvSpPr>
          <p:cNvPr id="15" name="Shape 13"/>
          <p:cNvSpPr/>
          <p:nvPr/>
        </p:nvSpPr>
        <p:spPr>
          <a:xfrm>
            <a:off x="5349240" y="987552"/>
            <a:ext cx="292608" cy="292608"/>
          </a:xfrm>
          <a:prstGeom prst="ellipse">
            <a:avLst/>
          </a:prstGeom>
          <a:solidFill>
            <a:srgbClr val="990000"/>
          </a:solidFill>
          <a:ln w="12700">
            <a:solidFill>
              <a:srgbClr val="990000"/>
            </a:solidFill>
            <a:prstDash val="solid"/>
          </a:ln>
        </p:spPr>
      </p:sp>
      <p:sp>
        <p:nvSpPr>
          <p:cNvPr id="16" name="Text 14"/>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4846320" y="1325880"/>
            <a:ext cx="1298448" cy="228600"/>
          </a:xfrm>
          <a:prstGeom prst="rect">
            <a:avLst/>
          </a:prstGeom>
          <a:noFill/>
          <a:ln/>
        </p:spPr>
        <p:txBody>
          <a:bodyPr wrap="square" rtlCol="0" anchor="ctr"/>
          <a:lstStyle/>
          <a:p>
            <a:pPr algn="ctr" indent="0" marL="0">
              <a:buNone/>
            </a:pPr>
            <a:r>
              <a:rPr lang="en-US" sz="700" dirty="0">
                <a:solidFill>
                  <a:srgbClr val="770000"/>
                </a:solidFill>
              </a:rPr>
              <a:t>+Tool Outputs</a:t>
            </a:r>
            <a:endParaRPr lang="en-US" sz="700" dirty="0"/>
          </a:p>
        </p:txBody>
      </p:sp>
      <p:sp>
        <p:nvSpPr>
          <p:cNvPr id="18" name="Shape 16"/>
          <p:cNvSpPr/>
          <p:nvPr/>
        </p:nvSpPr>
        <p:spPr>
          <a:xfrm>
            <a:off x="6903720" y="987552"/>
            <a:ext cx="292608" cy="292608"/>
          </a:xfrm>
          <a:prstGeom prst="ellipse">
            <a:avLst/>
          </a:prstGeom>
          <a:solidFill>
            <a:srgbClr val="CC0000"/>
          </a:solidFill>
          <a:ln w="25400">
            <a:solidFill>
              <a:srgbClr val="FFCD41"/>
            </a:solidFill>
            <a:prstDash val="solid"/>
          </a:ln>
        </p:spPr>
      </p:sp>
      <p:sp>
        <p:nvSpPr>
          <p:cNvPr id="19" name="Text 17"/>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0" name="Text 18"/>
          <p:cNvSpPr/>
          <p:nvPr/>
        </p:nvSpPr>
        <p:spPr>
          <a:xfrm>
            <a:off x="6400800" y="1325880"/>
            <a:ext cx="1298448" cy="228600"/>
          </a:xfrm>
          <a:prstGeom prst="rect">
            <a:avLst/>
          </a:prstGeom>
          <a:noFill/>
          <a:ln/>
        </p:spPr>
        <p:txBody>
          <a:bodyPr wrap="square" rtlCol="0" anchor="ctr"/>
          <a:lstStyle/>
          <a:p>
            <a:pPr algn="ctr" indent="0" marL="0">
              <a:buNone/>
            </a:pPr>
            <a:r>
              <a:rPr lang="en-US" sz="700" b="1" dirty="0">
                <a:solidFill>
                  <a:srgbClr val="CC0000"/>
                </a:solidFill>
              </a:rPr>
              <a:t>+History</a:t>
            </a:r>
            <a:endParaRPr lang="en-US" sz="700" dirty="0"/>
          </a:p>
        </p:txBody>
      </p:sp>
      <p:sp>
        <p:nvSpPr>
          <p:cNvPr id="21" name="Shape 19"/>
          <p:cNvSpPr/>
          <p:nvPr/>
        </p:nvSpPr>
        <p:spPr>
          <a:xfrm>
            <a:off x="8366760" y="987552"/>
            <a:ext cx="292608" cy="292608"/>
          </a:xfrm>
          <a:prstGeom prst="ellipse">
            <a:avLst/>
          </a:prstGeom>
          <a:solidFill>
            <a:srgbClr val="CCCCCC"/>
          </a:solidFill>
          <a:ln w="12700">
            <a:solidFill>
              <a:srgbClr val="AAAAAA"/>
            </a:solidFill>
            <a:prstDash val="solid"/>
          </a:ln>
        </p:spPr>
      </p:sp>
      <p:sp>
        <p:nvSpPr>
          <p:cNvPr id="22" name="Text 20"/>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863840" y="1325880"/>
            <a:ext cx="1298448" cy="228600"/>
          </a:xfrm>
          <a:prstGeom prst="rect">
            <a:avLst/>
          </a:prstGeom>
          <a:noFill/>
          <a:ln/>
        </p:spPr>
        <p:txBody>
          <a:bodyPr wrap="square" rtlCol="0" anchor="ctr"/>
          <a:lstStyle/>
          <a:p>
            <a:pPr algn="ctr" indent="0" marL="0">
              <a:buNone/>
            </a:pPr>
            <a:r>
              <a:rPr lang="en-US" sz="700" dirty="0">
                <a:solidFill>
                  <a:srgbClr val="999999"/>
                </a:solidFill>
              </a:rPr>
              <a:t>+Agent State</a:t>
            </a:r>
            <a:endParaRPr lang="en-US" sz="700" dirty="0"/>
          </a:p>
        </p:txBody>
      </p:sp>
      <p:sp>
        <p:nvSpPr>
          <p:cNvPr id="24" name="Shape 22"/>
          <p:cNvSpPr/>
          <p:nvPr/>
        </p:nvSpPr>
        <p:spPr>
          <a:xfrm>
            <a:off x="365760" y="1691640"/>
            <a:ext cx="8412480" cy="502920"/>
          </a:xfrm>
          <a:prstGeom prst="roundRect">
            <a:avLst>
              <a:gd name="adj" fmla="val 14545"/>
            </a:avLst>
          </a:prstGeom>
          <a:solidFill>
            <a:srgbClr val="EEE8FF"/>
          </a:solidFill>
          <a:ln w="12700">
            <a:solidFill>
              <a:srgbClr val="C5B8FF"/>
            </a:solidFill>
            <a:prstDash val="solid"/>
          </a:ln>
        </p:spPr>
      </p:sp>
      <p:sp>
        <p:nvSpPr>
          <p:cNvPr id="25" name="Shape 23"/>
          <p:cNvSpPr/>
          <p:nvPr/>
        </p:nvSpPr>
        <p:spPr>
          <a:xfrm>
            <a:off x="411480" y="1737360"/>
            <a:ext cx="320040" cy="320040"/>
          </a:xfrm>
          <a:prstGeom prst="ellipse">
            <a:avLst/>
          </a:prstGeom>
          <a:solidFill>
            <a:srgbClr val="5E35B1"/>
          </a:solidFill>
          <a:ln w="12700">
            <a:solidFill>
              <a:srgbClr val="5E35B1"/>
            </a:solidFill>
            <a:prstDash val="solid"/>
          </a:ln>
        </p:spPr>
      </p:sp>
      <p:sp>
        <p:nvSpPr>
          <p:cNvPr id="26" name="Text 24"/>
          <p:cNvSpPr/>
          <p:nvPr/>
        </p:nvSpPr>
        <p:spPr>
          <a:xfrm>
            <a:off x="411480" y="173736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A</a:t>
            </a:r>
            <a:endParaRPr lang="en-US" sz="1200" dirty="0"/>
          </a:p>
        </p:txBody>
      </p:sp>
      <p:sp>
        <p:nvSpPr>
          <p:cNvPr id="27" name="Text 25"/>
          <p:cNvSpPr/>
          <p:nvPr/>
        </p:nvSpPr>
        <p:spPr>
          <a:xfrm>
            <a:off x="777240" y="1719072"/>
            <a:ext cx="7955280" cy="457200"/>
          </a:xfrm>
          <a:prstGeom prst="rect">
            <a:avLst/>
          </a:prstGeom>
          <a:noFill/>
          <a:ln/>
        </p:spPr>
        <p:txBody>
          <a:bodyPr wrap="square" rtlCol="0" anchor="ctr"/>
          <a:lstStyle/>
          <a:p>
            <a:pPr indent="0" marL="0">
              <a:buNone/>
            </a:pPr>
            <a:r>
              <a:rPr lang="en-US" sz="1100" b="1" dirty="0">
                <a:solidFill>
                  <a:srgbClr val="5E35B1"/>
                </a:solidFill>
              </a:rPr>
              <a:t>Arjun  </a:t>
            </a:r>
            <a:pPr indent="0" marL="0">
              <a:buNone/>
            </a:pPr>
            <a:r>
              <a:rPr lang="en-US" sz="1100" dirty="0">
                <a:solidFill>
                  <a:srgbClr val="1A1A1A"/>
                </a:solidFill>
              </a:rPr>
              <a:t>"Actually, can you make it 4 days instead?"</a:t>
            </a:r>
            <a:endParaRPr lang="en-US" sz="1100" dirty="0"/>
          </a:p>
        </p:txBody>
      </p:sp>
      <p:sp>
        <p:nvSpPr>
          <p:cNvPr id="28" name="Shape 26"/>
          <p:cNvSpPr/>
          <p:nvPr/>
        </p:nvSpPr>
        <p:spPr>
          <a:xfrm>
            <a:off x="365760" y="2286000"/>
            <a:ext cx="8412480" cy="914400"/>
          </a:xfrm>
          <a:prstGeom prst="roundRect">
            <a:avLst>
              <a:gd name="adj" fmla="val 8000"/>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9" name="Shape 27"/>
          <p:cNvSpPr/>
          <p:nvPr/>
        </p:nvSpPr>
        <p:spPr>
          <a:xfrm>
            <a:off x="411480" y="2359152"/>
            <a:ext cx="320040" cy="320040"/>
          </a:xfrm>
          <a:prstGeom prst="ellipse">
            <a:avLst/>
          </a:prstGeom>
          <a:solidFill>
            <a:srgbClr val="CC0000"/>
          </a:solidFill>
          <a:ln w="12700">
            <a:solidFill>
              <a:srgbClr val="CC0000"/>
            </a:solidFill>
            <a:prstDash val="solid"/>
          </a:ln>
        </p:spPr>
      </p:sp>
      <p:sp>
        <p:nvSpPr>
          <p:cNvPr id="30" name="Text 28"/>
          <p:cNvSpPr/>
          <p:nvPr/>
        </p:nvSpPr>
        <p:spPr>
          <a:xfrm>
            <a:off x="411480" y="23591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31" name="Text 29"/>
          <p:cNvSpPr/>
          <p:nvPr/>
        </p:nvSpPr>
        <p:spPr>
          <a:xfrm>
            <a:off x="768096" y="2350008"/>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32" name="Text 30"/>
          <p:cNvSpPr/>
          <p:nvPr/>
        </p:nvSpPr>
        <p:spPr>
          <a:xfrm>
            <a:off x="768096" y="2542032"/>
            <a:ext cx="7132320" cy="548640"/>
          </a:xfrm>
          <a:prstGeom prst="rect">
            <a:avLst/>
          </a:prstGeom>
          <a:noFill/>
          <a:ln/>
        </p:spPr>
        <p:txBody>
          <a:bodyPr wrap="square" rtlCol="0" anchor="t"/>
          <a:lstStyle/>
          <a:p>
            <a:pPr indent="0" marL="0">
              <a:buNone/>
            </a:pPr>
            <a:r>
              <a:rPr lang="en-US" sz="1100" dirty="0">
                <a:solidFill>
                  <a:srgbClr val="1A1A1A"/>
                </a:solidFill>
              </a:rPr>
              <a:t>Certainly! I've updated your leave request to 4 days (March 12–15). You will still have 4 annual days remaining after this request. Would you like me to submit it for manager's approval?</a:t>
            </a:r>
            <a:endParaRPr lang="en-US" sz="1100" dirty="0"/>
          </a:p>
        </p:txBody>
      </p:sp>
      <p:pic>
        <p:nvPicPr>
          <p:cNvPr id="33" name="Image 0" descr="preencoded.png">    </p:cNvPr>
          <p:cNvPicPr>
            <a:picLocks noChangeAspect="1"/>
          </p:cNvPicPr>
          <p:nvPr/>
        </p:nvPicPr>
        <p:blipFill>
          <a:blip r:embed="rId1"/>
          <a:stretch>
            <a:fillRect/>
          </a:stretch>
        </p:blipFill>
        <p:spPr>
          <a:xfrm>
            <a:off x="7863840" y="2304288"/>
            <a:ext cx="594360" cy="594360"/>
          </a:xfrm>
          <a:prstGeom prst="rect">
            <a:avLst/>
          </a:prstGeom>
        </p:spPr>
      </p:pic>
      <p:sp>
        <p:nvSpPr>
          <p:cNvPr id="34" name="Shape 31"/>
          <p:cNvSpPr/>
          <p:nvPr/>
        </p:nvSpPr>
        <p:spPr>
          <a:xfrm>
            <a:off x="365760" y="3310128"/>
            <a:ext cx="4114800" cy="1325880"/>
          </a:xfrm>
          <a:prstGeom prst="roundRect">
            <a:avLst>
              <a:gd name="adj" fmla="val 5517"/>
            </a:avLst>
          </a:prstGeom>
          <a:solidFill>
            <a:srgbClr val="F0FAF0"/>
          </a:solidFill>
          <a:ln w="12700">
            <a:solidFill>
              <a:srgbClr val="A5D6A7"/>
            </a:solidFill>
            <a:prstDash val="solid"/>
          </a:ln>
        </p:spPr>
      </p:sp>
      <p:pic>
        <p:nvPicPr>
          <p:cNvPr id="35" name="Image 1" descr="preencoded.png">    </p:cNvPr>
          <p:cNvPicPr>
            <a:picLocks noChangeAspect="1"/>
          </p:cNvPicPr>
          <p:nvPr/>
        </p:nvPicPr>
        <p:blipFill>
          <a:blip r:embed="rId2"/>
          <a:stretch>
            <a:fillRect/>
          </a:stretch>
        </p:blipFill>
        <p:spPr>
          <a:xfrm>
            <a:off x="457200" y="3401568"/>
            <a:ext cx="274320" cy="274320"/>
          </a:xfrm>
          <a:prstGeom prst="rect">
            <a:avLst/>
          </a:prstGeom>
        </p:spPr>
      </p:pic>
      <p:sp>
        <p:nvSpPr>
          <p:cNvPr id="36" name="Text 32"/>
          <p:cNvSpPr/>
          <p:nvPr/>
        </p:nvSpPr>
        <p:spPr>
          <a:xfrm>
            <a:off x="777240" y="3401568"/>
            <a:ext cx="3474720" cy="256032"/>
          </a:xfrm>
          <a:prstGeom prst="rect">
            <a:avLst/>
          </a:prstGeom>
          <a:noFill/>
          <a:ln/>
        </p:spPr>
        <p:txBody>
          <a:bodyPr wrap="square" rtlCol="0" anchor="ctr"/>
          <a:lstStyle/>
          <a:p>
            <a:pPr indent="0" marL="0">
              <a:buNone/>
            </a:pPr>
            <a:r>
              <a:rPr lang="en-US" sz="1100" b="1" dirty="0">
                <a:solidFill>
                  <a:srgbClr val="2E7D32"/>
                </a:solidFill>
              </a:rPr>
              <a:t>What Changed?</a:t>
            </a:r>
            <a:endParaRPr lang="en-US" sz="1100" dirty="0"/>
          </a:p>
        </p:txBody>
      </p:sp>
      <p:sp>
        <p:nvSpPr>
          <p:cNvPr id="37" name="Shape 33"/>
          <p:cNvSpPr/>
          <p:nvPr/>
        </p:nvSpPr>
        <p:spPr>
          <a:xfrm>
            <a:off x="457200" y="3703320"/>
            <a:ext cx="3840480" cy="0"/>
          </a:xfrm>
          <a:prstGeom prst="line">
            <a:avLst/>
          </a:prstGeom>
          <a:noFill/>
          <a:ln w="12700">
            <a:solidFill>
              <a:srgbClr val="A5D6A7"/>
            </a:solidFill>
            <a:prstDash val="solid"/>
          </a:ln>
        </p:spPr>
      </p:sp>
      <p:sp>
        <p:nvSpPr>
          <p:cNvPr id="38" name="Text 34"/>
          <p:cNvSpPr/>
          <p:nvPr/>
        </p:nvSpPr>
        <p:spPr>
          <a:xfrm>
            <a:off x="457200" y="3767328"/>
            <a:ext cx="3840480" cy="777240"/>
          </a:xfrm>
          <a:prstGeom prst="rect">
            <a:avLst/>
          </a:prstGeom>
          <a:noFill/>
          <a:ln/>
        </p:spPr>
        <p:txBody>
          <a:bodyPr wrap="square" rtlCol="0" anchor="t"/>
          <a:lstStyle/>
          <a:p>
            <a:pPr indent="0" marL="0">
              <a:buNone/>
            </a:pPr>
            <a:r>
              <a:rPr lang="en-US" sz="1000" dirty="0">
                <a:solidFill>
                  <a:srgbClr val="444444"/>
                </a:solidFill>
              </a:rPr>
              <a:t>Iwa retains the last few turns. Without history, this follow-up would get "4 days of what?" — a broken, form-filling experience. With history, it feels like talking to someone who's paying attention.</a:t>
            </a:r>
            <a:endParaRPr lang="en-US" sz="1000" dirty="0"/>
          </a:p>
        </p:txBody>
      </p:sp>
      <p:sp>
        <p:nvSpPr>
          <p:cNvPr id="39" name="Shape 35"/>
          <p:cNvSpPr/>
          <p:nvPr/>
        </p:nvSpPr>
        <p:spPr>
          <a:xfrm>
            <a:off x="4663440" y="3310128"/>
            <a:ext cx="4114800" cy="1325880"/>
          </a:xfrm>
          <a:prstGeom prst="roundRect">
            <a:avLst>
              <a:gd name="adj" fmla="val 5517"/>
            </a:avLst>
          </a:prstGeom>
          <a:solidFill>
            <a:srgbClr val="FFF8E1"/>
          </a:solidFill>
          <a:ln w="12700">
            <a:solidFill>
              <a:srgbClr val="FFCC80"/>
            </a:solidFill>
            <a:prstDash val="solid"/>
          </a:ln>
        </p:spPr>
      </p:sp>
      <p:pic>
        <p:nvPicPr>
          <p:cNvPr id="40" name="Image 2" descr="preencoded.png">    </p:cNvPr>
          <p:cNvPicPr>
            <a:picLocks noChangeAspect="1"/>
          </p:cNvPicPr>
          <p:nvPr/>
        </p:nvPicPr>
        <p:blipFill>
          <a:blip r:embed="rId3"/>
          <a:stretch>
            <a:fillRect/>
          </a:stretch>
        </p:blipFill>
        <p:spPr>
          <a:xfrm>
            <a:off x="4754880" y="3401568"/>
            <a:ext cx="274320" cy="274320"/>
          </a:xfrm>
          <a:prstGeom prst="rect">
            <a:avLst/>
          </a:prstGeom>
        </p:spPr>
      </p:pic>
      <p:sp>
        <p:nvSpPr>
          <p:cNvPr id="41" name="Text 36"/>
          <p:cNvSpPr/>
          <p:nvPr/>
        </p:nvSpPr>
        <p:spPr>
          <a:xfrm>
            <a:off x="5074920" y="3401568"/>
            <a:ext cx="3474720" cy="256032"/>
          </a:xfrm>
          <a:prstGeom prst="rect">
            <a:avLst/>
          </a:prstGeom>
          <a:noFill/>
          <a:ln/>
        </p:spPr>
        <p:txBody>
          <a:bodyPr wrap="square" rtlCol="0" anchor="ctr"/>
          <a:lstStyle/>
          <a:p>
            <a:pPr indent="0" marL="0">
              <a:buNone/>
            </a:pPr>
            <a:r>
              <a:rPr lang="en-US" sz="1100" b="1" dirty="0">
                <a:solidFill>
                  <a:srgbClr val="E65100"/>
                </a:solidFill>
              </a:rPr>
              <a:t>Still Missing</a:t>
            </a:r>
            <a:endParaRPr lang="en-US" sz="1100" dirty="0"/>
          </a:p>
        </p:txBody>
      </p:sp>
      <p:sp>
        <p:nvSpPr>
          <p:cNvPr id="42" name="Shape 37"/>
          <p:cNvSpPr/>
          <p:nvPr/>
        </p:nvSpPr>
        <p:spPr>
          <a:xfrm>
            <a:off x="4754880" y="3703320"/>
            <a:ext cx="3840480" cy="0"/>
          </a:xfrm>
          <a:prstGeom prst="line">
            <a:avLst/>
          </a:prstGeom>
          <a:noFill/>
          <a:ln w="12700">
            <a:solidFill>
              <a:srgbClr val="FFCC80"/>
            </a:solidFill>
            <a:prstDash val="solid"/>
          </a:ln>
        </p:spPr>
      </p:sp>
      <p:sp>
        <p:nvSpPr>
          <p:cNvPr id="43" name="Text 38"/>
          <p:cNvSpPr/>
          <p:nvPr/>
        </p:nvSpPr>
        <p:spPr>
          <a:xfrm>
            <a:off x="4754880" y="3767328"/>
            <a:ext cx="3840480" cy="777240"/>
          </a:xfrm>
          <a:prstGeom prst="rect">
            <a:avLst/>
          </a:prstGeom>
          <a:noFill/>
          <a:ln/>
        </p:spPr>
        <p:txBody>
          <a:bodyPr wrap="square" rtlCol="0" anchor="t"/>
          <a:lstStyle/>
          <a:p>
            <a:pPr indent="0" marL="0">
              <a:buNone/>
            </a:pPr>
            <a:r>
              <a:rPr lang="en-US" sz="1000" dirty="0">
                <a:solidFill>
                  <a:srgbClr val="444444"/>
                </a:solidFill>
              </a:rPr>
              <a:t>Submitting leave isn't one step — it's a process spanning days: manager approval, calendar update. What happens after employee closes this chat? That context is lost.</a:t>
            </a:r>
            <a:endParaRPr lang="en-US" sz="1000" dirty="0"/>
          </a:p>
        </p:txBody>
      </p:sp>
      <p:sp>
        <p:nvSpPr>
          <p:cNvPr id="44" name="Text 39"/>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300" kern="0" dirty="0">
                <a:solidFill>
                  <a:srgbClr val="CC0000"/>
                </a:solidFill>
              </a:rPr>
              <a:t>STAGE 5  ·  AGENT / WORKING STATE</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From Conversation to Workflow</a:t>
            </a:r>
            <a:endParaRPr lang="en-US" sz="2400" dirty="0"/>
          </a:p>
        </p:txBody>
      </p:sp>
      <p:sp>
        <p:nvSpPr>
          <p:cNvPr id="4" name="Shape 2"/>
          <p:cNvSpPr/>
          <p:nvPr/>
        </p:nvSpPr>
        <p:spPr>
          <a:xfrm>
            <a:off x="649224" y="1110996"/>
            <a:ext cx="7863840" cy="45720"/>
          </a:xfrm>
          <a:prstGeom prst="rect">
            <a:avLst/>
          </a:prstGeom>
          <a:solidFill>
            <a:srgbClr val="CCCCCC"/>
          </a:solidFill>
          <a:ln w="12700">
            <a:solidFill>
              <a:srgbClr val="CCCCCC"/>
            </a:solidFill>
            <a:prstDash val="solid"/>
          </a:ln>
        </p:spPr>
      </p:sp>
      <p:sp>
        <p:nvSpPr>
          <p:cNvPr id="5" name="Shape 3"/>
          <p:cNvSpPr/>
          <p:nvPr/>
        </p:nvSpPr>
        <p:spPr>
          <a:xfrm>
            <a:off x="649224" y="1110996"/>
            <a:ext cx="7863840" cy="45720"/>
          </a:xfrm>
          <a:prstGeom prst="rect">
            <a:avLst/>
          </a:prstGeom>
          <a:solidFill>
            <a:srgbClr val="CC0000"/>
          </a:solidFill>
          <a:ln w="12700">
            <a:solidFill>
              <a:srgbClr val="CC0000"/>
            </a:solidFill>
            <a:prstDash val="solid"/>
          </a:ln>
        </p:spPr>
      </p:sp>
      <p:sp>
        <p:nvSpPr>
          <p:cNvPr id="6" name="Shape 4"/>
          <p:cNvSpPr/>
          <p:nvPr/>
        </p:nvSpPr>
        <p:spPr>
          <a:xfrm>
            <a:off x="502920" y="987552"/>
            <a:ext cx="292608" cy="292608"/>
          </a:xfrm>
          <a:prstGeom prst="ellipse">
            <a:avLst/>
          </a:prstGeom>
          <a:solidFill>
            <a:srgbClr val="990000"/>
          </a:solidFill>
          <a:ln w="12700">
            <a:solidFill>
              <a:srgbClr val="990000"/>
            </a:solidFill>
            <a:prstDash val="solid"/>
          </a:ln>
        </p:spPr>
      </p:sp>
      <p:sp>
        <p:nvSpPr>
          <p:cNvPr id="7" name="Text 5"/>
          <p:cNvSpPr/>
          <p:nvPr/>
        </p:nvSpPr>
        <p:spPr>
          <a:xfrm>
            <a:off x="5029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8" name="Text 6"/>
          <p:cNvSpPr/>
          <p:nvPr/>
        </p:nvSpPr>
        <p:spPr>
          <a:xfrm>
            <a:off x="0" y="1325880"/>
            <a:ext cx="1298448" cy="228600"/>
          </a:xfrm>
          <a:prstGeom prst="rect">
            <a:avLst/>
          </a:prstGeom>
          <a:noFill/>
          <a:ln/>
        </p:spPr>
        <p:txBody>
          <a:bodyPr wrap="square" rtlCol="0" anchor="ctr"/>
          <a:lstStyle/>
          <a:p>
            <a:pPr algn="ctr" indent="0" marL="0">
              <a:buNone/>
            </a:pPr>
            <a:r>
              <a:rPr lang="en-US" sz="700" dirty="0">
                <a:solidFill>
                  <a:srgbClr val="770000"/>
                </a:solidFill>
              </a:rPr>
              <a:t>Base LLM</a:t>
            </a:r>
            <a:endParaRPr lang="en-US" sz="700" dirty="0"/>
          </a:p>
        </p:txBody>
      </p:sp>
      <p:sp>
        <p:nvSpPr>
          <p:cNvPr id="9" name="Shape 7"/>
          <p:cNvSpPr/>
          <p:nvPr/>
        </p:nvSpPr>
        <p:spPr>
          <a:xfrm>
            <a:off x="2148840" y="987552"/>
            <a:ext cx="292608" cy="292608"/>
          </a:xfrm>
          <a:prstGeom prst="ellipse">
            <a:avLst/>
          </a:prstGeom>
          <a:solidFill>
            <a:srgbClr val="990000"/>
          </a:solidFill>
          <a:ln w="12700">
            <a:solidFill>
              <a:srgbClr val="990000"/>
            </a:solidFill>
            <a:prstDash val="solid"/>
          </a:ln>
        </p:spPr>
      </p:sp>
      <p:sp>
        <p:nvSpPr>
          <p:cNvPr id="10" name="Text 8"/>
          <p:cNvSpPr/>
          <p:nvPr/>
        </p:nvSpPr>
        <p:spPr>
          <a:xfrm>
            <a:off x="21488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Text 9"/>
          <p:cNvSpPr/>
          <p:nvPr/>
        </p:nvSpPr>
        <p:spPr>
          <a:xfrm>
            <a:off x="1645920" y="1325880"/>
            <a:ext cx="1298448" cy="228600"/>
          </a:xfrm>
          <a:prstGeom prst="rect">
            <a:avLst/>
          </a:prstGeom>
          <a:noFill/>
          <a:ln/>
        </p:spPr>
        <p:txBody>
          <a:bodyPr wrap="square" rtlCol="0" anchor="ctr"/>
          <a:lstStyle/>
          <a:p>
            <a:pPr algn="ctr" indent="0" marL="0">
              <a:buNone/>
            </a:pPr>
            <a:r>
              <a:rPr lang="en-US" sz="700" dirty="0">
                <a:solidFill>
                  <a:srgbClr val="770000"/>
                </a:solidFill>
              </a:rPr>
              <a:t>+Instructions</a:t>
            </a:r>
            <a:endParaRPr lang="en-US" sz="700" dirty="0"/>
          </a:p>
        </p:txBody>
      </p:sp>
      <p:sp>
        <p:nvSpPr>
          <p:cNvPr id="12" name="Shape 10"/>
          <p:cNvSpPr/>
          <p:nvPr/>
        </p:nvSpPr>
        <p:spPr>
          <a:xfrm>
            <a:off x="3749040" y="987552"/>
            <a:ext cx="292608" cy="292608"/>
          </a:xfrm>
          <a:prstGeom prst="ellipse">
            <a:avLst/>
          </a:prstGeom>
          <a:solidFill>
            <a:srgbClr val="990000"/>
          </a:solidFill>
          <a:ln w="12700">
            <a:solidFill>
              <a:srgbClr val="990000"/>
            </a:solidFill>
            <a:prstDash val="solid"/>
          </a:ln>
        </p:spPr>
      </p:sp>
      <p:sp>
        <p:nvSpPr>
          <p:cNvPr id="13" name="Text 11"/>
          <p:cNvSpPr/>
          <p:nvPr/>
        </p:nvSpPr>
        <p:spPr>
          <a:xfrm>
            <a:off x="37490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4" name="Text 12"/>
          <p:cNvSpPr/>
          <p:nvPr/>
        </p:nvSpPr>
        <p:spPr>
          <a:xfrm>
            <a:off x="3246120" y="1325880"/>
            <a:ext cx="1298448" cy="228600"/>
          </a:xfrm>
          <a:prstGeom prst="rect">
            <a:avLst/>
          </a:prstGeom>
          <a:noFill/>
          <a:ln/>
        </p:spPr>
        <p:txBody>
          <a:bodyPr wrap="square" rtlCol="0" anchor="ctr"/>
          <a:lstStyle/>
          <a:p>
            <a:pPr algn="ctr" indent="0" marL="0">
              <a:buNone/>
            </a:pPr>
            <a:r>
              <a:rPr lang="en-US" sz="700" dirty="0">
                <a:solidFill>
                  <a:srgbClr val="770000"/>
                </a:solidFill>
              </a:rPr>
              <a:t>+RAG</a:t>
            </a:r>
            <a:endParaRPr lang="en-US" sz="700" dirty="0"/>
          </a:p>
        </p:txBody>
      </p:sp>
      <p:sp>
        <p:nvSpPr>
          <p:cNvPr id="15" name="Shape 13"/>
          <p:cNvSpPr/>
          <p:nvPr/>
        </p:nvSpPr>
        <p:spPr>
          <a:xfrm>
            <a:off x="5349240" y="987552"/>
            <a:ext cx="292608" cy="292608"/>
          </a:xfrm>
          <a:prstGeom prst="ellipse">
            <a:avLst/>
          </a:prstGeom>
          <a:solidFill>
            <a:srgbClr val="990000"/>
          </a:solidFill>
          <a:ln w="12700">
            <a:solidFill>
              <a:srgbClr val="990000"/>
            </a:solidFill>
            <a:prstDash val="solid"/>
          </a:ln>
        </p:spPr>
      </p:sp>
      <p:sp>
        <p:nvSpPr>
          <p:cNvPr id="16" name="Text 14"/>
          <p:cNvSpPr/>
          <p:nvPr/>
        </p:nvSpPr>
        <p:spPr>
          <a:xfrm>
            <a:off x="534924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4846320" y="1325880"/>
            <a:ext cx="1298448" cy="228600"/>
          </a:xfrm>
          <a:prstGeom prst="rect">
            <a:avLst/>
          </a:prstGeom>
          <a:noFill/>
          <a:ln/>
        </p:spPr>
        <p:txBody>
          <a:bodyPr wrap="square" rtlCol="0" anchor="ctr"/>
          <a:lstStyle/>
          <a:p>
            <a:pPr algn="ctr" indent="0" marL="0">
              <a:buNone/>
            </a:pPr>
            <a:r>
              <a:rPr lang="en-US" sz="700" dirty="0">
                <a:solidFill>
                  <a:srgbClr val="770000"/>
                </a:solidFill>
              </a:rPr>
              <a:t>+Tool Outputs</a:t>
            </a:r>
            <a:endParaRPr lang="en-US" sz="700" dirty="0"/>
          </a:p>
        </p:txBody>
      </p:sp>
      <p:sp>
        <p:nvSpPr>
          <p:cNvPr id="18" name="Shape 16"/>
          <p:cNvSpPr/>
          <p:nvPr/>
        </p:nvSpPr>
        <p:spPr>
          <a:xfrm>
            <a:off x="6903720" y="987552"/>
            <a:ext cx="292608" cy="292608"/>
          </a:xfrm>
          <a:prstGeom prst="ellipse">
            <a:avLst/>
          </a:prstGeom>
          <a:solidFill>
            <a:srgbClr val="990000"/>
          </a:solidFill>
          <a:ln w="12700">
            <a:solidFill>
              <a:srgbClr val="990000"/>
            </a:solidFill>
            <a:prstDash val="solid"/>
          </a:ln>
        </p:spPr>
      </p:sp>
      <p:sp>
        <p:nvSpPr>
          <p:cNvPr id="19" name="Text 17"/>
          <p:cNvSpPr/>
          <p:nvPr/>
        </p:nvSpPr>
        <p:spPr>
          <a:xfrm>
            <a:off x="690372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0" name="Text 18"/>
          <p:cNvSpPr/>
          <p:nvPr/>
        </p:nvSpPr>
        <p:spPr>
          <a:xfrm>
            <a:off x="6400800" y="1325880"/>
            <a:ext cx="1298448" cy="228600"/>
          </a:xfrm>
          <a:prstGeom prst="rect">
            <a:avLst/>
          </a:prstGeom>
          <a:noFill/>
          <a:ln/>
        </p:spPr>
        <p:txBody>
          <a:bodyPr wrap="square" rtlCol="0" anchor="ctr"/>
          <a:lstStyle/>
          <a:p>
            <a:pPr algn="ctr" indent="0" marL="0">
              <a:buNone/>
            </a:pPr>
            <a:r>
              <a:rPr lang="en-US" sz="700" dirty="0">
                <a:solidFill>
                  <a:srgbClr val="770000"/>
                </a:solidFill>
              </a:rPr>
              <a:t>+History</a:t>
            </a:r>
            <a:endParaRPr lang="en-US" sz="700" dirty="0"/>
          </a:p>
        </p:txBody>
      </p:sp>
      <p:sp>
        <p:nvSpPr>
          <p:cNvPr id="21" name="Shape 19"/>
          <p:cNvSpPr/>
          <p:nvPr/>
        </p:nvSpPr>
        <p:spPr>
          <a:xfrm>
            <a:off x="8366760" y="987552"/>
            <a:ext cx="292608" cy="292608"/>
          </a:xfrm>
          <a:prstGeom prst="ellipse">
            <a:avLst/>
          </a:prstGeom>
          <a:solidFill>
            <a:srgbClr val="CC0000"/>
          </a:solidFill>
          <a:ln w="25400">
            <a:solidFill>
              <a:srgbClr val="FFCD41"/>
            </a:solidFill>
            <a:prstDash val="solid"/>
          </a:ln>
        </p:spPr>
      </p:sp>
      <p:sp>
        <p:nvSpPr>
          <p:cNvPr id="22" name="Text 20"/>
          <p:cNvSpPr/>
          <p:nvPr/>
        </p:nvSpPr>
        <p:spPr>
          <a:xfrm>
            <a:off x="8366760" y="98755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863840" y="1325880"/>
            <a:ext cx="1298448" cy="228600"/>
          </a:xfrm>
          <a:prstGeom prst="rect">
            <a:avLst/>
          </a:prstGeom>
          <a:noFill/>
          <a:ln/>
        </p:spPr>
        <p:txBody>
          <a:bodyPr wrap="square" rtlCol="0" anchor="ctr"/>
          <a:lstStyle/>
          <a:p>
            <a:pPr algn="ctr" indent="0" marL="0">
              <a:buNone/>
            </a:pPr>
            <a:r>
              <a:rPr lang="en-US" sz="700" b="1" dirty="0">
                <a:solidFill>
                  <a:srgbClr val="CC0000"/>
                </a:solidFill>
              </a:rPr>
              <a:t>+Agent State</a:t>
            </a:r>
            <a:endParaRPr lang="en-US" sz="700" dirty="0"/>
          </a:p>
        </p:txBody>
      </p:sp>
      <p:sp>
        <p:nvSpPr>
          <p:cNvPr id="24" name="Shape 22"/>
          <p:cNvSpPr/>
          <p:nvPr/>
        </p:nvSpPr>
        <p:spPr>
          <a:xfrm>
            <a:off x="365760" y="1673352"/>
            <a:ext cx="8412480" cy="868680"/>
          </a:xfrm>
          <a:prstGeom prst="roundRect">
            <a:avLst>
              <a:gd name="adj" fmla="val 8421"/>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25" name="Shape 23"/>
          <p:cNvSpPr/>
          <p:nvPr/>
        </p:nvSpPr>
        <p:spPr>
          <a:xfrm>
            <a:off x="411480" y="1746504"/>
            <a:ext cx="320040" cy="320040"/>
          </a:xfrm>
          <a:prstGeom prst="ellipse">
            <a:avLst/>
          </a:prstGeom>
          <a:solidFill>
            <a:srgbClr val="CC0000"/>
          </a:solidFill>
          <a:ln w="12700">
            <a:solidFill>
              <a:srgbClr val="CC0000"/>
            </a:solidFill>
            <a:prstDash val="solid"/>
          </a:ln>
        </p:spPr>
      </p:sp>
      <p:sp>
        <p:nvSpPr>
          <p:cNvPr id="26" name="Text 24"/>
          <p:cNvSpPr/>
          <p:nvPr/>
        </p:nvSpPr>
        <p:spPr>
          <a:xfrm>
            <a:off x="411480" y="174650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27" name="Text 25"/>
          <p:cNvSpPr/>
          <p:nvPr/>
        </p:nvSpPr>
        <p:spPr>
          <a:xfrm>
            <a:off x="768096" y="1737360"/>
            <a:ext cx="1371600" cy="182880"/>
          </a:xfrm>
          <a:prstGeom prst="rect">
            <a:avLst/>
          </a:prstGeom>
          <a:noFill/>
          <a:ln/>
        </p:spPr>
        <p:txBody>
          <a:bodyPr wrap="square" rtlCol="0" anchor="ctr"/>
          <a:lstStyle/>
          <a:p>
            <a:pPr indent="0" marL="0">
              <a:buNone/>
            </a:pPr>
            <a:r>
              <a:rPr lang="en-US" sz="900" b="1" dirty="0">
                <a:solidFill>
                  <a:srgbClr val="CC0000"/>
                </a:solidFill>
              </a:rPr>
              <a:t>Iwa</a:t>
            </a:r>
            <a:endParaRPr lang="en-US" sz="900" dirty="0"/>
          </a:p>
        </p:txBody>
      </p:sp>
      <p:sp>
        <p:nvSpPr>
          <p:cNvPr id="28" name="Text 26"/>
          <p:cNvSpPr/>
          <p:nvPr/>
        </p:nvSpPr>
        <p:spPr>
          <a:xfrm>
            <a:off x="768096" y="1929384"/>
            <a:ext cx="7132320" cy="502920"/>
          </a:xfrm>
          <a:prstGeom prst="rect">
            <a:avLst/>
          </a:prstGeom>
          <a:noFill/>
          <a:ln/>
        </p:spPr>
        <p:txBody>
          <a:bodyPr wrap="square" rtlCol="0" anchor="t"/>
          <a:lstStyle/>
          <a:p>
            <a:pPr indent="0" marL="0">
              <a:buNone/>
            </a:pPr>
            <a:r>
              <a:rPr lang="en-US" sz="1100" dirty="0">
                <a:solidFill>
                  <a:srgbClr val="1A1A1A"/>
                </a:solidFill>
              </a:rPr>
              <a:t>Good news! Your manager has approved your leave request for March 12–15. The leave has been updated in Workday and synchronized with your payroll and calendar.</a:t>
            </a:r>
            <a:endParaRPr lang="en-US" sz="1100" dirty="0"/>
          </a:p>
        </p:txBody>
      </p:sp>
      <p:sp>
        <p:nvSpPr>
          <p:cNvPr id="29" name="Text 27"/>
          <p:cNvSpPr/>
          <p:nvPr/>
        </p:nvSpPr>
        <p:spPr>
          <a:xfrm>
            <a:off x="768096" y="1499616"/>
            <a:ext cx="4572000" cy="164592"/>
          </a:xfrm>
          <a:prstGeom prst="rect">
            <a:avLst/>
          </a:prstGeom>
          <a:noFill/>
          <a:ln/>
        </p:spPr>
        <p:txBody>
          <a:bodyPr wrap="square" rtlCol="0" anchor="ctr"/>
          <a:lstStyle/>
          <a:p>
            <a:pPr indent="0" marL="0">
              <a:buNone/>
            </a:pPr>
            <a:r>
              <a:rPr lang="en-US" sz="750" i="1" dirty="0">
                <a:solidFill>
                  <a:srgbClr val="999999"/>
                </a:solidFill>
              </a:rPr>
              <a:t>Iwa · 2 days later, unprompted</a:t>
            </a:r>
            <a:endParaRPr lang="en-US" sz="750" dirty="0"/>
          </a:p>
        </p:txBody>
      </p:sp>
      <p:pic>
        <p:nvPicPr>
          <p:cNvPr id="30" name="Image 0" descr="preencoded.png">    </p:cNvPr>
          <p:cNvPicPr>
            <a:picLocks noChangeAspect="1"/>
          </p:cNvPicPr>
          <p:nvPr/>
        </p:nvPicPr>
        <p:blipFill>
          <a:blip r:embed="rId1"/>
          <a:stretch>
            <a:fillRect/>
          </a:stretch>
        </p:blipFill>
        <p:spPr>
          <a:xfrm>
            <a:off x="7863840" y="1691640"/>
            <a:ext cx="594360" cy="594360"/>
          </a:xfrm>
          <a:prstGeom prst="rect">
            <a:avLst/>
          </a:prstGeom>
        </p:spPr>
      </p:pic>
      <p:sp>
        <p:nvSpPr>
          <p:cNvPr id="31" name="Shape 28"/>
          <p:cNvSpPr/>
          <p:nvPr/>
        </p:nvSpPr>
        <p:spPr>
          <a:xfrm>
            <a:off x="365760" y="2578608"/>
            <a:ext cx="4114800" cy="1188720"/>
          </a:xfrm>
          <a:prstGeom prst="roundRect">
            <a:avLst>
              <a:gd name="adj" fmla="val 6154"/>
            </a:avLst>
          </a:prstGeom>
          <a:solidFill>
            <a:srgbClr val="1A1A1A"/>
          </a:solidFill>
          <a:ln w="12700">
            <a:solidFill>
              <a:srgbClr val="1A1A1A"/>
            </a:solidFill>
            <a:prstDash val="solid"/>
          </a:ln>
        </p:spPr>
      </p:sp>
      <p:sp>
        <p:nvSpPr>
          <p:cNvPr id="32" name="Text 29"/>
          <p:cNvSpPr/>
          <p:nvPr/>
        </p:nvSpPr>
        <p:spPr>
          <a:xfrm>
            <a:off x="502920" y="2633472"/>
            <a:ext cx="3749040" cy="256032"/>
          </a:xfrm>
          <a:prstGeom prst="rect">
            <a:avLst/>
          </a:prstGeom>
          <a:noFill/>
          <a:ln/>
        </p:spPr>
        <p:txBody>
          <a:bodyPr wrap="square" rtlCol="0" anchor="ctr"/>
          <a:lstStyle/>
          <a:p>
            <a:pPr indent="0" marL="0">
              <a:buNone/>
            </a:pPr>
            <a:r>
              <a:rPr lang="en-US" sz="1000" b="1" dirty="0">
                <a:solidFill>
                  <a:srgbClr val="FFCD41"/>
                </a:solidFill>
              </a:rPr>
              <a:t>Shared State Object</a:t>
            </a:r>
            <a:endParaRPr lang="en-US" sz="1000" dirty="0"/>
          </a:p>
        </p:txBody>
      </p:sp>
      <p:sp>
        <p:nvSpPr>
          <p:cNvPr id="33" name="Text 30"/>
          <p:cNvSpPr/>
          <p:nvPr/>
        </p:nvSpPr>
        <p:spPr>
          <a:xfrm>
            <a:off x="502920" y="2880360"/>
            <a:ext cx="3749040" cy="777240"/>
          </a:xfrm>
          <a:prstGeom prst="rect">
            <a:avLst/>
          </a:prstGeom>
          <a:noFill/>
          <a:ln/>
        </p:spPr>
        <p:txBody>
          <a:bodyPr wrap="square" rtlCol="0" anchor="ctr"/>
          <a:lstStyle/>
          <a:p>
            <a:pPr indent="0" marL="0">
              <a:buNone/>
            </a:pPr>
            <a:r>
              <a:rPr lang="en-US" sz="900" dirty="0">
                <a:solidFill>
                  <a:srgbClr val="90EE90"/>
                </a:solidFill>
                <a:latin typeface="Courier New" pitchFamily="34" charset="0"/>
                <a:ea typeface="Courier New" pitchFamily="34" charset="-122"/>
                <a:cs typeface="Courier New" pitchFamily="34" charset="-120"/>
              </a:rPr>
              <a:t>{ task: "leave_request", dates: "Mar 12-15",</a:t>
            </a:r>
            <a:endParaRPr lang="en-US" sz="900" dirty="0"/>
          </a:p>
          <a:p>
            <a:pPr indent="0" marL="0">
              <a:buNone/>
            </a:pPr>
            <a:r>
              <a:rPr lang="en-US" sz="900" dirty="0">
                <a:solidFill>
                  <a:srgbClr val="90EE90"/>
                </a:solidFill>
                <a:latin typeface="Courier New" pitchFamily="34" charset="0"/>
                <a:ea typeface="Courier New" pitchFamily="34" charset="-122"/>
                <a:cs typeface="Courier New" pitchFamily="34" charset="-120"/>
              </a:rPr>
              <a:t>  status: "approved",</a:t>
            </a:r>
            <a:endParaRPr lang="en-US" sz="900" dirty="0"/>
          </a:p>
          <a:p>
            <a:pPr indent="0" marL="0">
              <a:buNone/>
            </a:pPr>
            <a:r>
              <a:rPr lang="en-US" sz="900" dirty="0">
                <a:solidFill>
                  <a:srgbClr val="90EE90"/>
                </a:solidFill>
                <a:latin typeface="Courier New" pitchFamily="34" charset="0"/>
                <a:ea typeface="Courier New" pitchFamily="34" charset="-122"/>
                <a:cs typeface="Courier New" pitchFamily="34" charset="-120"/>
              </a:rPr>
              <a:t>  next_action: "notify_payroll" }</a:t>
            </a:r>
            <a:endParaRPr lang="en-US" sz="900" dirty="0"/>
          </a:p>
        </p:txBody>
      </p:sp>
      <p:sp>
        <p:nvSpPr>
          <p:cNvPr id="34" name="Shape 31"/>
          <p:cNvSpPr/>
          <p:nvPr/>
        </p:nvSpPr>
        <p:spPr>
          <a:xfrm>
            <a:off x="4663440" y="2578608"/>
            <a:ext cx="4114800" cy="1188720"/>
          </a:xfrm>
          <a:prstGeom prst="roundRect">
            <a:avLst>
              <a:gd name="adj" fmla="val 6154"/>
            </a:avLst>
          </a:prstGeom>
          <a:solidFill>
            <a:srgbClr val="FFFFFF"/>
          </a:solidFill>
          <a:ln w="12700">
            <a:solidFill>
              <a:srgbClr val="E0E0E0"/>
            </a:solidFill>
            <a:prstDash val="solid"/>
          </a:ln>
          <a:effectLst>
            <a:outerShdw sx="100000" sy="100000" kx="0" ky="0" algn="bl" rotWithShape="0" blurRad="101600" dist="25400" dir="2700000">
              <a:srgbClr val="000000">
                <a:alpha val="12000"/>
              </a:srgbClr>
            </a:outerShdw>
          </a:effectLst>
        </p:spPr>
      </p:sp>
      <p:sp>
        <p:nvSpPr>
          <p:cNvPr id="35" name="Text 32"/>
          <p:cNvSpPr/>
          <p:nvPr/>
        </p:nvSpPr>
        <p:spPr>
          <a:xfrm>
            <a:off x="4800600" y="2633472"/>
            <a:ext cx="3749040" cy="256032"/>
          </a:xfrm>
          <a:prstGeom prst="rect">
            <a:avLst/>
          </a:prstGeom>
          <a:noFill/>
          <a:ln/>
        </p:spPr>
        <p:txBody>
          <a:bodyPr wrap="square" rtlCol="0" anchor="ctr"/>
          <a:lstStyle/>
          <a:p>
            <a:pPr indent="0" marL="0">
              <a:buNone/>
            </a:pPr>
            <a:r>
              <a:rPr lang="en-US" sz="1000" b="1" dirty="0">
                <a:solidFill>
                  <a:srgbClr val="CC0000"/>
                </a:solidFill>
              </a:rPr>
              <a:t>3 Agents, 1 Shared State</a:t>
            </a:r>
            <a:endParaRPr lang="en-US" sz="1000" dirty="0"/>
          </a:p>
        </p:txBody>
      </p:sp>
      <p:sp>
        <p:nvSpPr>
          <p:cNvPr id="36" name="Text 33"/>
          <p:cNvSpPr/>
          <p:nvPr/>
        </p:nvSpPr>
        <p:spPr>
          <a:xfrm>
            <a:off x="4800600" y="2889504"/>
            <a:ext cx="3749040" cy="804672"/>
          </a:xfrm>
          <a:prstGeom prst="rect">
            <a:avLst/>
          </a:prstGeom>
          <a:noFill/>
          <a:ln/>
        </p:spPr>
        <p:txBody>
          <a:bodyPr wrap="square" rtlCol="0" anchor="ctr"/>
          <a:lstStyle/>
          <a:p>
            <a:pPr indent="0" marL="0">
              <a:buNone/>
            </a:pPr>
            <a:r>
              <a:rPr lang="en-US" sz="900" dirty="0">
                <a:solidFill>
                  <a:srgbClr val="444444"/>
                </a:solidFill>
              </a:rPr>
              <a:t>Leave Agent creates request → Approval Agent waits for manager approval → Payroll Agent updates payroll → Calendar Agent blocks dates. None of this needs the original chat open.</a:t>
            </a:r>
            <a:endParaRPr lang="en-US" sz="900" dirty="0"/>
          </a:p>
        </p:txBody>
      </p:sp>
      <p:sp>
        <p:nvSpPr>
          <p:cNvPr id="37" name="Shape 34"/>
          <p:cNvSpPr/>
          <p:nvPr/>
        </p:nvSpPr>
        <p:spPr>
          <a:xfrm>
            <a:off x="365760" y="3858768"/>
            <a:ext cx="8412480" cy="868680"/>
          </a:xfrm>
          <a:prstGeom prst="roundRect">
            <a:avLst>
              <a:gd name="adj" fmla="val 8421"/>
            </a:avLst>
          </a:prstGeom>
          <a:solidFill>
            <a:srgbClr val="F0FAF0"/>
          </a:solidFill>
          <a:ln w="12700">
            <a:solidFill>
              <a:srgbClr val="A5D6A7"/>
            </a:solidFill>
            <a:prstDash val="solid"/>
          </a:ln>
        </p:spPr>
      </p:sp>
      <p:pic>
        <p:nvPicPr>
          <p:cNvPr id="38" name="Image 1" descr="preencoded.png">    </p:cNvPr>
          <p:cNvPicPr>
            <a:picLocks noChangeAspect="1"/>
          </p:cNvPicPr>
          <p:nvPr/>
        </p:nvPicPr>
        <p:blipFill>
          <a:blip r:embed="rId2"/>
          <a:stretch>
            <a:fillRect/>
          </a:stretch>
        </p:blipFill>
        <p:spPr>
          <a:xfrm>
            <a:off x="457200" y="3931920"/>
            <a:ext cx="320040" cy="320040"/>
          </a:xfrm>
          <a:prstGeom prst="rect">
            <a:avLst/>
          </a:prstGeom>
        </p:spPr>
      </p:pic>
      <p:sp>
        <p:nvSpPr>
          <p:cNvPr id="39" name="Text 35"/>
          <p:cNvSpPr/>
          <p:nvPr/>
        </p:nvSpPr>
        <p:spPr>
          <a:xfrm>
            <a:off x="822960" y="3913632"/>
            <a:ext cx="3657600" cy="256032"/>
          </a:xfrm>
          <a:prstGeom prst="rect">
            <a:avLst/>
          </a:prstGeom>
          <a:noFill/>
          <a:ln/>
        </p:spPr>
        <p:txBody>
          <a:bodyPr wrap="square" rtlCol="0" anchor="ctr"/>
          <a:lstStyle/>
          <a:p>
            <a:pPr indent="0" marL="0">
              <a:buNone/>
            </a:pPr>
            <a:r>
              <a:rPr lang="en-US" sz="1100" b="1" dirty="0">
                <a:solidFill>
                  <a:srgbClr val="2E7D32"/>
                </a:solidFill>
              </a:rPr>
              <a:t>Purpose of This Layer</a:t>
            </a:r>
            <a:endParaRPr lang="en-US" sz="1100" dirty="0"/>
          </a:p>
        </p:txBody>
      </p:sp>
      <p:sp>
        <p:nvSpPr>
          <p:cNvPr id="40" name="Text 36"/>
          <p:cNvSpPr/>
          <p:nvPr/>
        </p:nvSpPr>
        <p:spPr>
          <a:xfrm>
            <a:off x="822960" y="4178808"/>
            <a:ext cx="7772400" cy="475488"/>
          </a:xfrm>
          <a:prstGeom prst="rect">
            <a:avLst/>
          </a:prstGeom>
          <a:noFill/>
          <a:ln/>
        </p:spPr>
        <p:txBody>
          <a:bodyPr wrap="square" rtlCol="0" anchor="ctr"/>
          <a:lstStyle/>
          <a:p>
            <a:pPr indent="0" marL="0">
              <a:buNone/>
            </a:pPr>
            <a:r>
              <a:rPr lang="en-US" sz="1000" dirty="0">
                <a:solidFill>
                  <a:srgbClr val="444444"/>
                </a:solidFill>
              </a:rPr>
              <a:t>Agent state allows Iwa to manage long-running business processes. It remembers the status of work across hours or days, enabling multiple agents and systems to collaborate without relying on the original conversation.</a:t>
            </a:r>
            <a:endParaRPr lang="en-US" sz="1000" dirty="0"/>
          </a:p>
        </p:txBody>
      </p:sp>
      <p:sp>
        <p:nvSpPr>
          <p:cNvPr id="41" name="Text 37"/>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228600"/>
          </a:xfrm>
          <a:prstGeom prst="rect">
            <a:avLst/>
          </a:prstGeom>
          <a:noFill/>
          <a:ln/>
        </p:spPr>
        <p:txBody>
          <a:bodyPr wrap="square" rtlCol="0" anchor="ctr"/>
          <a:lstStyle/>
          <a:p>
            <a:pPr indent="0" marL="0">
              <a:buNone/>
            </a:pPr>
            <a:r>
              <a:rPr lang="en-US" sz="900" b="1" spc="400" kern="0" dirty="0">
                <a:solidFill>
                  <a:srgbClr val="CC0000"/>
                </a:solidFill>
              </a:rPr>
              <a:t>RECAP</a:t>
            </a:r>
            <a:endParaRPr lang="en-US" sz="900" dirty="0"/>
          </a:p>
        </p:txBody>
      </p:sp>
      <p:sp>
        <p:nvSpPr>
          <p:cNvPr id="3" name="Text 1"/>
          <p:cNvSpPr/>
          <p:nvPr/>
        </p:nvSpPr>
        <p:spPr>
          <a:xfrm>
            <a:off x="365760" y="384048"/>
            <a:ext cx="8412480" cy="50292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The Full Journey, At a Glance</a:t>
            </a:r>
            <a:endParaRPr lang="en-US" sz="2600" dirty="0"/>
          </a:p>
        </p:txBody>
      </p:sp>
      <p:sp>
        <p:nvSpPr>
          <p:cNvPr id="4" name="Shape 2"/>
          <p:cNvSpPr/>
          <p:nvPr/>
        </p:nvSpPr>
        <p:spPr>
          <a:xfrm>
            <a:off x="502920" y="1143000"/>
            <a:ext cx="8138160" cy="45720"/>
          </a:xfrm>
          <a:prstGeom prst="rect">
            <a:avLst/>
          </a:prstGeom>
          <a:solidFill>
            <a:srgbClr val="CC0000"/>
          </a:solidFill>
          <a:ln w="12700">
            <a:solidFill>
              <a:srgbClr val="CC0000"/>
            </a:solidFill>
            <a:prstDash val="solid"/>
          </a:ln>
        </p:spPr>
      </p:sp>
      <p:sp>
        <p:nvSpPr>
          <p:cNvPr id="5" name="Shape 3"/>
          <p:cNvSpPr/>
          <p:nvPr/>
        </p:nvSpPr>
        <p:spPr>
          <a:xfrm>
            <a:off x="365760" y="1005840"/>
            <a:ext cx="274320" cy="274320"/>
          </a:xfrm>
          <a:prstGeom prst="ellipse">
            <a:avLst/>
          </a:prstGeom>
          <a:solidFill>
            <a:srgbClr val="CC0000"/>
          </a:solidFill>
          <a:ln w="12700">
            <a:solidFill>
              <a:srgbClr val="CC0000"/>
            </a:solidFill>
            <a:prstDash val="solid"/>
          </a:ln>
        </p:spPr>
      </p:sp>
      <p:sp>
        <p:nvSpPr>
          <p:cNvPr id="6" name="Text 4"/>
          <p:cNvSpPr/>
          <p:nvPr/>
        </p:nvSpPr>
        <p:spPr>
          <a:xfrm>
            <a:off x="36576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7" name="Text 5"/>
          <p:cNvSpPr/>
          <p:nvPr/>
        </p:nvSpPr>
        <p:spPr>
          <a:xfrm>
            <a:off x="91440" y="1316736"/>
            <a:ext cx="822960" cy="256032"/>
          </a:xfrm>
          <a:prstGeom prst="rect">
            <a:avLst/>
          </a:prstGeom>
          <a:noFill/>
          <a:ln/>
        </p:spPr>
        <p:txBody>
          <a:bodyPr wrap="square" rtlCol="0" anchor="ctr"/>
          <a:lstStyle/>
          <a:p>
            <a:pPr algn="ctr" indent="0" marL="0">
              <a:buNone/>
            </a:pPr>
            <a:r>
              <a:rPr lang="en-US" sz="800" dirty="0">
                <a:solidFill>
                  <a:srgbClr val="888888"/>
                </a:solidFill>
              </a:rPr>
              <a:t>Base LLM</a:t>
            </a:r>
            <a:endParaRPr lang="en-US" sz="800" dirty="0"/>
          </a:p>
        </p:txBody>
      </p:sp>
      <p:sp>
        <p:nvSpPr>
          <p:cNvPr id="8" name="Shape 6"/>
          <p:cNvSpPr/>
          <p:nvPr/>
        </p:nvSpPr>
        <p:spPr>
          <a:xfrm>
            <a:off x="1965960" y="1005840"/>
            <a:ext cx="274320" cy="274320"/>
          </a:xfrm>
          <a:prstGeom prst="ellipse">
            <a:avLst/>
          </a:prstGeom>
          <a:solidFill>
            <a:srgbClr val="CC0000"/>
          </a:solidFill>
          <a:ln w="12700">
            <a:solidFill>
              <a:srgbClr val="CC0000"/>
            </a:solidFill>
            <a:prstDash val="solid"/>
          </a:ln>
        </p:spPr>
      </p:sp>
      <p:sp>
        <p:nvSpPr>
          <p:cNvPr id="9" name="Text 7"/>
          <p:cNvSpPr/>
          <p:nvPr/>
        </p:nvSpPr>
        <p:spPr>
          <a:xfrm>
            <a:off x="196596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0" name="Text 8"/>
          <p:cNvSpPr/>
          <p:nvPr/>
        </p:nvSpPr>
        <p:spPr>
          <a:xfrm>
            <a:off x="1691640" y="1316736"/>
            <a:ext cx="822960" cy="256032"/>
          </a:xfrm>
          <a:prstGeom prst="rect">
            <a:avLst/>
          </a:prstGeom>
          <a:noFill/>
          <a:ln/>
        </p:spPr>
        <p:txBody>
          <a:bodyPr wrap="square" rtlCol="0" anchor="ctr"/>
          <a:lstStyle/>
          <a:p>
            <a:pPr algn="ctr" indent="0" marL="0">
              <a:buNone/>
            </a:pPr>
            <a:r>
              <a:rPr lang="en-US" sz="800" dirty="0">
                <a:solidFill>
                  <a:srgbClr val="888888"/>
                </a:solidFill>
              </a:rPr>
              <a:t>+Instructions</a:t>
            </a:r>
            <a:endParaRPr lang="en-US" sz="800" dirty="0"/>
          </a:p>
        </p:txBody>
      </p:sp>
      <p:sp>
        <p:nvSpPr>
          <p:cNvPr id="11" name="Shape 9"/>
          <p:cNvSpPr/>
          <p:nvPr/>
        </p:nvSpPr>
        <p:spPr>
          <a:xfrm>
            <a:off x="3520440" y="1005840"/>
            <a:ext cx="274320" cy="274320"/>
          </a:xfrm>
          <a:prstGeom prst="ellipse">
            <a:avLst/>
          </a:prstGeom>
          <a:solidFill>
            <a:srgbClr val="CC0000"/>
          </a:solidFill>
          <a:ln w="12700">
            <a:solidFill>
              <a:srgbClr val="CC0000"/>
            </a:solidFill>
            <a:prstDash val="solid"/>
          </a:ln>
        </p:spPr>
      </p:sp>
      <p:sp>
        <p:nvSpPr>
          <p:cNvPr id="12" name="Text 10"/>
          <p:cNvSpPr/>
          <p:nvPr/>
        </p:nvSpPr>
        <p:spPr>
          <a:xfrm>
            <a:off x="352044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Text 11"/>
          <p:cNvSpPr/>
          <p:nvPr/>
        </p:nvSpPr>
        <p:spPr>
          <a:xfrm>
            <a:off x="3246120" y="1316736"/>
            <a:ext cx="822960" cy="256032"/>
          </a:xfrm>
          <a:prstGeom prst="rect">
            <a:avLst/>
          </a:prstGeom>
          <a:noFill/>
          <a:ln/>
        </p:spPr>
        <p:txBody>
          <a:bodyPr wrap="square" rtlCol="0" anchor="ctr"/>
          <a:lstStyle/>
          <a:p>
            <a:pPr algn="ctr" indent="0" marL="0">
              <a:buNone/>
            </a:pPr>
            <a:r>
              <a:rPr lang="en-US" sz="800" dirty="0">
                <a:solidFill>
                  <a:srgbClr val="888888"/>
                </a:solidFill>
              </a:rPr>
              <a:t>+RAG</a:t>
            </a:r>
            <a:endParaRPr lang="en-US" sz="800" dirty="0"/>
          </a:p>
        </p:txBody>
      </p:sp>
      <p:sp>
        <p:nvSpPr>
          <p:cNvPr id="14" name="Shape 12"/>
          <p:cNvSpPr/>
          <p:nvPr/>
        </p:nvSpPr>
        <p:spPr>
          <a:xfrm>
            <a:off x="5074920" y="1005840"/>
            <a:ext cx="274320" cy="274320"/>
          </a:xfrm>
          <a:prstGeom prst="ellipse">
            <a:avLst/>
          </a:prstGeom>
          <a:solidFill>
            <a:srgbClr val="CC0000"/>
          </a:solidFill>
          <a:ln w="12700">
            <a:solidFill>
              <a:srgbClr val="CC0000"/>
            </a:solidFill>
            <a:prstDash val="solid"/>
          </a:ln>
        </p:spPr>
      </p:sp>
      <p:sp>
        <p:nvSpPr>
          <p:cNvPr id="15" name="Text 13"/>
          <p:cNvSpPr/>
          <p:nvPr/>
        </p:nvSpPr>
        <p:spPr>
          <a:xfrm>
            <a:off x="507492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4800600" y="1316736"/>
            <a:ext cx="822960" cy="256032"/>
          </a:xfrm>
          <a:prstGeom prst="rect">
            <a:avLst/>
          </a:prstGeom>
          <a:noFill/>
          <a:ln/>
        </p:spPr>
        <p:txBody>
          <a:bodyPr wrap="square" rtlCol="0" anchor="ctr"/>
          <a:lstStyle/>
          <a:p>
            <a:pPr algn="ctr" indent="0" marL="0">
              <a:buNone/>
            </a:pPr>
            <a:r>
              <a:rPr lang="en-US" sz="800" dirty="0">
                <a:solidFill>
                  <a:srgbClr val="888888"/>
                </a:solidFill>
              </a:rPr>
              <a:t>+Tool Outputs</a:t>
            </a:r>
            <a:endParaRPr lang="en-US" sz="800" dirty="0"/>
          </a:p>
        </p:txBody>
      </p:sp>
      <p:sp>
        <p:nvSpPr>
          <p:cNvPr id="17" name="Shape 15"/>
          <p:cNvSpPr/>
          <p:nvPr/>
        </p:nvSpPr>
        <p:spPr>
          <a:xfrm>
            <a:off x="6537960" y="1005840"/>
            <a:ext cx="274320" cy="274320"/>
          </a:xfrm>
          <a:prstGeom prst="ellipse">
            <a:avLst/>
          </a:prstGeom>
          <a:solidFill>
            <a:srgbClr val="CC0000"/>
          </a:solidFill>
          <a:ln w="12700">
            <a:solidFill>
              <a:srgbClr val="CC0000"/>
            </a:solidFill>
            <a:prstDash val="solid"/>
          </a:ln>
        </p:spPr>
      </p:sp>
      <p:sp>
        <p:nvSpPr>
          <p:cNvPr id="18" name="Text 16"/>
          <p:cNvSpPr/>
          <p:nvPr/>
        </p:nvSpPr>
        <p:spPr>
          <a:xfrm>
            <a:off x="653796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9" name="Text 17"/>
          <p:cNvSpPr/>
          <p:nvPr/>
        </p:nvSpPr>
        <p:spPr>
          <a:xfrm>
            <a:off x="6263640" y="1316736"/>
            <a:ext cx="822960" cy="256032"/>
          </a:xfrm>
          <a:prstGeom prst="rect">
            <a:avLst/>
          </a:prstGeom>
          <a:noFill/>
          <a:ln/>
        </p:spPr>
        <p:txBody>
          <a:bodyPr wrap="square" rtlCol="0" anchor="ctr"/>
          <a:lstStyle/>
          <a:p>
            <a:pPr algn="ctr" indent="0" marL="0">
              <a:buNone/>
            </a:pPr>
            <a:r>
              <a:rPr lang="en-US" sz="800" dirty="0">
                <a:solidFill>
                  <a:srgbClr val="888888"/>
                </a:solidFill>
              </a:rPr>
              <a:t>+History</a:t>
            </a:r>
            <a:endParaRPr lang="en-US" sz="800" dirty="0"/>
          </a:p>
        </p:txBody>
      </p:sp>
      <p:sp>
        <p:nvSpPr>
          <p:cNvPr id="20" name="Shape 18"/>
          <p:cNvSpPr/>
          <p:nvPr/>
        </p:nvSpPr>
        <p:spPr>
          <a:xfrm>
            <a:off x="8001000" y="1005840"/>
            <a:ext cx="274320" cy="274320"/>
          </a:xfrm>
          <a:prstGeom prst="ellipse">
            <a:avLst/>
          </a:prstGeom>
          <a:solidFill>
            <a:srgbClr val="CC0000"/>
          </a:solidFill>
          <a:ln w="12700">
            <a:solidFill>
              <a:srgbClr val="CC0000"/>
            </a:solidFill>
            <a:prstDash val="solid"/>
          </a:ln>
        </p:spPr>
      </p:sp>
      <p:sp>
        <p:nvSpPr>
          <p:cNvPr id="21" name="Text 19"/>
          <p:cNvSpPr/>
          <p:nvPr/>
        </p:nvSpPr>
        <p:spPr>
          <a:xfrm>
            <a:off x="8001000" y="10058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2" name="Text 20"/>
          <p:cNvSpPr/>
          <p:nvPr/>
        </p:nvSpPr>
        <p:spPr>
          <a:xfrm>
            <a:off x="7726680" y="1316736"/>
            <a:ext cx="822960" cy="256032"/>
          </a:xfrm>
          <a:prstGeom prst="rect">
            <a:avLst/>
          </a:prstGeom>
          <a:noFill/>
          <a:ln/>
        </p:spPr>
        <p:txBody>
          <a:bodyPr wrap="square" rtlCol="0" anchor="ctr"/>
          <a:lstStyle/>
          <a:p>
            <a:pPr algn="ctr" indent="0" marL="0">
              <a:buNone/>
            </a:pPr>
            <a:r>
              <a:rPr lang="en-US" sz="800" dirty="0">
                <a:solidFill>
                  <a:srgbClr val="888888"/>
                </a:solidFill>
              </a:rPr>
              <a:t>+Agent State</a:t>
            </a:r>
            <a:endParaRPr lang="en-US" sz="800" dirty="0"/>
          </a:p>
        </p:txBody>
      </p:sp>
      <p:sp>
        <p:nvSpPr>
          <p:cNvPr id="23" name="Shape 21"/>
          <p:cNvSpPr/>
          <p:nvPr/>
        </p:nvSpPr>
        <p:spPr>
          <a:xfrm>
            <a:off x="274320" y="1691640"/>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24" name="Shape 22"/>
          <p:cNvSpPr/>
          <p:nvPr/>
        </p:nvSpPr>
        <p:spPr>
          <a:xfrm>
            <a:off x="393192" y="1810512"/>
            <a:ext cx="384048" cy="384048"/>
          </a:xfrm>
          <a:prstGeom prst="ellipse">
            <a:avLst/>
          </a:prstGeom>
          <a:solidFill>
            <a:srgbClr val="FFCD41"/>
          </a:solidFill>
          <a:ln w="12700">
            <a:solidFill>
              <a:srgbClr val="FFCD41"/>
            </a:solidFill>
            <a:prstDash val="solid"/>
          </a:ln>
        </p:spPr>
      </p:sp>
      <p:sp>
        <p:nvSpPr>
          <p:cNvPr id="25" name="Text 23"/>
          <p:cNvSpPr/>
          <p:nvPr/>
        </p:nvSpPr>
        <p:spPr>
          <a:xfrm>
            <a:off x="393192" y="1810512"/>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26" name="Text 24"/>
          <p:cNvSpPr/>
          <p:nvPr/>
        </p:nvSpPr>
        <p:spPr>
          <a:xfrm>
            <a:off x="822960" y="1828800"/>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0</a:t>
            </a:r>
            <a:endParaRPr lang="en-US" sz="1300" dirty="0"/>
          </a:p>
        </p:txBody>
      </p:sp>
      <p:sp>
        <p:nvSpPr>
          <p:cNvPr id="27" name="Shape 25"/>
          <p:cNvSpPr/>
          <p:nvPr/>
        </p:nvSpPr>
        <p:spPr>
          <a:xfrm>
            <a:off x="393192" y="2267712"/>
            <a:ext cx="2596896" cy="0"/>
          </a:xfrm>
          <a:prstGeom prst="line">
            <a:avLst/>
          </a:prstGeom>
          <a:noFill/>
          <a:ln w="9525">
            <a:solidFill>
              <a:srgbClr val="FFCD41"/>
            </a:solidFill>
            <a:prstDash val="solid"/>
          </a:ln>
        </p:spPr>
      </p:sp>
      <p:sp>
        <p:nvSpPr>
          <p:cNvPr id="28" name="Text 26"/>
          <p:cNvSpPr/>
          <p:nvPr/>
        </p:nvSpPr>
        <p:spPr>
          <a:xfrm>
            <a:off x="393192" y="2331720"/>
            <a:ext cx="2596896" cy="676656"/>
          </a:xfrm>
          <a:prstGeom prst="rect">
            <a:avLst/>
          </a:prstGeom>
          <a:noFill/>
          <a:ln/>
        </p:spPr>
        <p:txBody>
          <a:bodyPr wrap="square" rtlCol="0" anchor="t"/>
          <a:lstStyle/>
          <a:p>
            <a:pPr indent="0" marL="0">
              <a:buNone/>
            </a:pPr>
            <a:r>
              <a:rPr lang="en-US" sz="1050" dirty="0">
                <a:solidFill>
                  <a:srgbClr val="FFFFFF"/>
                </a:solidFill>
              </a:rPr>
              <a:t>Generic responses with no business context</a:t>
            </a:r>
            <a:endParaRPr lang="en-US" sz="1050" dirty="0"/>
          </a:p>
        </p:txBody>
      </p:sp>
      <p:sp>
        <p:nvSpPr>
          <p:cNvPr id="29" name="Shape 27"/>
          <p:cNvSpPr/>
          <p:nvPr/>
        </p:nvSpPr>
        <p:spPr>
          <a:xfrm>
            <a:off x="3246120" y="1691640"/>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30" name="Shape 28"/>
          <p:cNvSpPr/>
          <p:nvPr/>
        </p:nvSpPr>
        <p:spPr>
          <a:xfrm>
            <a:off x="3364992" y="1810512"/>
            <a:ext cx="384048" cy="384048"/>
          </a:xfrm>
          <a:prstGeom prst="ellipse">
            <a:avLst/>
          </a:prstGeom>
          <a:solidFill>
            <a:srgbClr val="FFCD41"/>
          </a:solidFill>
          <a:ln w="12700">
            <a:solidFill>
              <a:srgbClr val="FFCD41"/>
            </a:solidFill>
            <a:prstDash val="solid"/>
          </a:ln>
        </p:spPr>
      </p:sp>
      <p:sp>
        <p:nvSpPr>
          <p:cNvPr id="31" name="Text 29"/>
          <p:cNvSpPr/>
          <p:nvPr/>
        </p:nvSpPr>
        <p:spPr>
          <a:xfrm>
            <a:off x="3364992" y="1810512"/>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32" name="Text 30"/>
          <p:cNvSpPr/>
          <p:nvPr/>
        </p:nvSpPr>
        <p:spPr>
          <a:xfrm>
            <a:off x="3794760" y="1828800"/>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1</a:t>
            </a:r>
            <a:endParaRPr lang="en-US" sz="1300" dirty="0"/>
          </a:p>
        </p:txBody>
      </p:sp>
      <p:sp>
        <p:nvSpPr>
          <p:cNvPr id="33" name="Shape 31"/>
          <p:cNvSpPr/>
          <p:nvPr/>
        </p:nvSpPr>
        <p:spPr>
          <a:xfrm>
            <a:off x="3364992" y="2267712"/>
            <a:ext cx="2596896" cy="0"/>
          </a:xfrm>
          <a:prstGeom prst="line">
            <a:avLst/>
          </a:prstGeom>
          <a:noFill/>
          <a:ln w="9525">
            <a:solidFill>
              <a:srgbClr val="FFCD41"/>
            </a:solidFill>
            <a:prstDash val="solid"/>
          </a:ln>
        </p:spPr>
      </p:sp>
      <p:sp>
        <p:nvSpPr>
          <p:cNvPr id="34" name="Text 32"/>
          <p:cNvSpPr/>
          <p:nvPr/>
        </p:nvSpPr>
        <p:spPr>
          <a:xfrm>
            <a:off x="3364992" y="2331720"/>
            <a:ext cx="2596896" cy="676656"/>
          </a:xfrm>
          <a:prstGeom prst="rect">
            <a:avLst/>
          </a:prstGeom>
          <a:noFill/>
          <a:ln/>
        </p:spPr>
        <p:txBody>
          <a:bodyPr wrap="square" rtlCol="0" anchor="t"/>
          <a:lstStyle/>
          <a:p>
            <a:pPr indent="0" marL="0">
              <a:buNone/>
            </a:pPr>
            <a:r>
              <a:rPr lang="en-US" sz="1050" dirty="0">
                <a:solidFill>
                  <a:srgbClr val="FFFFFF"/>
                </a:solidFill>
              </a:rPr>
              <a:t>Adds identity, tone and behavioral instructions</a:t>
            </a:r>
            <a:endParaRPr lang="en-US" sz="1050" dirty="0"/>
          </a:p>
        </p:txBody>
      </p:sp>
      <p:sp>
        <p:nvSpPr>
          <p:cNvPr id="35" name="Shape 33"/>
          <p:cNvSpPr/>
          <p:nvPr/>
        </p:nvSpPr>
        <p:spPr>
          <a:xfrm>
            <a:off x="6217920" y="1691640"/>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36" name="Shape 34"/>
          <p:cNvSpPr/>
          <p:nvPr/>
        </p:nvSpPr>
        <p:spPr>
          <a:xfrm>
            <a:off x="6336792" y="1810512"/>
            <a:ext cx="384048" cy="384048"/>
          </a:xfrm>
          <a:prstGeom prst="ellipse">
            <a:avLst/>
          </a:prstGeom>
          <a:solidFill>
            <a:srgbClr val="FFCD41"/>
          </a:solidFill>
          <a:ln w="12700">
            <a:solidFill>
              <a:srgbClr val="FFCD41"/>
            </a:solidFill>
            <a:prstDash val="solid"/>
          </a:ln>
        </p:spPr>
      </p:sp>
      <p:sp>
        <p:nvSpPr>
          <p:cNvPr id="37" name="Text 35"/>
          <p:cNvSpPr/>
          <p:nvPr/>
        </p:nvSpPr>
        <p:spPr>
          <a:xfrm>
            <a:off x="6336792" y="1810512"/>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38" name="Text 36"/>
          <p:cNvSpPr/>
          <p:nvPr/>
        </p:nvSpPr>
        <p:spPr>
          <a:xfrm>
            <a:off x="6766560" y="1828800"/>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2</a:t>
            </a:r>
            <a:endParaRPr lang="en-US" sz="1300" dirty="0"/>
          </a:p>
        </p:txBody>
      </p:sp>
      <p:sp>
        <p:nvSpPr>
          <p:cNvPr id="39" name="Shape 37"/>
          <p:cNvSpPr/>
          <p:nvPr/>
        </p:nvSpPr>
        <p:spPr>
          <a:xfrm>
            <a:off x="6336792" y="2267712"/>
            <a:ext cx="2596896" cy="0"/>
          </a:xfrm>
          <a:prstGeom prst="line">
            <a:avLst/>
          </a:prstGeom>
          <a:noFill/>
          <a:ln w="9525">
            <a:solidFill>
              <a:srgbClr val="FFCD41"/>
            </a:solidFill>
            <a:prstDash val="solid"/>
          </a:ln>
        </p:spPr>
      </p:sp>
      <p:sp>
        <p:nvSpPr>
          <p:cNvPr id="40" name="Text 38"/>
          <p:cNvSpPr/>
          <p:nvPr/>
        </p:nvSpPr>
        <p:spPr>
          <a:xfrm>
            <a:off x="6336792" y="2331720"/>
            <a:ext cx="2596896" cy="676656"/>
          </a:xfrm>
          <a:prstGeom prst="rect">
            <a:avLst/>
          </a:prstGeom>
          <a:noFill/>
          <a:ln/>
        </p:spPr>
        <p:txBody>
          <a:bodyPr wrap="square" rtlCol="0" anchor="t"/>
          <a:lstStyle/>
          <a:p>
            <a:pPr indent="0" marL="0">
              <a:buNone/>
            </a:pPr>
            <a:r>
              <a:rPr lang="en-US" sz="1050" dirty="0">
                <a:solidFill>
                  <a:srgbClr val="FFFFFF"/>
                </a:solidFill>
              </a:rPr>
              <a:t>Uses company policies and knowledge through RAG</a:t>
            </a:r>
            <a:endParaRPr lang="en-US" sz="1050" dirty="0"/>
          </a:p>
        </p:txBody>
      </p:sp>
      <p:sp>
        <p:nvSpPr>
          <p:cNvPr id="41" name="Shape 39"/>
          <p:cNvSpPr/>
          <p:nvPr/>
        </p:nvSpPr>
        <p:spPr>
          <a:xfrm>
            <a:off x="274320" y="3227832"/>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42" name="Shape 40"/>
          <p:cNvSpPr/>
          <p:nvPr/>
        </p:nvSpPr>
        <p:spPr>
          <a:xfrm>
            <a:off x="393192" y="3346704"/>
            <a:ext cx="384048" cy="384048"/>
          </a:xfrm>
          <a:prstGeom prst="ellipse">
            <a:avLst/>
          </a:prstGeom>
          <a:solidFill>
            <a:srgbClr val="FFCD41"/>
          </a:solidFill>
          <a:ln w="12700">
            <a:solidFill>
              <a:srgbClr val="FFCD41"/>
            </a:solidFill>
            <a:prstDash val="solid"/>
          </a:ln>
        </p:spPr>
      </p:sp>
      <p:sp>
        <p:nvSpPr>
          <p:cNvPr id="43" name="Text 41"/>
          <p:cNvSpPr/>
          <p:nvPr/>
        </p:nvSpPr>
        <p:spPr>
          <a:xfrm>
            <a:off x="393192" y="3346704"/>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44" name="Text 42"/>
          <p:cNvSpPr/>
          <p:nvPr/>
        </p:nvSpPr>
        <p:spPr>
          <a:xfrm>
            <a:off x="822960" y="3364992"/>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3</a:t>
            </a:r>
            <a:endParaRPr lang="en-US" sz="1300" dirty="0"/>
          </a:p>
        </p:txBody>
      </p:sp>
      <p:sp>
        <p:nvSpPr>
          <p:cNvPr id="45" name="Shape 43"/>
          <p:cNvSpPr/>
          <p:nvPr/>
        </p:nvSpPr>
        <p:spPr>
          <a:xfrm>
            <a:off x="393192" y="3803904"/>
            <a:ext cx="2596896" cy="0"/>
          </a:xfrm>
          <a:prstGeom prst="line">
            <a:avLst/>
          </a:prstGeom>
          <a:noFill/>
          <a:ln w="9525">
            <a:solidFill>
              <a:srgbClr val="FFCD41"/>
            </a:solidFill>
            <a:prstDash val="solid"/>
          </a:ln>
        </p:spPr>
      </p:sp>
      <p:sp>
        <p:nvSpPr>
          <p:cNvPr id="46" name="Text 44"/>
          <p:cNvSpPr/>
          <p:nvPr/>
        </p:nvSpPr>
        <p:spPr>
          <a:xfrm>
            <a:off x="393192" y="3867912"/>
            <a:ext cx="2596896" cy="676656"/>
          </a:xfrm>
          <a:prstGeom prst="rect">
            <a:avLst/>
          </a:prstGeom>
          <a:noFill/>
          <a:ln/>
        </p:spPr>
        <p:txBody>
          <a:bodyPr wrap="square" rtlCol="0" anchor="t"/>
          <a:lstStyle/>
          <a:p>
            <a:pPr indent="0" marL="0">
              <a:buNone/>
            </a:pPr>
            <a:r>
              <a:rPr lang="en-US" sz="1050" dirty="0">
                <a:solidFill>
                  <a:srgbClr val="FFFFFF"/>
                </a:solidFill>
              </a:rPr>
              <a:t>Retrieves live Workday data and performs HR actions</a:t>
            </a:r>
            <a:endParaRPr lang="en-US" sz="1050" dirty="0"/>
          </a:p>
        </p:txBody>
      </p:sp>
      <p:sp>
        <p:nvSpPr>
          <p:cNvPr id="47" name="Shape 45"/>
          <p:cNvSpPr/>
          <p:nvPr/>
        </p:nvSpPr>
        <p:spPr>
          <a:xfrm>
            <a:off x="3246120" y="3227832"/>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48" name="Shape 46"/>
          <p:cNvSpPr/>
          <p:nvPr/>
        </p:nvSpPr>
        <p:spPr>
          <a:xfrm>
            <a:off x="3364992" y="3346704"/>
            <a:ext cx="384048" cy="384048"/>
          </a:xfrm>
          <a:prstGeom prst="ellipse">
            <a:avLst/>
          </a:prstGeom>
          <a:solidFill>
            <a:srgbClr val="FFCD41"/>
          </a:solidFill>
          <a:ln w="12700">
            <a:solidFill>
              <a:srgbClr val="FFCD41"/>
            </a:solidFill>
            <a:prstDash val="solid"/>
          </a:ln>
        </p:spPr>
      </p:sp>
      <p:sp>
        <p:nvSpPr>
          <p:cNvPr id="49" name="Text 47"/>
          <p:cNvSpPr/>
          <p:nvPr/>
        </p:nvSpPr>
        <p:spPr>
          <a:xfrm>
            <a:off x="3364992" y="3346704"/>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50" name="Text 48"/>
          <p:cNvSpPr/>
          <p:nvPr/>
        </p:nvSpPr>
        <p:spPr>
          <a:xfrm>
            <a:off x="3794760" y="3364992"/>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4</a:t>
            </a:r>
            <a:endParaRPr lang="en-US" sz="1300" dirty="0"/>
          </a:p>
        </p:txBody>
      </p:sp>
      <p:sp>
        <p:nvSpPr>
          <p:cNvPr id="51" name="Shape 49"/>
          <p:cNvSpPr/>
          <p:nvPr/>
        </p:nvSpPr>
        <p:spPr>
          <a:xfrm>
            <a:off x="3364992" y="3803904"/>
            <a:ext cx="2596896" cy="0"/>
          </a:xfrm>
          <a:prstGeom prst="line">
            <a:avLst/>
          </a:prstGeom>
          <a:noFill/>
          <a:ln w="9525">
            <a:solidFill>
              <a:srgbClr val="FFCD41"/>
            </a:solidFill>
            <a:prstDash val="solid"/>
          </a:ln>
        </p:spPr>
      </p:sp>
      <p:sp>
        <p:nvSpPr>
          <p:cNvPr id="52" name="Text 50"/>
          <p:cNvSpPr/>
          <p:nvPr/>
        </p:nvSpPr>
        <p:spPr>
          <a:xfrm>
            <a:off x="3364992" y="3867912"/>
            <a:ext cx="2596896" cy="676656"/>
          </a:xfrm>
          <a:prstGeom prst="rect">
            <a:avLst/>
          </a:prstGeom>
          <a:noFill/>
          <a:ln/>
        </p:spPr>
        <p:txBody>
          <a:bodyPr wrap="square" rtlCol="0" anchor="t"/>
          <a:lstStyle/>
          <a:p>
            <a:pPr indent="0" marL="0">
              <a:buNone/>
            </a:pPr>
            <a:r>
              <a:rPr lang="en-US" sz="1050" dirty="0">
                <a:solidFill>
                  <a:srgbClr val="FFFFFF"/>
                </a:solidFill>
              </a:rPr>
              <a:t>Maintains conversational context across follow-up requests</a:t>
            </a:r>
            <a:endParaRPr lang="en-US" sz="1050" dirty="0"/>
          </a:p>
        </p:txBody>
      </p:sp>
      <p:sp>
        <p:nvSpPr>
          <p:cNvPr id="53" name="Shape 51"/>
          <p:cNvSpPr/>
          <p:nvPr/>
        </p:nvSpPr>
        <p:spPr>
          <a:xfrm>
            <a:off x="6217920" y="3227832"/>
            <a:ext cx="2834640" cy="1389888"/>
          </a:xfrm>
          <a:prstGeom prst="roundRect">
            <a:avLst>
              <a:gd name="adj" fmla="val 6579"/>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54" name="Shape 52"/>
          <p:cNvSpPr/>
          <p:nvPr/>
        </p:nvSpPr>
        <p:spPr>
          <a:xfrm>
            <a:off x="6336792" y="3346704"/>
            <a:ext cx="384048" cy="384048"/>
          </a:xfrm>
          <a:prstGeom prst="ellipse">
            <a:avLst/>
          </a:prstGeom>
          <a:solidFill>
            <a:srgbClr val="FFCD41"/>
          </a:solidFill>
          <a:ln w="12700">
            <a:solidFill>
              <a:srgbClr val="FFCD41"/>
            </a:solidFill>
            <a:prstDash val="solid"/>
          </a:ln>
        </p:spPr>
      </p:sp>
      <p:sp>
        <p:nvSpPr>
          <p:cNvPr id="55" name="Text 53"/>
          <p:cNvSpPr/>
          <p:nvPr/>
        </p:nvSpPr>
        <p:spPr>
          <a:xfrm>
            <a:off x="6336792" y="3346704"/>
            <a:ext cx="384048" cy="384048"/>
          </a:xfrm>
          <a:prstGeom prst="rect">
            <a:avLst/>
          </a:prstGeom>
          <a:noFill/>
          <a:ln/>
        </p:spPr>
        <p:txBody>
          <a:bodyPr wrap="square" lIns="0" tIns="0" rIns="0" bIns="0" rtlCol="0" anchor="ctr"/>
          <a:lstStyle/>
          <a:p>
            <a:pPr algn="ctr" indent="0" marL="0">
              <a:buNone/>
            </a:pPr>
            <a:r>
              <a:rPr lang="en-US" sz="1400" b="1" dirty="0">
                <a:solidFill>
                  <a:srgbClr val="990000"/>
                </a:solidFill>
              </a:rPr>
              <a:t>⬡</a:t>
            </a:r>
            <a:endParaRPr lang="en-US" sz="1400" dirty="0"/>
          </a:p>
        </p:txBody>
      </p:sp>
      <p:sp>
        <p:nvSpPr>
          <p:cNvPr id="56" name="Text 54"/>
          <p:cNvSpPr/>
          <p:nvPr/>
        </p:nvSpPr>
        <p:spPr>
          <a:xfrm>
            <a:off x="6766560" y="3364992"/>
            <a:ext cx="2167128" cy="347472"/>
          </a:xfrm>
          <a:prstGeom prst="rect">
            <a:avLst/>
          </a:prstGeom>
          <a:noFill/>
          <a:ln/>
        </p:spPr>
        <p:txBody>
          <a:bodyPr wrap="square" rtlCol="0" anchor="ctr"/>
          <a:lstStyle/>
          <a:p>
            <a:pPr indent="0" marL="0">
              <a:buNone/>
            </a:pPr>
            <a:r>
              <a:rPr lang="en-US" sz="1300" b="1" dirty="0">
                <a:solidFill>
                  <a:srgbClr val="FFCD41"/>
                </a:solidFill>
                <a:latin typeface="Cambria" pitchFamily="34" charset="0"/>
                <a:ea typeface="Cambria" pitchFamily="34" charset="-122"/>
                <a:cs typeface="Cambria" pitchFamily="34" charset="-120"/>
              </a:rPr>
              <a:t>Stage 5</a:t>
            </a:r>
            <a:endParaRPr lang="en-US" sz="1300" dirty="0"/>
          </a:p>
        </p:txBody>
      </p:sp>
      <p:sp>
        <p:nvSpPr>
          <p:cNvPr id="57" name="Shape 55"/>
          <p:cNvSpPr/>
          <p:nvPr/>
        </p:nvSpPr>
        <p:spPr>
          <a:xfrm>
            <a:off x="6336792" y="3803904"/>
            <a:ext cx="2596896" cy="0"/>
          </a:xfrm>
          <a:prstGeom prst="line">
            <a:avLst/>
          </a:prstGeom>
          <a:noFill/>
          <a:ln w="9525">
            <a:solidFill>
              <a:srgbClr val="FFCD41"/>
            </a:solidFill>
            <a:prstDash val="solid"/>
          </a:ln>
        </p:spPr>
      </p:sp>
      <p:sp>
        <p:nvSpPr>
          <p:cNvPr id="58" name="Text 56"/>
          <p:cNvSpPr/>
          <p:nvPr/>
        </p:nvSpPr>
        <p:spPr>
          <a:xfrm>
            <a:off x="6336792" y="3867912"/>
            <a:ext cx="2596896" cy="676656"/>
          </a:xfrm>
          <a:prstGeom prst="rect">
            <a:avLst/>
          </a:prstGeom>
          <a:noFill/>
          <a:ln/>
        </p:spPr>
        <p:txBody>
          <a:bodyPr wrap="square" rtlCol="0" anchor="t"/>
          <a:lstStyle/>
          <a:p>
            <a:pPr indent="0" marL="0">
              <a:buNone/>
            </a:pPr>
            <a:r>
              <a:rPr lang="en-US" sz="1050" dirty="0">
                <a:solidFill>
                  <a:srgbClr val="FFFFFF"/>
                </a:solidFill>
              </a:rPr>
              <a:t>Orchestrates workflows beyond the conversation</a:t>
            </a:r>
            <a:endParaRPr lang="en-US" sz="1050" dirty="0"/>
          </a:p>
        </p:txBody>
      </p:sp>
      <p:sp>
        <p:nvSpPr>
          <p:cNvPr id="59" name="Text 57"/>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Context Window</a:t>
            </a:r>
            <a:endParaRPr lang="en-US" sz="2800" dirty="0"/>
          </a:p>
        </p:txBody>
      </p:sp>
      <p:sp>
        <p:nvSpPr>
          <p:cNvPr id="3" name="Text 1"/>
          <p:cNvSpPr/>
          <p:nvPr/>
        </p:nvSpPr>
        <p:spPr>
          <a:xfrm>
            <a:off x="365760" y="777240"/>
            <a:ext cx="8412480" cy="320040"/>
          </a:xfrm>
          <a:prstGeom prst="rect">
            <a:avLst/>
          </a:prstGeom>
          <a:noFill/>
          <a:ln/>
        </p:spPr>
        <p:txBody>
          <a:bodyPr wrap="square" rtlCol="0" anchor="ctr"/>
          <a:lstStyle/>
          <a:p>
            <a:pPr indent="0" marL="0">
              <a:buNone/>
            </a:pPr>
            <a:r>
              <a:rPr lang="en-US" sz="1200" i="1" dirty="0">
                <a:solidFill>
                  <a:srgbClr val="444444"/>
                </a:solidFill>
              </a:rPr>
              <a:t>An AI's context window is its working memory — everything visible to it right now, all at once.</a:t>
            </a:r>
            <a:endParaRPr lang="en-US" sz="1200" dirty="0"/>
          </a:p>
        </p:txBody>
      </p:sp>
      <p:sp>
        <p:nvSpPr>
          <p:cNvPr id="4" name="Shape 2"/>
          <p:cNvSpPr/>
          <p:nvPr/>
        </p:nvSpPr>
        <p:spPr>
          <a:xfrm>
            <a:off x="365760" y="1188720"/>
            <a:ext cx="1554480" cy="914400"/>
          </a:xfrm>
          <a:prstGeom prst="roundRect">
            <a:avLst>
              <a:gd name="adj" fmla="val 8000"/>
            </a:avLst>
          </a:prstGeom>
          <a:solidFill>
            <a:srgbClr val="CC0000"/>
          </a:solidFill>
          <a:ln w="12700">
            <a:solidFill>
              <a:srgbClr val="CC0000"/>
            </a:solidFill>
            <a:prstDash val="solid"/>
          </a:ln>
        </p:spPr>
      </p:sp>
      <p:sp>
        <p:nvSpPr>
          <p:cNvPr id="5" name="Text 3"/>
          <p:cNvSpPr/>
          <p:nvPr/>
        </p:nvSpPr>
        <p:spPr>
          <a:xfrm>
            <a:off x="365760" y="1188720"/>
            <a:ext cx="1554480" cy="914400"/>
          </a:xfrm>
          <a:prstGeom prst="rect">
            <a:avLst/>
          </a:prstGeom>
          <a:noFill/>
          <a:ln/>
        </p:spPr>
        <p:txBody>
          <a:bodyPr wrap="square" rtlCol="0" anchor="ctr"/>
          <a:lstStyle/>
          <a:p>
            <a:pPr algn="ctr" indent="0" marL="0">
              <a:buNone/>
            </a:pPr>
            <a:r>
              <a:rPr lang="en-US" sz="1100" b="1" dirty="0">
                <a:solidFill>
                  <a:srgbClr val="FFFFFF"/>
                </a:solidFill>
              </a:rPr>
              <a:t>Instructions</a:t>
            </a:r>
            <a:endParaRPr lang="en-US" sz="1100" dirty="0"/>
          </a:p>
        </p:txBody>
      </p:sp>
      <p:sp>
        <p:nvSpPr>
          <p:cNvPr id="6" name="Shape 4"/>
          <p:cNvSpPr/>
          <p:nvPr/>
        </p:nvSpPr>
        <p:spPr>
          <a:xfrm>
            <a:off x="1993392" y="1188720"/>
            <a:ext cx="1554480" cy="914400"/>
          </a:xfrm>
          <a:prstGeom prst="roundRect">
            <a:avLst>
              <a:gd name="adj" fmla="val 8000"/>
            </a:avLst>
          </a:prstGeom>
          <a:solidFill>
            <a:srgbClr val="990000"/>
          </a:solidFill>
          <a:ln w="12700">
            <a:solidFill>
              <a:srgbClr val="990000"/>
            </a:solidFill>
            <a:prstDash val="solid"/>
          </a:ln>
        </p:spPr>
      </p:sp>
      <p:sp>
        <p:nvSpPr>
          <p:cNvPr id="7" name="Text 5"/>
          <p:cNvSpPr/>
          <p:nvPr/>
        </p:nvSpPr>
        <p:spPr>
          <a:xfrm>
            <a:off x="1993392" y="1188720"/>
            <a:ext cx="1554480" cy="914400"/>
          </a:xfrm>
          <a:prstGeom prst="rect">
            <a:avLst/>
          </a:prstGeom>
          <a:noFill/>
          <a:ln/>
        </p:spPr>
        <p:txBody>
          <a:bodyPr wrap="square" rtlCol="0" anchor="ctr"/>
          <a:lstStyle/>
          <a:p>
            <a:pPr algn="ctr" indent="0" marL="0">
              <a:buNone/>
            </a:pPr>
            <a:r>
              <a:rPr lang="en-US" sz="1100" b="1" dirty="0">
                <a:solidFill>
                  <a:srgbClr val="FFFFFF"/>
                </a:solidFill>
              </a:rPr>
              <a:t>RAG</a:t>
            </a:r>
            <a:endParaRPr lang="en-US" sz="1100" dirty="0"/>
          </a:p>
          <a:p>
            <a:pPr algn="ctr" indent="0" marL="0">
              <a:buNone/>
            </a:pPr>
            <a:r>
              <a:rPr lang="en-US" sz="1100" b="1" dirty="0">
                <a:solidFill>
                  <a:srgbClr val="FFFFFF"/>
                </a:solidFill>
              </a:rPr>
              <a:t>Knowledge</a:t>
            </a:r>
            <a:endParaRPr lang="en-US" sz="1100" dirty="0"/>
          </a:p>
        </p:txBody>
      </p:sp>
      <p:sp>
        <p:nvSpPr>
          <p:cNvPr id="8" name="Shape 6"/>
          <p:cNvSpPr/>
          <p:nvPr/>
        </p:nvSpPr>
        <p:spPr>
          <a:xfrm>
            <a:off x="3621024" y="1188720"/>
            <a:ext cx="1554480" cy="914400"/>
          </a:xfrm>
          <a:prstGeom prst="roundRect">
            <a:avLst>
              <a:gd name="adj" fmla="val 8000"/>
            </a:avLst>
          </a:prstGeom>
          <a:solidFill>
            <a:srgbClr val="770000"/>
          </a:solidFill>
          <a:ln w="12700">
            <a:solidFill>
              <a:srgbClr val="770000"/>
            </a:solidFill>
            <a:prstDash val="solid"/>
          </a:ln>
        </p:spPr>
      </p:sp>
      <p:sp>
        <p:nvSpPr>
          <p:cNvPr id="9" name="Text 7"/>
          <p:cNvSpPr/>
          <p:nvPr/>
        </p:nvSpPr>
        <p:spPr>
          <a:xfrm>
            <a:off x="3621024" y="1188720"/>
            <a:ext cx="1554480" cy="914400"/>
          </a:xfrm>
          <a:prstGeom prst="rect">
            <a:avLst/>
          </a:prstGeom>
          <a:noFill/>
          <a:ln/>
        </p:spPr>
        <p:txBody>
          <a:bodyPr wrap="square" rtlCol="0" anchor="ctr"/>
          <a:lstStyle/>
          <a:p>
            <a:pPr algn="ctr" indent="0" marL="0">
              <a:buNone/>
            </a:pPr>
            <a:r>
              <a:rPr lang="en-US" sz="1100" b="1" dirty="0">
                <a:solidFill>
                  <a:srgbClr val="FFFFFF"/>
                </a:solidFill>
              </a:rPr>
              <a:t>Tool</a:t>
            </a:r>
            <a:endParaRPr lang="en-US" sz="1100" dirty="0"/>
          </a:p>
          <a:p>
            <a:pPr algn="ctr" indent="0" marL="0">
              <a:buNone/>
            </a:pPr>
            <a:r>
              <a:rPr lang="en-US" sz="1100" b="1" dirty="0">
                <a:solidFill>
                  <a:srgbClr val="FFFFFF"/>
                </a:solidFill>
              </a:rPr>
              <a:t>Outputs</a:t>
            </a:r>
            <a:endParaRPr lang="en-US" sz="1100" dirty="0"/>
          </a:p>
        </p:txBody>
      </p:sp>
      <p:sp>
        <p:nvSpPr>
          <p:cNvPr id="10" name="Shape 8"/>
          <p:cNvSpPr/>
          <p:nvPr/>
        </p:nvSpPr>
        <p:spPr>
          <a:xfrm>
            <a:off x="5248656" y="1188720"/>
            <a:ext cx="1554480" cy="914400"/>
          </a:xfrm>
          <a:prstGeom prst="roundRect">
            <a:avLst>
              <a:gd name="adj" fmla="val 8000"/>
            </a:avLst>
          </a:prstGeom>
          <a:solidFill>
            <a:srgbClr val="550000"/>
          </a:solidFill>
          <a:ln w="12700">
            <a:solidFill>
              <a:srgbClr val="550000"/>
            </a:solidFill>
            <a:prstDash val="solid"/>
          </a:ln>
        </p:spPr>
      </p:sp>
      <p:sp>
        <p:nvSpPr>
          <p:cNvPr id="11" name="Text 9"/>
          <p:cNvSpPr/>
          <p:nvPr/>
        </p:nvSpPr>
        <p:spPr>
          <a:xfrm>
            <a:off x="5248656" y="1188720"/>
            <a:ext cx="1554480" cy="914400"/>
          </a:xfrm>
          <a:prstGeom prst="rect">
            <a:avLst/>
          </a:prstGeom>
          <a:noFill/>
          <a:ln/>
        </p:spPr>
        <p:txBody>
          <a:bodyPr wrap="square" rtlCol="0" anchor="ctr"/>
          <a:lstStyle/>
          <a:p>
            <a:pPr algn="ctr" indent="0" marL="0">
              <a:buNone/>
            </a:pPr>
            <a:r>
              <a:rPr lang="en-US" sz="1100" b="1" dirty="0">
                <a:solidFill>
                  <a:srgbClr val="FFFFFF"/>
                </a:solidFill>
              </a:rPr>
              <a:t>Chat</a:t>
            </a:r>
            <a:endParaRPr lang="en-US" sz="1100" dirty="0"/>
          </a:p>
          <a:p>
            <a:pPr algn="ctr" indent="0" marL="0">
              <a:buNone/>
            </a:pPr>
            <a:r>
              <a:rPr lang="en-US" sz="1100" b="1" dirty="0">
                <a:solidFill>
                  <a:srgbClr val="FFFFFF"/>
                </a:solidFill>
              </a:rPr>
              <a:t>History</a:t>
            </a:r>
            <a:endParaRPr lang="en-US" sz="1100" dirty="0"/>
          </a:p>
        </p:txBody>
      </p:sp>
      <p:sp>
        <p:nvSpPr>
          <p:cNvPr id="12" name="Shape 10"/>
          <p:cNvSpPr/>
          <p:nvPr/>
        </p:nvSpPr>
        <p:spPr>
          <a:xfrm>
            <a:off x="6876288" y="1188720"/>
            <a:ext cx="1554480" cy="914400"/>
          </a:xfrm>
          <a:prstGeom prst="roundRect">
            <a:avLst>
              <a:gd name="adj" fmla="val 8000"/>
            </a:avLst>
          </a:prstGeom>
          <a:solidFill>
            <a:srgbClr val="330000"/>
          </a:solidFill>
          <a:ln w="12700">
            <a:solidFill>
              <a:srgbClr val="330000"/>
            </a:solidFill>
            <a:prstDash val="solid"/>
          </a:ln>
        </p:spPr>
      </p:sp>
      <p:sp>
        <p:nvSpPr>
          <p:cNvPr id="13" name="Text 11"/>
          <p:cNvSpPr/>
          <p:nvPr/>
        </p:nvSpPr>
        <p:spPr>
          <a:xfrm>
            <a:off x="6876288" y="1188720"/>
            <a:ext cx="1554480" cy="914400"/>
          </a:xfrm>
          <a:prstGeom prst="rect">
            <a:avLst/>
          </a:prstGeom>
          <a:noFill/>
          <a:ln/>
        </p:spPr>
        <p:txBody>
          <a:bodyPr wrap="square" rtlCol="0" anchor="ctr"/>
          <a:lstStyle/>
          <a:p>
            <a:pPr algn="ctr" indent="0" marL="0">
              <a:buNone/>
            </a:pPr>
            <a:r>
              <a:rPr lang="en-US" sz="1100" b="1" dirty="0">
                <a:solidFill>
                  <a:srgbClr val="FFFFFF"/>
                </a:solidFill>
              </a:rPr>
              <a:t>Agent</a:t>
            </a:r>
            <a:endParaRPr lang="en-US" sz="1100" dirty="0"/>
          </a:p>
          <a:p>
            <a:pPr algn="ctr" indent="0" marL="0">
              <a:buNone/>
            </a:pPr>
            <a:r>
              <a:rPr lang="en-US" sz="1100" b="1" dirty="0">
                <a:solidFill>
                  <a:srgbClr val="FFFFFF"/>
                </a:solidFill>
              </a:rPr>
              <a:t>State</a:t>
            </a:r>
            <a:endParaRPr lang="en-US" sz="1100" dirty="0"/>
          </a:p>
        </p:txBody>
      </p:sp>
      <p:sp>
        <p:nvSpPr>
          <p:cNvPr id="14" name="Text 12"/>
          <p:cNvSpPr/>
          <p:nvPr/>
        </p:nvSpPr>
        <p:spPr>
          <a:xfrm>
            <a:off x="365760" y="2176272"/>
            <a:ext cx="8412480" cy="274320"/>
          </a:xfrm>
          <a:prstGeom prst="rect">
            <a:avLst/>
          </a:prstGeom>
          <a:noFill/>
          <a:ln/>
        </p:spPr>
        <p:txBody>
          <a:bodyPr wrap="square" rtlCol="0" anchor="ctr"/>
          <a:lstStyle/>
          <a:p>
            <a:pPr algn="ctr" indent="0" marL="0">
              <a:buNone/>
            </a:pPr>
            <a:r>
              <a:rPr lang="en-US" sz="1000" i="1" dirty="0">
                <a:solidFill>
                  <a:srgbClr val="888888"/>
                </a:solidFill>
              </a:rPr>
              <a:t>← All of this is what the AI sees in a single interaction →</a:t>
            </a:r>
            <a:endParaRPr lang="en-US" sz="1000" dirty="0"/>
          </a:p>
        </p:txBody>
      </p:sp>
      <p:sp>
        <p:nvSpPr>
          <p:cNvPr id="15" name="Text 13"/>
          <p:cNvSpPr/>
          <p:nvPr/>
        </p:nvSpPr>
        <p:spPr>
          <a:xfrm>
            <a:off x="365760" y="2542032"/>
            <a:ext cx="8412480" cy="320040"/>
          </a:xfrm>
          <a:prstGeom prst="rect">
            <a:avLst/>
          </a:prstGeom>
          <a:noFill/>
          <a:ln/>
        </p:spPr>
        <p:txBody>
          <a:bodyPr wrap="square" rtlCol="0" anchor="ctr"/>
          <a:lstStyle/>
          <a:p>
            <a:pPr indent="0" marL="0">
              <a:buNone/>
            </a:pPr>
            <a:r>
              <a:rPr lang="en-US" sz="1300" b="1" dirty="0">
                <a:solidFill>
                  <a:srgbClr val="1A1A1A"/>
                </a:solidFill>
              </a:rPr>
              <a:t>Context Window Sizes — Think of it as shelf space for information</a:t>
            </a:r>
            <a:endParaRPr lang="en-US" sz="1300" dirty="0"/>
          </a:p>
        </p:txBody>
      </p:sp>
      <p:sp>
        <p:nvSpPr>
          <p:cNvPr id="16" name="Text 14"/>
          <p:cNvSpPr/>
          <p:nvPr/>
        </p:nvSpPr>
        <p:spPr>
          <a:xfrm>
            <a:off x="365760" y="2944368"/>
            <a:ext cx="1828800" cy="320040"/>
          </a:xfrm>
          <a:prstGeom prst="rect">
            <a:avLst/>
          </a:prstGeom>
          <a:noFill/>
          <a:ln/>
        </p:spPr>
        <p:txBody>
          <a:bodyPr wrap="square" rtlCol="0" anchor="ctr"/>
          <a:lstStyle/>
          <a:p>
            <a:pPr indent="0" marL="0">
              <a:buNone/>
            </a:pPr>
            <a:r>
              <a:rPr lang="en-US" sz="1100" dirty="0">
                <a:solidFill>
                  <a:srgbClr val="444444"/>
                </a:solidFill>
              </a:rPr>
              <a:t>GPT-4o</a:t>
            </a:r>
            <a:endParaRPr lang="en-US" sz="1100" dirty="0"/>
          </a:p>
        </p:txBody>
      </p:sp>
      <p:sp>
        <p:nvSpPr>
          <p:cNvPr id="17" name="Shape 15"/>
          <p:cNvSpPr/>
          <p:nvPr/>
        </p:nvSpPr>
        <p:spPr>
          <a:xfrm>
            <a:off x="2286000" y="2990088"/>
            <a:ext cx="5943600" cy="228600"/>
          </a:xfrm>
          <a:prstGeom prst="roundRect">
            <a:avLst>
              <a:gd name="adj" fmla="val 16000"/>
            </a:avLst>
          </a:prstGeom>
          <a:solidFill>
            <a:srgbClr val="E0E0E0"/>
          </a:solidFill>
          <a:ln w="12700">
            <a:solidFill>
              <a:srgbClr val="E0E0E0"/>
            </a:solidFill>
            <a:prstDash val="solid"/>
          </a:ln>
        </p:spPr>
      </p:sp>
      <p:sp>
        <p:nvSpPr>
          <p:cNvPr id="18" name="Shape 16"/>
          <p:cNvSpPr/>
          <p:nvPr/>
        </p:nvSpPr>
        <p:spPr>
          <a:xfrm>
            <a:off x="2286000" y="2990088"/>
            <a:ext cx="1069848" cy="228600"/>
          </a:xfrm>
          <a:prstGeom prst="roundRect">
            <a:avLst>
              <a:gd name="adj" fmla="val 16000"/>
            </a:avLst>
          </a:prstGeom>
          <a:solidFill>
            <a:srgbClr val="CC0000"/>
          </a:solidFill>
          <a:ln w="12700">
            <a:solidFill>
              <a:srgbClr val="CC0000"/>
            </a:solidFill>
            <a:prstDash val="solid"/>
          </a:ln>
        </p:spPr>
      </p:sp>
      <p:sp>
        <p:nvSpPr>
          <p:cNvPr id="19" name="Text 17"/>
          <p:cNvSpPr/>
          <p:nvPr/>
        </p:nvSpPr>
        <p:spPr>
          <a:xfrm>
            <a:off x="8321040" y="2944368"/>
            <a:ext cx="822960" cy="320040"/>
          </a:xfrm>
          <a:prstGeom prst="rect">
            <a:avLst/>
          </a:prstGeom>
          <a:noFill/>
          <a:ln/>
        </p:spPr>
        <p:txBody>
          <a:bodyPr wrap="square" rtlCol="0" anchor="ctr"/>
          <a:lstStyle/>
          <a:p>
            <a:pPr indent="0" marL="0">
              <a:buNone/>
            </a:pPr>
            <a:r>
              <a:rPr lang="en-US" sz="1000" b="1" dirty="0">
                <a:solidFill>
                  <a:srgbClr val="1A1A1A"/>
                </a:solidFill>
              </a:rPr>
              <a:t>128K tokens</a:t>
            </a:r>
            <a:endParaRPr lang="en-US" sz="1000" dirty="0"/>
          </a:p>
        </p:txBody>
      </p:sp>
      <p:sp>
        <p:nvSpPr>
          <p:cNvPr id="20" name="Text 18"/>
          <p:cNvSpPr/>
          <p:nvPr/>
        </p:nvSpPr>
        <p:spPr>
          <a:xfrm>
            <a:off x="365760" y="3355848"/>
            <a:ext cx="1828800" cy="320040"/>
          </a:xfrm>
          <a:prstGeom prst="rect">
            <a:avLst/>
          </a:prstGeom>
          <a:noFill/>
          <a:ln/>
        </p:spPr>
        <p:txBody>
          <a:bodyPr wrap="square" rtlCol="0" anchor="ctr"/>
          <a:lstStyle/>
          <a:p>
            <a:pPr indent="0" marL="0">
              <a:buNone/>
            </a:pPr>
            <a:r>
              <a:rPr lang="en-US" sz="1100" dirty="0">
                <a:solidFill>
                  <a:srgbClr val="444444"/>
                </a:solidFill>
              </a:rPr>
              <a:t>Claude 4 Sonnet</a:t>
            </a:r>
            <a:endParaRPr lang="en-US" sz="1100" dirty="0"/>
          </a:p>
        </p:txBody>
      </p:sp>
      <p:sp>
        <p:nvSpPr>
          <p:cNvPr id="21" name="Shape 19"/>
          <p:cNvSpPr/>
          <p:nvPr/>
        </p:nvSpPr>
        <p:spPr>
          <a:xfrm>
            <a:off x="2286000" y="3401568"/>
            <a:ext cx="5943600" cy="228600"/>
          </a:xfrm>
          <a:prstGeom prst="roundRect">
            <a:avLst>
              <a:gd name="adj" fmla="val 16000"/>
            </a:avLst>
          </a:prstGeom>
          <a:solidFill>
            <a:srgbClr val="E0E0E0"/>
          </a:solidFill>
          <a:ln w="12700">
            <a:solidFill>
              <a:srgbClr val="E0E0E0"/>
            </a:solidFill>
            <a:prstDash val="solid"/>
          </a:ln>
        </p:spPr>
      </p:sp>
      <p:sp>
        <p:nvSpPr>
          <p:cNvPr id="22" name="Shape 20"/>
          <p:cNvSpPr/>
          <p:nvPr/>
        </p:nvSpPr>
        <p:spPr>
          <a:xfrm>
            <a:off x="2286000" y="3401568"/>
            <a:ext cx="1664208" cy="228600"/>
          </a:xfrm>
          <a:prstGeom prst="roundRect">
            <a:avLst>
              <a:gd name="adj" fmla="val 16000"/>
            </a:avLst>
          </a:prstGeom>
          <a:solidFill>
            <a:srgbClr val="CC0000"/>
          </a:solidFill>
          <a:ln w="12700">
            <a:solidFill>
              <a:srgbClr val="CC0000"/>
            </a:solidFill>
            <a:prstDash val="solid"/>
          </a:ln>
        </p:spPr>
      </p:sp>
      <p:sp>
        <p:nvSpPr>
          <p:cNvPr id="23" name="Text 21"/>
          <p:cNvSpPr/>
          <p:nvPr/>
        </p:nvSpPr>
        <p:spPr>
          <a:xfrm>
            <a:off x="8321040" y="3355848"/>
            <a:ext cx="822960" cy="320040"/>
          </a:xfrm>
          <a:prstGeom prst="rect">
            <a:avLst/>
          </a:prstGeom>
          <a:noFill/>
          <a:ln/>
        </p:spPr>
        <p:txBody>
          <a:bodyPr wrap="square" rtlCol="0" anchor="ctr"/>
          <a:lstStyle/>
          <a:p>
            <a:pPr indent="0" marL="0">
              <a:buNone/>
            </a:pPr>
            <a:r>
              <a:rPr lang="en-US" sz="1000" b="1" dirty="0">
                <a:solidFill>
                  <a:srgbClr val="1A1A1A"/>
                </a:solidFill>
              </a:rPr>
              <a:t>200K tokens</a:t>
            </a:r>
            <a:endParaRPr lang="en-US" sz="1000" dirty="0"/>
          </a:p>
        </p:txBody>
      </p:sp>
      <p:sp>
        <p:nvSpPr>
          <p:cNvPr id="24" name="Text 22"/>
          <p:cNvSpPr/>
          <p:nvPr/>
        </p:nvSpPr>
        <p:spPr>
          <a:xfrm>
            <a:off x="365760" y="3767328"/>
            <a:ext cx="1828800" cy="320040"/>
          </a:xfrm>
          <a:prstGeom prst="rect">
            <a:avLst/>
          </a:prstGeom>
          <a:noFill/>
          <a:ln/>
        </p:spPr>
        <p:txBody>
          <a:bodyPr wrap="square" rtlCol="0" anchor="ctr"/>
          <a:lstStyle/>
          <a:p>
            <a:pPr indent="0" marL="0">
              <a:buNone/>
            </a:pPr>
            <a:r>
              <a:rPr lang="en-US" sz="1100" dirty="0">
                <a:solidFill>
                  <a:srgbClr val="444444"/>
                </a:solidFill>
              </a:rPr>
              <a:t>GPT-5</a:t>
            </a:r>
            <a:endParaRPr lang="en-US" sz="1100" dirty="0"/>
          </a:p>
        </p:txBody>
      </p:sp>
      <p:sp>
        <p:nvSpPr>
          <p:cNvPr id="25" name="Shape 23"/>
          <p:cNvSpPr/>
          <p:nvPr/>
        </p:nvSpPr>
        <p:spPr>
          <a:xfrm>
            <a:off x="2286000" y="3813048"/>
            <a:ext cx="5943600" cy="228600"/>
          </a:xfrm>
          <a:prstGeom prst="roundRect">
            <a:avLst>
              <a:gd name="adj" fmla="val 16000"/>
            </a:avLst>
          </a:prstGeom>
          <a:solidFill>
            <a:srgbClr val="E0E0E0"/>
          </a:solidFill>
          <a:ln w="12700">
            <a:solidFill>
              <a:srgbClr val="E0E0E0"/>
            </a:solidFill>
            <a:prstDash val="solid"/>
          </a:ln>
        </p:spPr>
      </p:sp>
      <p:sp>
        <p:nvSpPr>
          <p:cNvPr id="26" name="Shape 24"/>
          <p:cNvSpPr/>
          <p:nvPr/>
        </p:nvSpPr>
        <p:spPr>
          <a:xfrm>
            <a:off x="2286000" y="3813048"/>
            <a:ext cx="3328416" cy="228600"/>
          </a:xfrm>
          <a:prstGeom prst="roundRect">
            <a:avLst>
              <a:gd name="adj" fmla="val 16000"/>
            </a:avLst>
          </a:prstGeom>
          <a:solidFill>
            <a:srgbClr val="CC0000"/>
          </a:solidFill>
          <a:ln w="12700">
            <a:solidFill>
              <a:srgbClr val="CC0000"/>
            </a:solidFill>
            <a:prstDash val="solid"/>
          </a:ln>
        </p:spPr>
      </p:sp>
      <p:sp>
        <p:nvSpPr>
          <p:cNvPr id="27" name="Text 25"/>
          <p:cNvSpPr/>
          <p:nvPr/>
        </p:nvSpPr>
        <p:spPr>
          <a:xfrm>
            <a:off x="8321040" y="3767328"/>
            <a:ext cx="822960" cy="320040"/>
          </a:xfrm>
          <a:prstGeom prst="rect">
            <a:avLst/>
          </a:prstGeom>
          <a:noFill/>
          <a:ln/>
        </p:spPr>
        <p:txBody>
          <a:bodyPr wrap="square" rtlCol="0" anchor="ctr"/>
          <a:lstStyle/>
          <a:p>
            <a:pPr indent="0" marL="0">
              <a:buNone/>
            </a:pPr>
            <a:r>
              <a:rPr lang="en-US" sz="1000" b="1" dirty="0">
                <a:solidFill>
                  <a:srgbClr val="1A1A1A"/>
                </a:solidFill>
              </a:rPr>
              <a:t>400K tokens</a:t>
            </a:r>
            <a:endParaRPr lang="en-US" sz="1000" dirty="0"/>
          </a:p>
        </p:txBody>
      </p:sp>
      <p:sp>
        <p:nvSpPr>
          <p:cNvPr id="28" name="Text 26"/>
          <p:cNvSpPr/>
          <p:nvPr/>
        </p:nvSpPr>
        <p:spPr>
          <a:xfrm>
            <a:off x="365760" y="4178808"/>
            <a:ext cx="1828800" cy="320040"/>
          </a:xfrm>
          <a:prstGeom prst="rect">
            <a:avLst/>
          </a:prstGeom>
          <a:noFill/>
          <a:ln/>
        </p:spPr>
        <p:txBody>
          <a:bodyPr wrap="square" rtlCol="0" anchor="ctr"/>
          <a:lstStyle/>
          <a:p>
            <a:pPr indent="0" marL="0">
              <a:buNone/>
            </a:pPr>
            <a:r>
              <a:rPr lang="en-US" sz="1100" dirty="0">
                <a:solidFill>
                  <a:srgbClr val="444444"/>
                </a:solidFill>
              </a:rPr>
              <a:t>Gemini 2.5 Pro</a:t>
            </a:r>
            <a:endParaRPr lang="en-US" sz="1100" dirty="0"/>
          </a:p>
        </p:txBody>
      </p:sp>
      <p:sp>
        <p:nvSpPr>
          <p:cNvPr id="29" name="Shape 27"/>
          <p:cNvSpPr/>
          <p:nvPr/>
        </p:nvSpPr>
        <p:spPr>
          <a:xfrm>
            <a:off x="2286000" y="4224528"/>
            <a:ext cx="5943600" cy="228600"/>
          </a:xfrm>
          <a:prstGeom prst="roundRect">
            <a:avLst>
              <a:gd name="adj" fmla="val 16000"/>
            </a:avLst>
          </a:prstGeom>
          <a:solidFill>
            <a:srgbClr val="E0E0E0"/>
          </a:solidFill>
          <a:ln w="12700">
            <a:solidFill>
              <a:srgbClr val="E0E0E0"/>
            </a:solidFill>
            <a:prstDash val="solid"/>
          </a:ln>
        </p:spPr>
      </p:sp>
      <p:sp>
        <p:nvSpPr>
          <p:cNvPr id="30" name="Shape 28"/>
          <p:cNvSpPr/>
          <p:nvPr/>
        </p:nvSpPr>
        <p:spPr>
          <a:xfrm>
            <a:off x="2286000" y="4224528"/>
            <a:ext cx="5943600" cy="228600"/>
          </a:xfrm>
          <a:prstGeom prst="roundRect">
            <a:avLst>
              <a:gd name="adj" fmla="val 16000"/>
            </a:avLst>
          </a:prstGeom>
          <a:solidFill>
            <a:srgbClr val="CC0000"/>
          </a:solidFill>
          <a:ln w="12700">
            <a:solidFill>
              <a:srgbClr val="CC0000"/>
            </a:solidFill>
            <a:prstDash val="solid"/>
          </a:ln>
        </p:spPr>
      </p:sp>
      <p:sp>
        <p:nvSpPr>
          <p:cNvPr id="31" name="Text 29"/>
          <p:cNvSpPr/>
          <p:nvPr/>
        </p:nvSpPr>
        <p:spPr>
          <a:xfrm>
            <a:off x="8321040" y="4178808"/>
            <a:ext cx="822960" cy="320040"/>
          </a:xfrm>
          <a:prstGeom prst="rect">
            <a:avLst/>
          </a:prstGeom>
          <a:noFill/>
          <a:ln/>
        </p:spPr>
        <p:txBody>
          <a:bodyPr wrap="square" rtlCol="0" anchor="ctr"/>
          <a:lstStyle/>
          <a:p>
            <a:pPr indent="0" marL="0">
              <a:buNone/>
            </a:pPr>
            <a:r>
              <a:rPr lang="en-US" sz="1000" b="1" dirty="0">
                <a:solidFill>
                  <a:srgbClr val="1A1A1A"/>
                </a:solidFill>
              </a:rPr>
              <a:t>1M tokens</a:t>
            </a:r>
            <a:endParaRPr lang="en-US" sz="1000" dirty="0"/>
          </a:p>
        </p:txBody>
      </p:sp>
      <p:sp>
        <p:nvSpPr>
          <p:cNvPr id="32" name="Text 30"/>
          <p:cNvSpPr/>
          <p:nvPr/>
        </p:nvSpPr>
        <p:spPr>
          <a:xfrm>
            <a:off x="365760" y="4663440"/>
            <a:ext cx="8412480" cy="228600"/>
          </a:xfrm>
          <a:prstGeom prst="rect">
            <a:avLst/>
          </a:prstGeom>
          <a:noFill/>
          <a:ln/>
        </p:spPr>
        <p:txBody>
          <a:bodyPr wrap="square" rtlCol="0" anchor="ctr"/>
          <a:lstStyle/>
          <a:p>
            <a:pPr indent="0" marL="0">
              <a:buNone/>
            </a:pPr>
            <a:r>
              <a:rPr lang="en-US" sz="900" i="1" dirty="0">
                <a:solidFill>
                  <a:srgbClr val="888888"/>
                </a:solidFill>
              </a:rPr>
              <a:t>Tokens ≈ ¾ of a word. Bigger context means more information available — but quality of what you put in matters more than size.</a:t>
            </a:r>
            <a:endParaRPr lang="en-US" sz="900" dirty="0"/>
          </a:p>
        </p:txBody>
      </p:sp>
      <p:sp>
        <p:nvSpPr>
          <p:cNvPr id="33" name="Text 31"/>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365760" y="109728"/>
            <a:ext cx="8412480" cy="201168"/>
          </a:xfrm>
          <a:prstGeom prst="rect">
            <a:avLst/>
          </a:prstGeom>
          <a:noFill/>
          <a:ln/>
        </p:spPr>
        <p:txBody>
          <a:bodyPr wrap="square" rtlCol="0" anchor="ctr"/>
          <a:lstStyle/>
          <a:p>
            <a:pPr indent="0" marL="0">
              <a:buNone/>
            </a:pPr>
            <a:r>
              <a:rPr lang="en-US" sz="900" b="1" spc="400" kern="0" dirty="0">
                <a:solidFill>
                  <a:srgbClr val="CC0000"/>
                </a:solidFill>
              </a:rPr>
              <a:t>REALITY CHECK</a:t>
            </a:r>
            <a:endParaRPr lang="en-US" sz="900" dirty="0"/>
          </a:p>
        </p:txBody>
      </p:sp>
      <p:sp>
        <p:nvSpPr>
          <p:cNvPr id="3" name="Text 1"/>
          <p:cNvSpPr/>
          <p:nvPr/>
        </p:nvSpPr>
        <p:spPr>
          <a:xfrm>
            <a:off x="365760" y="292608"/>
            <a:ext cx="8412480" cy="475488"/>
          </a:xfrm>
          <a:prstGeom prst="rect">
            <a:avLst/>
          </a:prstGeom>
          <a:noFill/>
          <a:ln/>
        </p:spPr>
        <p:txBody>
          <a:bodyPr wrap="square"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Common Problems — &amp; How to Fix Them</a:t>
            </a:r>
            <a:endParaRPr lang="en-US" sz="2200" dirty="0"/>
          </a:p>
        </p:txBody>
      </p:sp>
      <p:sp>
        <p:nvSpPr>
          <p:cNvPr id="4" name="Shape 2"/>
          <p:cNvSpPr/>
          <p:nvPr/>
        </p:nvSpPr>
        <p:spPr>
          <a:xfrm>
            <a:off x="274320" y="8686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5" name="Shape 3"/>
          <p:cNvSpPr/>
          <p:nvPr/>
        </p:nvSpPr>
        <p:spPr>
          <a:xfrm>
            <a:off x="274320" y="868680"/>
            <a:ext cx="4251960" cy="457200"/>
          </a:xfrm>
          <a:prstGeom prst="roundRect">
            <a:avLst>
              <a:gd name="adj" fmla="val 20000"/>
            </a:avLst>
          </a:prstGeom>
          <a:solidFill>
            <a:srgbClr val="990000"/>
          </a:solidFill>
          <a:ln w="12700">
            <a:solidFill>
              <a:srgbClr val="990000"/>
            </a:solidFill>
            <a:prstDash val="solid"/>
          </a:ln>
        </p:spPr>
      </p:sp>
      <p:sp>
        <p:nvSpPr>
          <p:cNvPr id="6" name="Shape 4"/>
          <p:cNvSpPr/>
          <p:nvPr/>
        </p:nvSpPr>
        <p:spPr>
          <a:xfrm>
            <a:off x="274320" y="1161288"/>
            <a:ext cx="4251960" cy="164592"/>
          </a:xfrm>
          <a:prstGeom prst="rect">
            <a:avLst/>
          </a:prstGeom>
          <a:solidFill>
            <a:srgbClr val="990000"/>
          </a:solidFill>
          <a:ln w="12700">
            <a:solidFill>
              <a:srgbClr val="990000"/>
            </a:solidFill>
            <a:prstDash val="solid"/>
          </a:ln>
        </p:spPr>
      </p:sp>
      <p:sp>
        <p:nvSpPr>
          <p:cNvPr id="7" name="Shape 5"/>
          <p:cNvSpPr/>
          <p:nvPr/>
        </p:nvSpPr>
        <p:spPr>
          <a:xfrm>
            <a:off x="365760" y="932688"/>
            <a:ext cx="329184" cy="329184"/>
          </a:xfrm>
          <a:prstGeom prst="ellipse">
            <a:avLst/>
          </a:prstGeom>
          <a:solidFill>
            <a:srgbClr val="FFCD41"/>
          </a:solidFill>
          <a:ln w="12700">
            <a:solidFill>
              <a:srgbClr val="FFCD41"/>
            </a:solidFill>
            <a:prstDash val="solid"/>
          </a:ln>
        </p:spPr>
      </p:sp>
      <p:sp>
        <p:nvSpPr>
          <p:cNvPr id="8" name="Text 6"/>
          <p:cNvSpPr/>
          <p:nvPr/>
        </p:nvSpPr>
        <p:spPr>
          <a:xfrm>
            <a:off x="365760" y="9326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9" name="Text 7"/>
          <p:cNvSpPr/>
          <p:nvPr/>
        </p:nvSpPr>
        <p:spPr>
          <a:xfrm>
            <a:off x="749808" y="9509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Lost in the Middle</a:t>
            </a:r>
            <a:endParaRPr lang="en-US" sz="1200" dirty="0"/>
          </a:p>
        </p:txBody>
      </p:sp>
      <p:sp>
        <p:nvSpPr>
          <p:cNvPr id="10" name="Text 8"/>
          <p:cNvSpPr/>
          <p:nvPr/>
        </p:nvSpPr>
        <p:spPr>
          <a:xfrm>
            <a:off x="411480" y="1362456"/>
            <a:ext cx="3977640" cy="201168"/>
          </a:xfrm>
          <a:prstGeom prst="rect">
            <a:avLst/>
          </a:prstGeom>
          <a:noFill/>
          <a:ln/>
        </p:spPr>
        <p:txBody>
          <a:bodyPr wrap="square" rtlCol="0" anchor="ctr"/>
          <a:lstStyle/>
          <a:p>
            <a:pPr indent="0" marL="0">
              <a:buNone/>
            </a:pPr>
            <a:r>
              <a:rPr lang="en-US" sz="900" i="1" dirty="0">
                <a:solidFill>
                  <a:srgbClr val="FFCCCC"/>
                </a:solidFill>
              </a:rPr>
              <a:t>Models recall info at the start/end far better than the middle.</a:t>
            </a:r>
            <a:endParaRPr lang="en-US" sz="900" dirty="0"/>
          </a:p>
        </p:txBody>
      </p:sp>
      <p:sp>
        <p:nvSpPr>
          <p:cNvPr id="11" name="Shape 9"/>
          <p:cNvSpPr/>
          <p:nvPr/>
        </p:nvSpPr>
        <p:spPr>
          <a:xfrm>
            <a:off x="411480" y="1581912"/>
            <a:ext cx="3977640" cy="0"/>
          </a:xfrm>
          <a:prstGeom prst="line">
            <a:avLst/>
          </a:prstGeom>
          <a:noFill/>
          <a:ln w="12700">
            <a:solidFill>
              <a:srgbClr val="FFCD41"/>
            </a:solidFill>
            <a:prstDash val="solid"/>
          </a:ln>
        </p:spPr>
      </p:sp>
      <p:sp>
        <p:nvSpPr>
          <p:cNvPr id="12" name="Text 10"/>
          <p:cNvSpPr/>
          <p:nvPr/>
        </p:nvSpPr>
        <p:spPr>
          <a:xfrm>
            <a:off x="411480" y="1618488"/>
            <a:ext cx="3977640" cy="228600"/>
          </a:xfrm>
          <a:prstGeom prst="rect">
            <a:avLst/>
          </a:prstGeom>
          <a:noFill/>
          <a:ln/>
        </p:spPr>
        <p:txBody>
          <a:bodyPr wrap="square" rtlCol="0" anchor="ctr"/>
          <a:lstStyle/>
          <a:p>
            <a:pPr indent="0" marL="0">
              <a:buNone/>
            </a:pPr>
            <a:r>
              <a:rPr lang="en-US" sz="1000" b="1" dirty="0">
                <a:solidFill>
                  <a:srgbClr val="FFCD41"/>
                </a:solidFill>
              </a:rPr>
              <a:t>✓  Structural Prompting</a:t>
            </a:r>
            <a:endParaRPr lang="en-US" sz="1000" dirty="0"/>
          </a:p>
        </p:txBody>
      </p:sp>
      <p:sp>
        <p:nvSpPr>
          <p:cNvPr id="13" name="Text 11"/>
          <p:cNvSpPr/>
          <p:nvPr/>
        </p:nvSpPr>
        <p:spPr>
          <a:xfrm>
            <a:off x="411480" y="1828800"/>
            <a:ext cx="3977640" cy="219456"/>
          </a:xfrm>
          <a:prstGeom prst="rect">
            <a:avLst/>
          </a:prstGeom>
          <a:noFill/>
          <a:ln/>
        </p:spPr>
        <p:txBody>
          <a:bodyPr wrap="square" rtlCol="0" anchor="ctr"/>
          <a:lstStyle/>
          <a:p>
            <a:pPr indent="0" marL="0">
              <a:buNone/>
            </a:pPr>
            <a:r>
              <a:rPr lang="en-US" sz="900" dirty="0">
                <a:solidFill>
                  <a:srgbClr val="FFFFFF"/>
                </a:solidFill>
              </a:rPr>
              <a:t>Place critical instructions at the very start AND end.</a:t>
            </a:r>
            <a:endParaRPr lang="en-US" sz="900" dirty="0"/>
          </a:p>
        </p:txBody>
      </p:sp>
      <p:sp>
        <p:nvSpPr>
          <p:cNvPr id="14" name="Shape 12"/>
          <p:cNvSpPr/>
          <p:nvPr/>
        </p:nvSpPr>
        <p:spPr>
          <a:xfrm>
            <a:off x="4754880" y="8686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15" name="Shape 13"/>
          <p:cNvSpPr/>
          <p:nvPr/>
        </p:nvSpPr>
        <p:spPr>
          <a:xfrm>
            <a:off x="4754880" y="868680"/>
            <a:ext cx="4251960" cy="457200"/>
          </a:xfrm>
          <a:prstGeom prst="roundRect">
            <a:avLst>
              <a:gd name="adj" fmla="val 20000"/>
            </a:avLst>
          </a:prstGeom>
          <a:solidFill>
            <a:srgbClr val="990000"/>
          </a:solidFill>
          <a:ln w="12700">
            <a:solidFill>
              <a:srgbClr val="990000"/>
            </a:solidFill>
            <a:prstDash val="solid"/>
          </a:ln>
        </p:spPr>
      </p:sp>
      <p:sp>
        <p:nvSpPr>
          <p:cNvPr id="16" name="Shape 14"/>
          <p:cNvSpPr/>
          <p:nvPr/>
        </p:nvSpPr>
        <p:spPr>
          <a:xfrm>
            <a:off x="4754880" y="1161288"/>
            <a:ext cx="4251960" cy="164592"/>
          </a:xfrm>
          <a:prstGeom prst="rect">
            <a:avLst/>
          </a:prstGeom>
          <a:solidFill>
            <a:srgbClr val="990000"/>
          </a:solidFill>
          <a:ln w="12700">
            <a:solidFill>
              <a:srgbClr val="990000"/>
            </a:solidFill>
            <a:prstDash val="solid"/>
          </a:ln>
        </p:spPr>
      </p:sp>
      <p:sp>
        <p:nvSpPr>
          <p:cNvPr id="17" name="Shape 15"/>
          <p:cNvSpPr/>
          <p:nvPr/>
        </p:nvSpPr>
        <p:spPr>
          <a:xfrm>
            <a:off x="4846320" y="932688"/>
            <a:ext cx="329184" cy="329184"/>
          </a:xfrm>
          <a:prstGeom prst="ellipse">
            <a:avLst/>
          </a:prstGeom>
          <a:solidFill>
            <a:srgbClr val="FFCD41"/>
          </a:solidFill>
          <a:ln w="12700">
            <a:solidFill>
              <a:srgbClr val="FFCD41"/>
            </a:solidFill>
            <a:prstDash val="solid"/>
          </a:ln>
        </p:spPr>
      </p:sp>
      <p:sp>
        <p:nvSpPr>
          <p:cNvPr id="18" name="Text 16"/>
          <p:cNvSpPr/>
          <p:nvPr/>
        </p:nvSpPr>
        <p:spPr>
          <a:xfrm>
            <a:off x="4846320" y="9326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19" name="Text 17"/>
          <p:cNvSpPr/>
          <p:nvPr/>
        </p:nvSpPr>
        <p:spPr>
          <a:xfrm>
            <a:off x="5230368" y="9509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Context Rot</a:t>
            </a:r>
            <a:endParaRPr lang="en-US" sz="1200" dirty="0"/>
          </a:p>
        </p:txBody>
      </p:sp>
      <p:sp>
        <p:nvSpPr>
          <p:cNvPr id="20" name="Text 18"/>
          <p:cNvSpPr/>
          <p:nvPr/>
        </p:nvSpPr>
        <p:spPr>
          <a:xfrm>
            <a:off x="4892040" y="1362456"/>
            <a:ext cx="3977640" cy="201168"/>
          </a:xfrm>
          <a:prstGeom prst="rect">
            <a:avLst/>
          </a:prstGeom>
          <a:noFill/>
          <a:ln/>
        </p:spPr>
        <p:txBody>
          <a:bodyPr wrap="square" rtlCol="0" anchor="ctr"/>
          <a:lstStyle/>
          <a:p>
            <a:pPr indent="0" marL="0">
              <a:buNone/>
            </a:pPr>
            <a:r>
              <a:rPr lang="en-US" sz="900" i="1" dirty="0">
                <a:solidFill>
                  <a:srgbClr val="FFCCCC"/>
                </a:solidFill>
              </a:rPr>
              <a:t>Accuracy degrades as length grows, even under the max limit.</a:t>
            </a:r>
            <a:endParaRPr lang="en-US" sz="900" dirty="0"/>
          </a:p>
        </p:txBody>
      </p:sp>
      <p:sp>
        <p:nvSpPr>
          <p:cNvPr id="21" name="Shape 19"/>
          <p:cNvSpPr/>
          <p:nvPr/>
        </p:nvSpPr>
        <p:spPr>
          <a:xfrm>
            <a:off x="4892040" y="1581912"/>
            <a:ext cx="3977640" cy="0"/>
          </a:xfrm>
          <a:prstGeom prst="line">
            <a:avLst/>
          </a:prstGeom>
          <a:noFill/>
          <a:ln w="12700">
            <a:solidFill>
              <a:srgbClr val="FFCD41"/>
            </a:solidFill>
            <a:prstDash val="solid"/>
          </a:ln>
        </p:spPr>
      </p:sp>
      <p:sp>
        <p:nvSpPr>
          <p:cNvPr id="22" name="Text 20"/>
          <p:cNvSpPr/>
          <p:nvPr/>
        </p:nvSpPr>
        <p:spPr>
          <a:xfrm>
            <a:off x="4892040" y="1618488"/>
            <a:ext cx="3977640" cy="228600"/>
          </a:xfrm>
          <a:prstGeom prst="rect">
            <a:avLst/>
          </a:prstGeom>
          <a:noFill/>
          <a:ln/>
        </p:spPr>
        <p:txBody>
          <a:bodyPr wrap="square" rtlCol="0" anchor="ctr"/>
          <a:lstStyle/>
          <a:p>
            <a:pPr indent="0" marL="0">
              <a:buNone/>
            </a:pPr>
            <a:r>
              <a:rPr lang="en-US" sz="1000" b="1" dirty="0">
                <a:solidFill>
                  <a:srgbClr val="FFCD41"/>
                </a:solidFill>
              </a:rPr>
              <a:t>✓  Hierarchical Summarization</a:t>
            </a:r>
            <a:endParaRPr lang="en-US" sz="1000" dirty="0"/>
          </a:p>
        </p:txBody>
      </p:sp>
      <p:sp>
        <p:nvSpPr>
          <p:cNvPr id="23" name="Text 21"/>
          <p:cNvSpPr/>
          <p:nvPr/>
        </p:nvSpPr>
        <p:spPr>
          <a:xfrm>
            <a:off x="4892040" y="1828800"/>
            <a:ext cx="3977640" cy="219456"/>
          </a:xfrm>
          <a:prstGeom prst="rect">
            <a:avLst/>
          </a:prstGeom>
          <a:noFill/>
          <a:ln/>
        </p:spPr>
        <p:txBody>
          <a:bodyPr wrap="square" rtlCol="0" anchor="ctr"/>
          <a:lstStyle/>
          <a:p>
            <a:pPr indent="0" marL="0">
              <a:buNone/>
            </a:pPr>
            <a:r>
              <a:rPr lang="en-US" sz="900" dirty="0">
                <a:solidFill>
                  <a:srgbClr val="FFFFFF"/>
                </a:solidFill>
              </a:rPr>
              <a:t>Compress older turns; keep recent turns verbatim.</a:t>
            </a:r>
            <a:endParaRPr lang="en-US" sz="900" dirty="0"/>
          </a:p>
        </p:txBody>
      </p:sp>
      <p:sp>
        <p:nvSpPr>
          <p:cNvPr id="24" name="Shape 22"/>
          <p:cNvSpPr/>
          <p:nvPr/>
        </p:nvSpPr>
        <p:spPr>
          <a:xfrm>
            <a:off x="274320" y="22402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25" name="Shape 23"/>
          <p:cNvSpPr/>
          <p:nvPr/>
        </p:nvSpPr>
        <p:spPr>
          <a:xfrm>
            <a:off x="274320" y="2240280"/>
            <a:ext cx="4251960" cy="457200"/>
          </a:xfrm>
          <a:prstGeom prst="roundRect">
            <a:avLst>
              <a:gd name="adj" fmla="val 20000"/>
            </a:avLst>
          </a:prstGeom>
          <a:solidFill>
            <a:srgbClr val="990000"/>
          </a:solidFill>
          <a:ln w="12700">
            <a:solidFill>
              <a:srgbClr val="990000"/>
            </a:solidFill>
            <a:prstDash val="solid"/>
          </a:ln>
        </p:spPr>
      </p:sp>
      <p:sp>
        <p:nvSpPr>
          <p:cNvPr id="26" name="Shape 24"/>
          <p:cNvSpPr/>
          <p:nvPr/>
        </p:nvSpPr>
        <p:spPr>
          <a:xfrm>
            <a:off x="274320" y="2532888"/>
            <a:ext cx="4251960" cy="164592"/>
          </a:xfrm>
          <a:prstGeom prst="rect">
            <a:avLst/>
          </a:prstGeom>
          <a:solidFill>
            <a:srgbClr val="990000"/>
          </a:solidFill>
          <a:ln w="12700">
            <a:solidFill>
              <a:srgbClr val="990000"/>
            </a:solidFill>
            <a:prstDash val="solid"/>
          </a:ln>
        </p:spPr>
      </p:sp>
      <p:sp>
        <p:nvSpPr>
          <p:cNvPr id="27" name="Shape 25"/>
          <p:cNvSpPr/>
          <p:nvPr/>
        </p:nvSpPr>
        <p:spPr>
          <a:xfrm>
            <a:off x="365760" y="2304288"/>
            <a:ext cx="329184" cy="329184"/>
          </a:xfrm>
          <a:prstGeom prst="ellipse">
            <a:avLst/>
          </a:prstGeom>
          <a:solidFill>
            <a:srgbClr val="FFCD41"/>
          </a:solidFill>
          <a:ln w="12700">
            <a:solidFill>
              <a:srgbClr val="FFCD41"/>
            </a:solidFill>
            <a:prstDash val="solid"/>
          </a:ln>
        </p:spPr>
      </p:sp>
      <p:sp>
        <p:nvSpPr>
          <p:cNvPr id="28" name="Text 26"/>
          <p:cNvSpPr/>
          <p:nvPr/>
        </p:nvSpPr>
        <p:spPr>
          <a:xfrm>
            <a:off x="365760" y="23042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29" name="Text 27"/>
          <p:cNvSpPr/>
          <p:nvPr/>
        </p:nvSpPr>
        <p:spPr>
          <a:xfrm>
            <a:off x="749808" y="23225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Cost &amp; Latency Scaling</a:t>
            </a:r>
            <a:endParaRPr lang="en-US" sz="1200" dirty="0"/>
          </a:p>
        </p:txBody>
      </p:sp>
      <p:sp>
        <p:nvSpPr>
          <p:cNvPr id="30" name="Text 28"/>
          <p:cNvSpPr/>
          <p:nvPr/>
        </p:nvSpPr>
        <p:spPr>
          <a:xfrm>
            <a:off x="411480" y="2734056"/>
            <a:ext cx="3977640" cy="201168"/>
          </a:xfrm>
          <a:prstGeom prst="rect">
            <a:avLst/>
          </a:prstGeom>
          <a:noFill/>
          <a:ln/>
        </p:spPr>
        <p:txBody>
          <a:bodyPr wrap="square" rtlCol="0" anchor="ctr"/>
          <a:lstStyle/>
          <a:p>
            <a:pPr indent="0" marL="0">
              <a:buNone/>
            </a:pPr>
            <a:r>
              <a:rPr lang="en-US" sz="900" i="1" dirty="0">
                <a:solidFill>
                  <a:srgbClr val="FFCCCC"/>
                </a:solidFill>
              </a:rPr>
              <a:t>Every token costs money and adds processing time.</a:t>
            </a:r>
            <a:endParaRPr lang="en-US" sz="900" dirty="0"/>
          </a:p>
        </p:txBody>
      </p:sp>
      <p:sp>
        <p:nvSpPr>
          <p:cNvPr id="31" name="Shape 29"/>
          <p:cNvSpPr/>
          <p:nvPr/>
        </p:nvSpPr>
        <p:spPr>
          <a:xfrm>
            <a:off x="411480" y="2953512"/>
            <a:ext cx="3977640" cy="0"/>
          </a:xfrm>
          <a:prstGeom prst="line">
            <a:avLst/>
          </a:prstGeom>
          <a:noFill/>
          <a:ln w="12700">
            <a:solidFill>
              <a:srgbClr val="FFCD41"/>
            </a:solidFill>
            <a:prstDash val="solid"/>
          </a:ln>
        </p:spPr>
      </p:sp>
      <p:sp>
        <p:nvSpPr>
          <p:cNvPr id="32" name="Text 30"/>
          <p:cNvSpPr/>
          <p:nvPr/>
        </p:nvSpPr>
        <p:spPr>
          <a:xfrm>
            <a:off x="411480" y="2990088"/>
            <a:ext cx="3977640" cy="228600"/>
          </a:xfrm>
          <a:prstGeom prst="rect">
            <a:avLst/>
          </a:prstGeom>
          <a:noFill/>
          <a:ln/>
        </p:spPr>
        <p:txBody>
          <a:bodyPr wrap="square" rtlCol="0" anchor="ctr"/>
          <a:lstStyle/>
          <a:p>
            <a:pPr indent="0" marL="0">
              <a:buNone/>
            </a:pPr>
            <a:r>
              <a:rPr lang="en-US" sz="1000" b="1" dirty="0">
                <a:solidFill>
                  <a:srgbClr val="FFCD41"/>
                </a:solidFill>
              </a:rPr>
              <a:t>✓  Prompt Caching</a:t>
            </a:r>
            <a:endParaRPr lang="en-US" sz="1000" dirty="0"/>
          </a:p>
        </p:txBody>
      </p:sp>
      <p:sp>
        <p:nvSpPr>
          <p:cNvPr id="33" name="Text 31"/>
          <p:cNvSpPr/>
          <p:nvPr/>
        </p:nvSpPr>
        <p:spPr>
          <a:xfrm>
            <a:off x="411480" y="3200400"/>
            <a:ext cx="3977640" cy="219456"/>
          </a:xfrm>
          <a:prstGeom prst="rect">
            <a:avLst/>
          </a:prstGeom>
          <a:noFill/>
          <a:ln/>
        </p:spPr>
        <p:txBody>
          <a:bodyPr wrap="square" rtlCol="0" anchor="ctr"/>
          <a:lstStyle/>
          <a:p>
            <a:pPr indent="0" marL="0">
              <a:buNone/>
            </a:pPr>
            <a:r>
              <a:rPr lang="en-US" sz="900" dirty="0">
                <a:solidFill>
                  <a:srgbClr val="FFFFFF"/>
                </a:solidFill>
              </a:rPr>
              <a:t>Reuse processed context — pay only for new tokens.</a:t>
            </a:r>
            <a:endParaRPr lang="en-US" sz="900" dirty="0"/>
          </a:p>
        </p:txBody>
      </p:sp>
      <p:sp>
        <p:nvSpPr>
          <p:cNvPr id="34" name="Shape 32"/>
          <p:cNvSpPr/>
          <p:nvPr/>
        </p:nvSpPr>
        <p:spPr>
          <a:xfrm>
            <a:off x="4754880" y="22402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35" name="Shape 33"/>
          <p:cNvSpPr/>
          <p:nvPr/>
        </p:nvSpPr>
        <p:spPr>
          <a:xfrm>
            <a:off x="4754880" y="2240280"/>
            <a:ext cx="4251960" cy="457200"/>
          </a:xfrm>
          <a:prstGeom prst="roundRect">
            <a:avLst>
              <a:gd name="adj" fmla="val 20000"/>
            </a:avLst>
          </a:prstGeom>
          <a:solidFill>
            <a:srgbClr val="990000"/>
          </a:solidFill>
          <a:ln w="12700">
            <a:solidFill>
              <a:srgbClr val="990000"/>
            </a:solidFill>
            <a:prstDash val="solid"/>
          </a:ln>
        </p:spPr>
      </p:sp>
      <p:sp>
        <p:nvSpPr>
          <p:cNvPr id="36" name="Shape 34"/>
          <p:cNvSpPr/>
          <p:nvPr/>
        </p:nvSpPr>
        <p:spPr>
          <a:xfrm>
            <a:off x="4754880" y="2532888"/>
            <a:ext cx="4251960" cy="164592"/>
          </a:xfrm>
          <a:prstGeom prst="rect">
            <a:avLst/>
          </a:prstGeom>
          <a:solidFill>
            <a:srgbClr val="990000"/>
          </a:solidFill>
          <a:ln w="12700">
            <a:solidFill>
              <a:srgbClr val="990000"/>
            </a:solidFill>
            <a:prstDash val="solid"/>
          </a:ln>
        </p:spPr>
      </p:sp>
      <p:sp>
        <p:nvSpPr>
          <p:cNvPr id="37" name="Shape 35"/>
          <p:cNvSpPr/>
          <p:nvPr/>
        </p:nvSpPr>
        <p:spPr>
          <a:xfrm>
            <a:off x="4846320" y="2304288"/>
            <a:ext cx="329184" cy="329184"/>
          </a:xfrm>
          <a:prstGeom prst="ellipse">
            <a:avLst/>
          </a:prstGeom>
          <a:solidFill>
            <a:srgbClr val="FFCD41"/>
          </a:solidFill>
          <a:ln w="12700">
            <a:solidFill>
              <a:srgbClr val="FFCD41"/>
            </a:solidFill>
            <a:prstDash val="solid"/>
          </a:ln>
        </p:spPr>
      </p:sp>
      <p:sp>
        <p:nvSpPr>
          <p:cNvPr id="38" name="Text 36"/>
          <p:cNvSpPr/>
          <p:nvPr/>
        </p:nvSpPr>
        <p:spPr>
          <a:xfrm>
            <a:off x="4846320" y="23042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39" name="Text 37"/>
          <p:cNvSpPr/>
          <p:nvPr/>
        </p:nvSpPr>
        <p:spPr>
          <a:xfrm>
            <a:off x="5230368" y="23225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Needle-in-Haystack</a:t>
            </a:r>
            <a:endParaRPr lang="en-US" sz="1200" dirty="0"/>
          </a:p>
        </p:txBody>
      </p:sp>
      <p:sp>
        <p:nvSpPr>
          <p:cNvPr id="40" name="Text 38"/>
          <p:cNvSpPr/>
          <p:nvPr/>
        </p:nvSpPr>
        <p:spPr>
          <a:xfrm>
            <a:off x="4892040" y="2734056"/>
            <a:ext cx="3977640" cy="201168"/>
          </a:xfrm>
          <a:prstGeom prst="rect">
            <a:avLst/>
          </a:prstGeom>
          <a:noFill/>
          <a:ln/>
        </p:spPr>
        <p:txBody>
          <a:bodyPr wrap="square" rtlCol="0" anchor="ctr"/>
          <a:lstStyle/>
          <a:p>
            <a:pPr indent="0" marL="0">
              <a:buNone/>
            </a:pPr>
            <a:r>
              <a:rPr lang="en-US" sz="900" i="1" dirty="0">
                <a:solidFill>
                  <a:srgbClr val="FFCCCC"/>
                </a:solidFill>
              </a:rPr>
              <a:t>A single critical fact buried in a huge context gets missed.</a:t>
            </a:r>
            <a:endParaRPr lang="en-US" sz="900" dirty="0"/>
          </a:p>
        </p:txBody>
      </p:sp>
      <p:sp>
        <p:nvSpPr>
          <p:cNvPr id="41" name="Shape 39"/>
          <p:cNvSpPr/>
          <p:nvPr/>
        </p:nvSpPr>
        <p:spPr>
          <a:xfrm>
            <a:off x="4892040" y="2953512"/>
            <a:ext cx="3977640" cy="0"/>
          </a:xfrm>
          <a:prstGeom prst="line">
            <a:avLst/>
          </a:prstGeom>
          <a:noFill/>
          <a:ln w="12700">
            <a:solidFill>
              <a:srgbClr val="FFCD41"/>
            </a:solidFill>
            <a:prstDash val="solid"/>
          </a:ln>
        </p:spPr>
      </p:sp>
      <p:sp>
        <p:nvSpPr>
          <p:cNvPr id="42" name="Text 40"/>
          <p:cNvSpPr/>
          <p:nvPr/>
        </p:nvSpPr>
        <p:spPr>
          <a:xfrm>
            <a:off x="4892040" y="2990088"/>
            <a:ext cx="3977640" cy="228600"/>
          </a:xfrm>
          <a:prstGeom prst="rect">
            <a:avLst/>
          </a:prstGeom>
          <a:noFill/>
          <a:ln/>
        </p:spPr>
        <p:txBody>
          <a:bodyPr wrap="square" rtlCol="0" anchor="ctr"/>
          <a:lstStyle/>
          <a:p>
            <a:pPr indent="0" marL="0">
              <a:buNone/>
            </a:pPr>
            <a:r>
              <a:rPr lang="en-US" sz="1000" b="1" dirty="0">
                <a:solidFill>
                  <a:srgbClr val="FFCD41"/>
                </a:solidFill>
              </a:rPr>
              <a:t>✓  Agentic Retrieval Loops</a:t>
            </a:r>
            <a:endParaRPr lang="en-US" sz="1000" dirty="0"/>
          </a:p>
        </p:txBody>
      </p:sp>
      <p:sp>
        <p:nvSpPr>
          <p:cNvPr id="43" name="Text 41"/>
          <p:cNvSpPr/>
          <p:nvPr/>
        </p:nvSpPr>
        <p:spPr>
          <a:xfrm>
            <a:off x="4892040" y="3200400"/>
            <a:ext cx="3977640" cy="219456"/>
          </a:xfrm>
          <a:prstGeom prst="rect">
            <a:avLst/>
          </a:prstGeom>
          <a:noFill/>
          <a:ln/>
        </p:spPr>
        <p:txBody>
          <a:bodyPr wrap="square" rtlCol="0" anchor="ctr"/>
          <a:lstStyle/>
          <a:p>
            <a:pPr indent="0" marL="0">
              <a:buNone/>
            </a:pPr>
            <a:r>
              <a:rPr lang="en-US" sz="900" dirty="0">
                <a:solidFill>
                  <a:srgbClr val="FFFFFF"/>
                </a:solidFill>
              </a:rPr>
              <a:t>Model re-queries with refined terms if retrieval looks weak.</a:t>
            </a:r>
            <a:endParaRPr lang="en-US" sz="900" dirty="0"/>
          </a:p>
        </p:txBody>
      </p:sp>
      <p:sp>
        <p:nvSpPr>
          <p:cNvPr id="44" name="Shape 42"/>
          <p:cNvSpPr/>
          <p:nvPr/>
        </p:nvSpPr>
        <p:spPr>
          <a:xfrm>
            <a:off x="274320" y="36118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45" name="Shape 43"/>
          <p:cNvSpPr/>
          <p:nvPr/>
        </p:nvSpPr>
        <p:spPr>
          <a:xfrm>
            <a:off x="274320" y="3611880"/>
            <a:ext cx="4251960" cy="457200"/>
          </a:xfrm>
          <a:prstGeom prst="roundRect">
            <a:avLst>
              <a:gd name="adj" fmla="val 20000"/>
            </a:avLst>
          </a:prstGeom>
          <a:solidFill>
            <a:srgbClr val="990000"/>
          </a:solidFill>
          <a:ln w="12700">
            <a:solidFill>
              <a:srgbClr val="990000"/>
            </a:solidFill>
            <a:prstDash val="solid"/>
          </a:ln>
        </p:spPr>
      </p:sp>
      <p:sp>
        <p:nvSpPr>
          <p:cNvPr id="46" name="Shape 44"/>
          <p:cNvSpPr/>
          <p:nvPr/>
        </p:nvSpPr>
        <p:spPr>
          <a:xfrm>
            <a:off x="274320" y="3904488"/>
            <a:ext cx="4251960" cy="164592"/>
          </a:xfrm>
          <a:prstGeom prst="rect">
            <a:avLst/>
          </a:prstGeom>
          <a:solidFill>
            <a:srgbClr val="990000"/>
          </a:solidFill>
          <a:ln w="12700">
            <a:solidFill>
              <a:srgbClr val="990000"/>
            </a:solidFill>
            <a:prstDash val="solid"/>
          </a:ln>
        </p:spPr>
      </p:sp>
      <p:sp>
        <p:nvSpPr>
          <p:cNvPr id="47" name="Shape 45"/>
          <p:cNvSpPr/>
          <p:nvPr/>
        </p:nvSpPr>
        <p:spPr>
          <a:xfrm>
            <a:off x="365760" y="3675888"/>
            <a:ext cx="329184" cy="329184"/>
          </a:xfrm>
          <a:prstGeom prst="ellipse">
            <a:avLst/>
          </a:prstGeom>
          <a:solidFill>
            <a:srgbClr val="FFCD41"/>
          </a:solidFill>
          <a:ln w="12700">
            <a:solidFill>
              <a:srgbClr val="FFCD41"/>
            </a:solidFill>
            <a:prstDash val="solid"/>
          </a:ln>
        </p:spPr>
      </p:sp>
      <p:sp>
        <p:nvSpPr>
          <p:cNvPr id="48" name="Text 46"/>
          <p:cNvSpPr/>
          <p:nvPr/>
        </p:nvSpPr>
        <p:spPr>
          <a:xfrm>
            <a:off x="365760" y="36758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49" name="Text 47"/>
          <p:cNvSpPr/>
          <p:nvPr/>
        </p:nvSpPr>
        <p:spPr>
          <a:xfrm>
            <a:off x="749808" y="36941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Context Pollution</a:t>
            </a:r>
            <a:endParaRPr lang="en-US" sz="1200" dirty="0"/>
          </a:p>
        </p:txBody>
      </p:sp>
      <p:sp>
        <p:nvSpPr>
          <p:cNvPr id="50" name="Text 48"/>
          <p:cNvSpPr/>
          <p:nvPr/>
        </p:nvSpPr>
        <p:spPr>
          <a:xfrm>
            <a:off x="411480" y="4105656"/>
            <a:ext cx="3977640" cy="201168"/>
          </a:xfrm>
          <a:prstGeom prst="rect">
            <a:avLst/>
          </a:prstGeom>
          <a:noFill/>
          <a:ln/>
        </p:spPr>
        <p:txBody>
          <a:bodyPr wrap="square" rtlCol="0" anchor="ctr"/>
          <a:lstStyle/>
          <a:p>
            <a:pPr indent="0" marL="0">
              <a:buNone/>
            </a:pPr>
            <a:r>
              <a:rPr lang="en-US" sz="900" i="1" dirty="0">
                <a:solidFill>
                  <a:srgbClr val="FFCCCC"/>
                </a:solidFill>
              </a:rPr>
              <a:t>Irrelevant/stale duplicate information reduces answer quality.</a:t>
            </a:r>
            <a:endParaRPr lang="en-US" sz="900" dirty="0"/>
          </a:p>
        </p:txBody>
      </p:sp>
      <p:sp>
        <p:nvSpPr>
          <p:cNvPr id="51" name="Shape 49"/>
          <p:cNvSpPr/>
          <p:nvPr/>
        </p:nvSpPr>
        <p:spPr>
          <a:xfrm>
            <a:off x="411480" y="4325112"/>
            <a:ext cx="3977640" cy="0"/>
          </a:xfrm>
          <a:prstGeom prst="line">
            <a:avLst/>
          </a:prstGeom>
          <a:noFill/>
          <a:ln w="12700">
            <a:solidFill>
              <a:srgbClr val="FFCD41"/>
            </a:solidFill>
            <a:prstDash val="solid"/>
          </a:ln>
        </p:spPr>
      </p:sp>
      <p:sp>
        <p:nvSpPr>
          <p:cNvPr id="52" name="Text 50"/>
          <p:cNvSpPr/>
          <p:nvPr/>
        </p:nvSpPr>
        <p:spPr>
          <a:xfrm>
            <a:off x="411480" y="4361688"/>
            <a:ext cx="3977640" cy="228600"/>
          </a:xfrm>
          <a:prstGeom prst="rect">
            <a:avLst/>
          </a:prstGeom>
          <a:noFill/>
          <a:ln/>
        </p:spPr>
        <p:txBody>
          <a:bodyPr wrap="square" rtlCol="0" anchor="ctr"/>
          <a:lstStyle/>
          <a:p>
            <a:pPr indent="0" marL="0">
              <a:buNone/>
            </a:pPr>
            <a:r>
              <a:rPr lang="en-US" sz="1000" b="1" dirty="0">
                <a:solidFill>
                  <a:srgbClr val="FFCD41"/>
                </a:solidFill>
              </a:rPr>
              <a:t>✓  Re-ranking</a:t>
            </a:r>
            <a:endParaRPr lang="en-US" sz="1000" dirty="0"/>
          </a:p>
        </p:txBody>
      </p:sp>
      <p:sp>
        <p:nvSpPr>
          <p:cNvPr id="53" name="Text 51"/>
          <p:cNvSpPr/>
          <p:nvPr/>
        </p:nvSpPr>
        <p:spPr>
          <a:xfrm>
            <a:off x="411480" y="4572000"/>
            <a:ext cx="3977640" cy="219456"/>
          </a:xfrm>
          <a:prstGeom prst="rect">
            <a:avLst/>
          </a:prstGeom>
          <a:noFill/>
          <a:ln/>
        </p:spPr>
        <p:txBody>
          <a:bodyPr wrap="square" rtlCol="0" anchor="ctr"/>
          <a:lstStyle/>
          <a:p>
            <a:pPr indent="0" marL="0">
              <a:buNone/>
            </a:pPr>
            <a:r>
              <a:rPr lang="en-US" sz="900" dirty="0">
                <a:solidFill>
                  <a:srgbClr val="FFFFFF"/>
                </a:solidFill>
              </a:rPr>
              <a:t>Prioritize the context before sending it to the model.</a:t>
            </a:r>
            <a:endParaRPr lang="en-US" sz="900" dirty="0"/>
          </a:p>
        </p:txBody>
      </p:sp>
      <p:sp>
        <p:nvSpPr>
          <p:cNvPr id="54" name="Shape 52"/>
          <p:cNvSpPr/>
          <p:nvPr/>
        </p:nvSpPr>
        <p:spPr>
          <a:xfrm>
            <a:off x="4754880" y="3611880"/>
            <a:ext cx="4251960" cy="1234440"/>
          </a:xfrm>
          <a:prstGeom prst="roundRect">
            <a:avLst>
              <a:gd name="adj" fmla="val 7407"/>
            </a:avLst>
          </a:prstGeom>
          <a:solidFill>
            <a:srgbClr val="CC0000"/>
          </a:solidFill>
          <a:ln w="12700">
            <a:solidFill>
              <a:srgbClr val="990000"/>
            </a:solidFill>
            <a:prstDash val="solid"/>
          </a:ln>
          <a:effectLst>
            <a:outerShdw sx="100000" sy="100000" kx="0" ky="0" algn="bl" rotWithShape="0" blurRad="101600" dist="25400" dir="2700000">
              <a:srgbClr val="000000">
                <a:alpha val="12000"/>
              </a:srgbClr>
            </a:outerShdw>
          </a:effectLst>
        </p:spPr>
      </p:sp>
      <p:sp>
        <p:nvSpPr>
          <p:cNvPr id="55" name="Shape 53"/>
          <p:cNvSpPr/>
          <p:nvPr/>
        </p:nvSpPr>
        <p:spPr>
          <a:xfrm>
            <a:off x="4754880" y="3611880"/>
            <a:ext cx="4251960" cy="457200"/>
          </a:xfrm>
          <a:prstGeom prst="roundRect">
            <a:avLst>
              <a:gd name="adj" fmla="val 20000"/>
            </a:avLst>
          </a:prstGeom>
          <a:solidFill>
            <a:srgbClr val="990000"/>
          </a:solidFill>
          <a:ln w="12700">
            <a:solidFill>
              <a:srgbClr val="990000"/>
            </a:solidFill>
            <a:prstDash val="solid"/>
          </a:ln>
        </p:spPr>
      </p:sp>
      <p:sp>
        <p:nvSpPr>
          <p:cNvPr id="56" name="Shape 54"/>
          <p:cNvSpPr/>
          <p:nvPr/>
        </p:nvSpPr>
        <p:spPr>
          <a:xfrm>
            <a:off x="4754880" y="3904488"/>
            <a:ext cx="4251960" cy="164592"/>
          </a:xfrm>
          <a:prstGeom prst="rect">
            <a:avLst/>
          </a:prstGeom>
          <a:solidFill>
            <a:srgbClr val="990000"/>
          </a:solidFill>
          <a:ln w="12700">
            <a:solidFill>
              <a:srgbClr val="990000"/>
            </a:solidFill>
            <a:prstDash val="solid"/>
          </a:ln>
        </p:spPr>
      </p:sp>
      <p:sp>
        <p:nvSpPr>
          <p:cNvPr id="57" name="Shape 55"/>
          <p:cNvSpPr/>
          <p:nvPr/>
        </p:nvSpPr>
        <p:spPr>
          <a:xfrm>
            <a:off x="4846320" y="3675888"/>
            <a:ext cx="329184" cy="329184"/>
          </a:xfrm>
          <a:prstGeom prst="ellipse">
            <a:avLst/>
          </a:prstGeom>
          <a:solidFill>
            <a:srgbClr val="FFCD41"/>
          </a:solidFill>
          <a:ln w="12700">
            <a:solidFill>
              <a:srgbClr val="FFCD41"/>
            </a:solidFill>
            <a:prstDash val="solid"/>
          </a:ln>
        </p:spPr>
      </p:sp>
      <p:sp>
        <p:nvSpPr>
          <p:cNvPr id="58" name="Text 56"/>
          <p:cNvSpPr/>
          <p:nvPr/>
        </p:nvSpPr>
        <p:spPr>
          <a:xfrm>
            <a:off x="4846320" y="3675888"/>
            <a:ext cx="329184" cy="329184"/>
          </a:xfrm>
          <a:prstGeom prst="rect">
            <a:avLst/>
          </a:prstGeom>
          <a:noFill/>
          <a:ln/>
        </p:spPr>
        <p:txBody>
          <a:bodyPr wrap="square" lIns="0" tIns="0" rIns="0" bIns="0" rtlCol="0" anchor="ctr"/>
          <a:lstStyle/>
          <a:p>
            <a:pPr algn="ctr" indent="0" marL="0">
              <a:buNone/>
            </a:pPr>
            <a:r>
              <a:rPr lang="en-US" sz="1300" b="1" dirty="0">
                <a:solidFill>
                  <a:srgbClr val="990000"/>
                </a:solidFill>
              </a:rPr>
              <a:t>⇄</a:t>
            </a:r>
            <a:endParaRPr lang="en-US" sz="1300" dirty="0"/>
          </a:p>
        </p:txBody>
      </p:sp>
      <p:sp>
        <p:nvSpPr>
          <p:cNvPr id="59" name="Text 57"/>
          <p:cNvSpPr/>
          <p:nvPr/>
        </p:nvSpPr>
        <p:spPr>
          <a:xfrm>
            <a:off x="5230368" y="3694176"/>
            <a:ext cx="3657600" cy="292608"/>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Multi-Turn Drift</a:t>
            </a:r>
            <a:endParaRPr lang="en-US" sz="1200" dirty="0"/>
          </a:p>
        </p:txBody>
      </p:sp>
      <p:sp>
        <p:nvSpPr>
          <p:cNvPr id="60" name="Text 58"/>
          <p:cNvSpPr/>
          <p:nvPr/>
        </p:nvSpPr>
        <p:spPr>
          <a:xfrm>
            <a:off x="4892040" y="4105656"/>
            <a:ext cx="3977640" cy="201168"/>
          </a:xfrm>
          <a:prstGeom prst="rect">
            <a:avLst/>
          </a:prstGeom>
          <a:noFill/>
          <a:ln/>
        </p:spPr>
        <p:txBody>
          <a:bodyPr wrap="square" rtlCol="0" anchor="ctr"/>
          <a:lstStyle/>
          <a:p>
            <a:pPr indent="0" marL="0">
              <a:buNone/>
            </a:pPr>
            <a:r>
              <a:rPr lang="en-US" sz="900" i="1" dirty="0">
                <a:solidFill>
                  <a:srgbClr val="FFCCCC"/>
                </a:solidFill>
              </a:rPr>
              <a:t>Long conversations lose track of the original goal.</a:t>
            </a:r>
            <a:endParaRPr lang="en-US" sz="900" dirty="0"/>
          </a:p>
        </p:txBody>
      </p:sp>
      <p:sp>
        <p:nvSpPr>
          <p:cNvPr id="61" name="Shape 59"/>
          <p:cNvSpPr/>
          <p:nvPr/>
        </p:nvSpPr>
        <p:spPr>
          <a:xfrm>
            <a:off x="4892040" y="4325112"/>
            <a:ext cx="3977640" cy="0"/>
          </a:xfrm>
          <a:prstGeom prst="line">
            <a:avLst/>
          </a:prstGeom>
          <a:noFill/>
          <a:ln w="12700">
            <a:solidFill>
              <a:srgbClr val="FFCD41"/>
            </a:solidFill>
            <a:prstDash val="solid"/>
          </a:ln>
        </p:spPr>
      </p:sp>
      <p:sp>
        <p:nvSpPr>
          <p:cNvPr id="62" name="Text 60"/>
          <p:cNvSpPr/>
          <p:nvPr/>
        </p:nvSpPr>
        <p:spPr>
          <a:xfrm>
            <a:off x="4892040" y="4361688"/>
            <a:ext cx="3977640" cy="228600"/>
          </a:xfrm>
          <a:prstGeom prst="rect">
            <a:avLst/>
          </a:prstGeom>
          <a:noFill/>
          <a:ln/>
        </p:spPr>
        <p:txBody>
          <a:bodyPr wrap="square" rtlCol="0" anchor="ctr"/>
          <a:lstStyle/>
          <a:p>
            <a:pPr indent="0" marL="0">
              <a:buNone/>
            </a:pPr>
            <a:r>
              <a:rPr lang="en-US" sz="1000" b="1" dirty="0">
                <a:solidFill>
                  <a:srgbClr val="FFCD41"/>
                </a:solidFill>
              </a:rPr>
              <a:t>✓  Shared State Objects</a:t>
            </a:r>
            <a:endParaRPr lang="en-US" sz="1000" dirty="0"/>
          </a:p>
        </p:txBody>
      </p:sp>
      <p:sp>
        <p:nvSpPr>
          <p:cNvPr id="63" name="Text 61"/>
          <p:cNvSpPr/>
          <p:nvPr/>
        </p:nvSpPr>
        <p:spPr>
          <a:xfrm>
            <a:off x="4892040" y="4572000"/>
            <a:ext cx="3977640" cy="219456"/>
          </a:xfrm>
          <a:prstGeom prst="rect">
            <a:avLst/>
          </a:prstGeom>
          <a:noFill/>
          <a:ln/>
        </p:spPr>
        <p:txBody>
          <a:bodyPr wrap="square" rtlCol="0" anchor="ctr"/>
          <a:lstStyle/>
          <a:p>
            <a:pPr indent="0" marL="0">
              <a:buNone/>
            </a:pPr>
            <a:r>
              <a:rPr lang="en-US" sz="900" dirty="0">
                <a:solidFill>
                  <a:srgbClr val="FFFFFF"/>
                </a:solidFill>
              </a:rPr>
              <a:t>Persist task state outside the chat and maintain workflow continuity.</a:t>
            </a:r>
            <a:endParaRPr lang="en-US" sz="900" dirty="0"/>
          </a:p>
        </p:txBody>
      </p:sp>
      <p:sp>
        <p:nvSpPr>
          <p:cNvPr id="64" name="Text 62"/>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BBBBBB"/>
                </a:solidFill>
              </a:rPr>
              <a:t>© 2026 Wells Fargo Bank, N.A. All rights reserved. Internal use.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C0000"/>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990000">
              <a:alpha val="60000"/>
            </a:srgbClr>
          </a:solidFill>
          <a:ln w="12700">
            <a:solidFill>
              <a:srgbClr val="990000">
                <a:alpha val="60000"/>
              </a:srgbClr>
            </a:solidFill>
            <a:prstDash val="solid"/>
          </a:ln>
        </p:spPr>
      </p:sp>
      <p:sp>
        <p:nvSpPr>
          <p:cNvPr id="3" name="Shape 1"/>
          <p:cNvSpPr/>
          <p:nvPr/>
        </p:nvSpPr>
        <p:spPr>
          <a:xfrm>
            <a:off x="6858000" y="2743200"/>
            <a:ext cx="3200400" cy="3200400"/>
          </a:xfrm>
          <a:prstGeom prst="ellipse">
            <a:avLst/>
          </a:prstGeom>
          <a:solidFill>
            <a:srgbClr val="990000">
              <a:alpha val="60000"/>
            </a:srgbClr>
          </a:solidFill>
          <a:ln w="12700">
            <a:solidFill>
              <a:srgbClr val="990000">
                <a:alpha val="60000"/>
              </a:srgbClr>
            </a:solidFill>
            <a:prstDash val="solid"/>
          </a:ln>
        </p:spPr>
      </p:sp>
      <p:pic>
        <p:nvPicPr>
          <p:cNvPr id="4" name="Image 0" descr="preencoded.png">    </p:cNvPr>
          <p:cNvPicPr>
            <a:picLocks noChangeAspect="1"/>
          </p:cNvPicPr>
          <p:nvPr/>
        </p:nvPicPr>
        <p:blipFill>
          <a:blip r:embed="rId1"/>
          <a:stretch>
            <a:fillRect/>
          </a:stretch>
        </p:blipFill>
        <p:spPr>
          <a:xfrm>
            <a:off x="8046720" y="91440"/>
            <a:ext cx="822960" cy="822960"/>
          </a:xfrm>
          <a:prstGeom prst="rect">
            <a:avLst/>
          </a:prstGeom>
        </p:spPr>
      </p:pic>
      <p:sp>
        <p:nvSpPr>
          <p:cNvPr id="5" name="Text 2"/>
          <p:cNvSpPr/>
          <p:nvPr/>
        </p:nvSpPr>
        <p:spPr>
          <a:xfrm>
            <a:off x="365760" y="109728"/>
            <a:ext cx="749808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Quiz Time!</a:t>
            </a:r>
            <a:endParaRPr lang="en-US" sz="3800" dirty="0"/>
          </a:p>
        </p:txBody>
      </p:sp>
      <p:sp>
        <p:nvSpPr>
          <p:cNvPr id="6" name="Shape 3"/>
          <p:cNvSpPr/>
          <p:nvPr/>
        </p:nvSpPr>
        <p:spPr>
          <a:xfrm>
            <a:off x="2286000" y="914400"/>
            <a:ext cx="4572000" cy="45720"/>
          </a:xfrm>
          <a:prstGeom prst="rect">
            <a:avLst/>
          </a:prstGeom>
          <a:solidFill>
            <a:srgbClr val="FFCD41"/>
          </a:solidFill>
          <a:ln w="12700">
            <a:solidFill>
              <a:srgbClr val="FFCD41"/>
            </a:solidFill>
            <a:prstDash val="solid"/>
          </a:ln>
        </p:spPr>
      </p:sp>
      <p:sp>
        <p:nvSpPr>
          <p:cNvPr id="7" name="Shape 4"/>
          <p:cNvSpPr/>
          <p:nvPr/>
        </p:nvSpPr>
        <p:spPr>
          <a:xfrm>
            <a:off x="365760" y="1051560"/>
            <a:ext cx="8412480" cy="1143000"/>
          </a:xfrm>
          <a:prstGeom prst="roundRect">
            <a:avLst>
              <a:gd name="adj" fmla="val 8000"/>
            </a:avLst>
          </a:prstGeom>
          <a:solidFill>
            <a:srgbClr val="990000">
              <a:alpha val="40000"/>
            </a:srgbClr>
          </a:solidFill>
          <a:ln w="12700">
            <a:solidFill>
              <a:srgbClr val="FFCD41"/>
            </a:solidFill>
            <a:prstDash val="solid"/>
          </a:ln>
        </p:spPr>
      </p:sp>
      <p:sp>
        <p:nvSpPr>
          <p:cNvPr id="8" name="Text 5"/>
          <p:cNvSpPr/>
          <p:nvPr/>
        </p:nvSpPr>
        <p:spPr>
          <a:xfrm>
            <a:off x="548640" y="1124712"/>
            <a:ext cx="8046720" cy="347472"/>
          </a:xfrm>
          <a:prstGeom prst="rect">
            <a:avLst/>
          </a:prstGeom>
          <a:noFill/>
          <a:ln/>
        </p:spPr>
        <p:txBody>
          <a:bodyPr wrap="square" rtlCol="0" anchor="ctr"/>
          <a:lstStyle/>
          <a:p>
            <a:pPr indent="0" marL="0">
              <a:buNone/>
            </a:pPr>
            <a:r>
              <a:rPr lang="en-US" sz="1100" b="1" dirty="0">
                <a:solidFill>
                  <a:srgbClr val="FFFFFF"/>
                </a:solidFill>
              </a:rPr>
              <a:t>Q1  What is the key difference between Prompt Engineering and Context Engineering?</a:t>
            </a:r>
            <a:endParaRPr lang="en-US" sz="1100" dirty="0"/>
          </a:p>
        </p:txBody>
      </p:sp>
      <p:sp>
        <p:nvSpPr>
          <p:cNvPr id="9" name="Shape 6"/>
          <p:cNvSpPr/>
          <p:nvPr/>
        </p:nvSpPr>
        <p:spPr>
          <a:xfrm>
            <a:off x="548640" y="1490472"/>
            <a:ext cx="7863840" cy="0"/>
          </a:xfrm>
          <a:prstGeom prst="line">
            <a:avLst/>
          </a:prstGeom>
          <a:noFill/>
          <a:ln w="9525">
            <a:solidFill>
              <a:srgbClr val="FFCD41"/>
            </a:solidFill>
            <a:prstDash val="solid"/>
          </a:ln>
        </p:spPr>
      </p:sp>
      <p:sp>
        <p:nvSpPr>
          <p:cNvPr id="10" name="Text 7"/>
          <p:cNvSpPr/>
          <p:nvPr/>
        </p:nvSpPr>
        <p:spPr>
          <a:xfrm>
            <a:off x="548640" y="1554480"/>
            <a:ext cx="8046720" cy="566928"/>
          </a:xfrm>
          <a:prstGeom prst="rect">
            <a:avLst/>
          </a:prstGeom>
          <a:noFill/>
          <a:ln/>
        </p:spPr>
        <p:txBody>
          <a:bodyPr wrap="square" rtlCol="0" anchor="ctr"/>
          <a:lstStyle/>
          <a:p>
            <a:pPr indent="0" marL="0">
              <a:buNone/>
            </a:pPr>
            <a:r>
              <a:rPr lang="en-US" sz="1000" i="1" dirty="0">
                <a:solidFill>
                  <a:srgbClr val="FFEEAA"/>
                </a:solidFill>
              </a:rPr>
              <a:t>→ Prompt Engineering focuses on the words in a single input box. Context Engineering controls everything the model sees — system prompt, RAG, tools, history, and agent state.</a:t>
            </a:r>
            <a:endParaRPr lang="en-US" sz="1000" dirty="0"/>
          </a:p>
        </p:txBody>
      </p:sp>
      <p:sp>
        <p:nvSpPr>
          <p:cNvPr id="11" name="Shape 8"/>
          <p:cNvSpPr/>
          <p:nvPr/>
        </p:nvSpPr>
        <p:spPr>
          <a:xfrm>
            <a:off x="365760" y="2313432"/>
            <a:ext cx="8412480" cy="1143000"/>
          </a:xfrm>
          <a:prstGeom prst="roundRect">
            <a:avLst>
              <a:gd name="adj" fmla="val 8000"/>
            </a:avLst>
          </a:prstGeom>
          <a:solidFill>
            <a:srgbClr val="990000">
              <a:alpha val="40000"/>
            </a:srgbClr>
          </a:solidFill>
          <a:ln w="12700">
            <a:solidFill>
              <a:srgbClr val="FFCD41"/>
            </a:solidFill>
            <a:prstDash val="solid"/>
          </a:ln>
        </p:spPr>
      </p:sp>
      <p:sp>
        <p:nvSpPr>
          <p:cNvPr id="12" name="Text 9"/>
          <p:cNvSpPr/>
          <p:nvPr/>
        </p:nvSpPr>
        <p:spPr>
          <a:xfrm>
            <a:off x="548640" y="2386584"/>
            <a:ext cx="8046720" cy="347472"/>
          </a:xfrm>
          <a:prstGeom prst="rect">
            <a:avLst/>
          </a:prstGeom>
          <a:noFill/>
          <a:ln/>
        </p:spPr>
        <p:txBody>
          <a:bodyPr wrap="square" rtlCol="0" anchor="ctr"/>
          <a:lstStyle/>
          <a:p>
            <a:pPr indent="0" marL="0">
              <a:buNone/>
            </a:pPr>
            <a:r>
              <a:rPr lang="en-US" sz="1100" b="1" dirty="0">
                <a:solidFill>
                  <a:srgbClr val="FFFFFF"/>
                </a:solidFill>
              </a:rPr>
              <a:t>Q2  Name the 5 layers added to Iwa's context across the journey.</a:t>
            </a:r>
            <a:endParaRPr lang="en-US" sz="1100" dirty="0"/>
          </a:p>
        </p:txBody>
      </p:sp>
      <p:sp>
        <p:nvSpPr>
          <p:cNvPr id="13" name="Shape 10"/>
          <p:cNvSpPr/>
          <p:nvPr/>
        </p:nvSpPr>
        <p:spPr>
          <a:xfrm>
            <a:off x="548640" y="2752344"/>
            <a:ext cx="7863840" cy="0"/>
          </a:xfrm>
          <a:prstGeom prst="line">
            <a:avLst/>
          </a:prstGeom>
          <a:noFill/>
          <a:ln w="9525">
            <a:solidFill>
              <a:srgbClr val="FFCD41"/>
            </a:solidFill>
            <a:prstDash val="solid"/>
          </a:ln>
        </p:spPr>
      </p:sp>
      <p:sp>
        <p:nvSpPr>
          <p:cNvPr id="14" name="Text 11"/>
          <p:cNvSpPr/>
          <p:nvPr/>
        </p:nvSpPr>
        <p:spPr>
          <a:xfrm>
            <a:off x="548640" y="2816352"/>
            <a:ext cx="8046720" cy="566928"/>
          </a:xfrm>
          <a:prstGeom prst="rect">
            <a:avLst/>
          </a:prstGeom>
          <a:noFill/>
          <a:ln/>
        </p:spPr>
        <p:txBody>
          <a:bodyPr wrap="square" rtlCol="0" anchor="ctr"/>
          <a:lstStyle/>
          <a:p>
            <a:pPr indent="0" marL="0">
              <a:buNone/>
            </a:pPr>
            <a:r>
              <a:rPr lang="en-US" sz="1000" i="1" dirty="0">
                <a:solidFill>
                  <a:srgbClr val="FFEEAA"/>
                </a:solidFill>
              </a:rPr>
              <a:t>→ Instructions → RAG Knowledge → Tool Outputs → Conversation History → Agent State</a:t>
            </a:r>
            <a:endParaRPr lang="en-US" sz="1000" dirty="0"/>
          </a:p>
        </p:txBody>
      </p:sp>
      <p:sp>
        <p:nvSpPr>
          <p:cNvPr id="15" name="Shape 12"/>
          <p:cNvSpPr/>
          <p:nvPr/>
        </p:nvSpPr>
        <p:spPr>
          <a:xfrm>
            <a:off x="365760" y="3575304"/>
            <a:ext cx="8412480" cy="1143000"/>
          </a:xfrm>
          <a:prstGeom prst="roundRect">
            <a:avLst>
              <a:gd name="adj" fmla="val 8000"/>
            </a:avLst>
          </a:prstGeom>
          <a:solidFill>
            <a:srgbClr val="990000">
              <a:alpha val="40000"/>
            </a:srgbClr>
          </a:solidFill>
          <a:ln w="12700">
            <a:solidFill>
              <a:srgbClr val="FFCD41"/>
            </a:solidFill>
            <a:prstDash val="solid"/>
          </a:ln>
        </p:spPr>
      </p:sp>
      <p:sp>
        <p:nvSpPr>
          <p:cNvPr id="16" name="Text 13"/>
          <p:cNvSpPr/>
          <p:nvPr/>
        </p:nvSpPr>
        <p:spPr>
          <a:xfrm>
            <a:off x="548640" y="3648456"/>
            <a:ext cx="8046720" cy="347472"/>
          </a:xfrm>
          <a:prstGeom prst="rect">
            <a:avLst/>
          </a:prstGeom>
          <a:noFill/>
          <a:ln/>
        </p:spPr>
        <p:txBody>
          <a:bodyPr wrap="square" rtlCol="0" anchor="ctr"/>
          <a:lstStyle/>
          <a:p>
            <a:pPr indent="0" marL="0">
              <a:buNone/>
            </a:pPr>
            <a:r>
              <a:rPr lang="en-US" sz="1100" b="1" dirty="0">
                <a:solidFill>
                  <a:srgbClr val="FFFFFF"/>
                </a:solidFill>
              </a:rPr>
              <a:t>Q3  What was still missing after Stage 2 (RAG) that Stage 3 fixed?</a:t>
            </a:r>
            <a:endParaRPr lang="en-US" sz="1100" dirty="0"/>
          </a:p>
        </p:txBody>
      </p:sp>
      <p:sp>
        <p:nvSpPr>
          <p:cNvPr id="17" name="Shape 14"/>
          <p:cNvSpPr/>
          <p:nvPr/>
        </p:nvSpPr>
        <p:spPr>
          <a:xfrm>
            <a:off x="548640" y="4014216"/>
            <a:ext cx="7863840" cy="0"/>
          </a:xfrm>
          <a:prstGeom prst="line">
            <a:avLst/>
          </a:prstGeom>
          <a:noFill/>
          <a:ln w="9525">
            <a:solidFill>
              <a:srgbClr val="FFCD41"/>
            </a:solidFill>
            <a:prstDash val="solid"/>
          </a:ln>
        </p:spPr>
      </p:sp>
      <p:sp>
        <p:nvSpPr>
          <p:cNvPr id="18" name="Text 15"/>
          <p:cNvSpPr/>
          <p:nvPr/>
        </p:nvSpPr>
        <p:spPr>
          <a:xfrm>
            <a:off x="548640" y="4078224"/>
            <a:ext cx="8046720" cy="566928"/>
          </a:xfrm>
          <a:prstGeom prst="rect">
            <a:avLst/>
          </a:prstGeom>
          <a:noFill/>
          <a:ln/>
        </p:spPr>
        <p:txBody>
          <a:bodyPr wrap="square" rtlCol="0" anchor="ctr"/>
          <a:lstStyle/>
          <a:p>
            <a:pPr indent="0" marL="0">
              <a:buNone/>
            </a:pPr>
            <a:r>
              <a:rPr lang="en-US" sz="1000" i="1" dirty="0">
                <a:solidFill>
                  <a:srgbClr val="FFEEAA"/>
                </a:solidFill>
              </a:rPr>
              <a:t>→ RAG gave Iwa policy knowledge (generic, for all employees). Stage 3 gave it live, personalized data — Arjun's specific leave balance and manager info from Workday.</a:t>
            </a:r>
            <a:endParaRPr lang="en-US" sz="1000" dirty="0"/>
          </a:p>
        </p:txBody>
      </p:sp>
      <p:sp>
        <p:nvSpPr>
          <p:cNvPr id="19" name="Text 16"/>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FF9999"/>
                </a:solidFill>
              </a:rPr>
              <a:t>© 2026 Wells Fargo Bank, N.A. All rights reserved. Internal use.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C0000"/>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990000">
              <a:alpha val="50000"/>
            </a:srgbClr>
          </a:solidFill>
          <a:ln w="12700">
            <a:solidFill>
              <a:srgbClr val="990000">
                <a:alpha val="50000"/>
              </a:srgbClr>
            </a:solidFill>
            <a:prstDash val="solid"/>
          </a:ln>
        </p:spPr>
      </p:sp>
      <p:sp>
        <p:nvSpPr>
          <p:cNvPr id="3" name="Shape 1"/>
          <p:cNvSpPr/>
          <p:nvPr/>
        </p:nvSpPr>
        <p:spPr>
          <a:xfrm>
            <a:off x="-1371600" y="2743200"/>
            <a:ext cx="3657600" cy="3657600"/>
          </a:xfrm>
          <a:prstGeom prst="ellipse">
            <a:avLst/>
          </a:prstGeom>
          <a:solidFill>
            <a:srgbClr val="990000">
              <a:alpha val="50000"/>
            </a:srgbClr>
          </a:solidFill>
          <a:ln w="12700">
            <a:solidFill>
              <a:srgbClr val="990000">
                <a:alpha val="50000"/>
              </a:srgbClr>
            </a:solidFill>
            <a:prstDash val="solid"/>
          </a:ln>
        </p:spPr>
      </p:sp>
      <p:sp>
        <p:nvSpPr>
          <p:cNvPr id="4" name="Shape 2"/>
          <p:cNvSpPr/>
          <p:nvPr/>
        </p:nvSpPr>
        <p:spPr>
          <a:xfrm>
            <a:off x="365760" y="274320"/>
            <a:ext cx="1280160" cy="868680"/>
          </a:xfrm>
          <a:prstGeom prst="rect">
            <a:avLst/>
          </a:prstGeom>
          <a:solidFill>
            <a:srgbClr val="FFFFFF"/>
          </a:solidFill>
          <a:ln w="12700">
            <a:solidFill>
              <a:srgbClr val="FFFFFF"/>
            </a:solidFill>
            <a:prstDash val="solid"/>
          </a:ln>
        </p:spPr>
      </p:sp>
      <p:sp>
        <p:nvSpPr>
          <p:cNvPr id="5" name="Text 3"/>
          <p:cNvSpPr/>
          <p:nvPr/>
        </p:nvSpPr>
        <p:spPr>
          <a:xfrm>
            <a:off x="365760" y="274320"/>
            <a:ext cx="1280160" cy="868680"/>
          </a:xfrm>
          <a:prstGeom prst="rect">
            <a:avLst/>
          </a:prstGeom>
          <a:noFill/>
          <a:ln/>
        </p:spPr>
        <p:txBody>
          <a:bodyPr wrap="square" rtlCol="0" anchor="ctr"/>
          <a:lstStyle/>
          <a:p>
            <a:pPr algn="ctr" indent="0" marL="0">
              <a:buNone/>
            </a:pPr>
            <a:r>
              <a:rPr lang="en-US" sz="1200" b="1" dirty="0">
                <a:solidFill>
                  <a:srgbClr val="CC0000"/>
                </a:solidFill>
              </a:rPr>
              <a:t>WELLS FARGO</a:t>
            </a:r>
            <a:endParaRPr lang="en-US" sz="1200" dirty="0"/>
          </a:p>
        </p:txBody>
      </p:sp>
      <p:sp>
        <p:nvSpPr>
          <p:cNvPr id="6" name="Text 4"/>
          <p:cNvSpPr/>
          <p:nvPr/>
        </p:nvSpPr>
        <p:spPr>
          <a:xfrm>
            <a:off x="365760" y="1280160"/>
            <a:ext cx="8412480" cy="100584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7" name="Shape 5"/>
          <p:cNvSpPr/>
          <p:nvPr/>
        </p:nvSpPr>
        <p:spPr>
          <a:xfrm>
            <a:off x="365760" y="2377440"/>
            <a:ext cx="6400800" cy="54864"/>
          </a:xfrm>
          <a:prstGeom prst="rect">
            <a:avLst/>
          </a:prstGeom>
          <a:solidFill>
            <a:srgbClr val="FFCD41"/>
          </a:solidFill>
          <a:ln w="12700">
            <a:solidFill>
              <a:srgbClr val="FFCD41"/>
            </a:solidFill>
            <a:prstDash val="solid"/>
          </a:ln>
        </p:spPr>
      </p:sp>
      <p:sp>
        <p:nvSpPr>
          <p:cNvPr id="8" name="Text 6"/>
          <p:cNvSpPr/>
          <p:nvPr/>
        </p:nvSpPr>
        <p:spPr>
          <a:xfrm>
            <a:off x="365760" y="2514600"/>
            <a:ext cx="7315200" cy="457200"/>
          </a:xfrm>
          <a:prstGeom prst="rect">
            <a:avLst/>
          </a:prstGeom>
          <a:noFill/>
          <a:ln/>
        </p:spPr>
        <p:txBody>
          <a:bodyPr wrap="square" rtlCol="0" anchor="ctr"/>
          <a:lstStyle/>
          <a:p>
            <a:pPr indent="0" marL="0">
              <a:buNone/>
            </a:pPr>
            <a:r>
              <a:rPr lang="en-US" sz="1600" b="1" i="1" dirty="0">
                <a:solidFill>
                  <a:srgbClr val="FFCD41"/>
                </a:solidFill>
              </a:rPr>
              <a:t>Better context → Better reasoning → Better outcomes</a:t>
            </a:r>
            <a:endParaRPr lang="en-US" sz="1600" dirty="0"/>
          </a:p>
        </p:txBody>
      </p:sp>
      <p:sp>
        <p:nvSpPr>
          <p:cNvPr id="9" name="Shape 7"/>
          <p:cNvSpPr/>
          <p:nvPr/>
        </p:nvSpPr>
        <p:spPr>
          <a:xfrm>
            <a:off x="365760" y="3063240"/>
            <a:ext cx="5943600" cy="594360"/>
          </a:xfrm>
          <a:prstGeom prst="roundRect">
            <a:avLst>
              <a:gd name="adj" fmla="val 15385"/>
            </a:avLst>
          </a:prstGeom>
          <a:solidFill>
            <a:srgbClr val="990000">
              <a:alpha val="45000"/>
            </a:srgbClr>
          </a:solidFill>
          <a:ln w="12700">
            <a:solidFill>
              <a:srgbClr val="FFCD41"/>
            </a:solidFill>
            <a:prstDash val="solid"/>
          </a:ln>
        </p:spPr>
      </p:sp>
      <p:sp>
        <p:nvSpPr>
          <p:cNvPr id="10" name="Text 8"/>
          <p:cNvSpPr/>
          <p:nvPr/>
        </p:nvSpPr>
        <p:spPr>
          <a:xfrm>
            <a:off x="502920" y="3090672"/>
            <a:ext cx="5669280" cy="530352"/>
          </a:xfrm>
          <a:prstGeom prst="rect">
            <a:avLst/>
          </a:prstGeom>
          <a:noFill/>
          <a:ln/>
        </p:spPr>
        <p:txBody>
          <a:bodyPr wrap="square" rtlCol="0" anchor="ctr"/>
          <a:lstStyle/>
          <a:p>
            <a:pPr indent="0" marL="0">
              <a:buNone/>
            </a:pPr>
            <a:r>
              <a:rPr lang="en-US" sz="1300" i="1" dirty="0">
                <a:solidFill>
                  <a:srgbClr val="FFFFFF"/>
                </a:solidFill>
              </a:rPr>
              <a:t>"The model doesn't change. What you give it does."</a:t>
            </a:r>
            <a:endParaRPr lang="en-US" sz="1300" dirty="0"/>
          </a:p>
        </p:txBody>
      </p:sp>
      <p:sp>
        <p:nvSpPr>
          <p:cNvPr id="11" name="Text 9"/>
          <p:cNvSpPr/>
          <p:nvPr/>
        </p:nvSpPr>
        <p:spPr>
          <a:xfrm>
            <a:off x="365760" y="3794760"/>
            <a:ext cx="4572000" cy="640080"/>
          </a:xfrm>
          <a:prstGeom prst="rect">
            <a:avLst/>
          </a:prstGeom>
          <a:noFill/>
          <a:ln/>
        </p:spPr>
        <p:txBody>
          <a:bodyPr wrap="square" rtlCol="0" anchor="ctr"/>
          <a:lstStyle/>
          <a:p>
            <a:pPr indent="0" marL="0">
              <a:buNone/>
            </a:pPr>
            <a:r>
              <a:rPr lang="en-US" sz="1200" b="1" dirty="0">
                <a:solidFill>
                  <a:srgbClr val="FFCCCC"/>
                </a:solidFill>
              </a:rPr>
              <a:t>Ramya Kanthamneni</a:t>
            </a:r>
            <a:endParaRPr lang="en-US" sz="1200" dirty="0"/>
          </a:p>
          <a:p>
            <a:pPr indent="0" marL="0">
              <a:buNone/>
            </a:pPr>
            <a:r>
              <a:rPr lang="en-US" sz="1200" i="1" dirty="0">
                <a:solidFill>
                  <a:srgbClr val="FFCCCC"/>
                </a:solidFill>
              </a:rPr>
              <a:t>Add your email / Teams handle here</a:t>
            </a:r>
            <a:endParaRPr lang="en-US" sz="1200" dirty="0"/>
          </a:p>
        </p:txBody>
      </p:sp>
      <p:sp>
        <p:nvSpPr>
          <p:cNvPr id="12" name="Text 10"/>
          <p:cNvSpPr/>
          <p:nvPr/>
        </p:nvSpPr>
        <p:spPr>
          <a:xfrm>
            <a:off x="365760" y="4919472"/>
            <a:ext cx="8412480" cy="182880"/>
          </a:xfrm>
          <a:prstGeom prst="rect">
            <a:avLst/>
          </a:prstGeom>
          <a:noFill/>
          <a:ln/>
        </p:spPr>
        <p:txBody>
          <a:bodyPr wrap="square" rtlCol="0" anchor="ctr"/>
          <a:lstStyle/>
          <a:p>
            <a:pPr algn="ctr" indent="0" marL="0">
              <a:buNone/>
            </a:pPr>
            <a:r>
              <a:rPr lang="en-US" sz="700" dirty="0">
                <a:solidFill>
                  <a:srgbClr val="FF9999"/>
                </a:solidFill>
              </a:rPr>
              <a:t>© 2026 Wells Fargo Bank, N.A. All rights reserved. Internal use.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Engineering</dc:title>
  <dc:subject>PptxGenJS Presentation</dc:subject>
  <dc:creator>Ramya Kanthamneni</dc:creator>
  <cp:lastModifiedBy>Ramya Kanthamneni</cp:lastModifiedBy>
  <cp:revision>1</cp:revision>
  <dcterms:created xsi:type="dcterms:W3CDTF">2026-06-28T04:15:27Z</dcterms:created>
  <dcterms:modified xsi:type="dcterms:W3CDTF">2026-06-28T04:15:27Z</dcterms:modified>
</cp:coreProperties>
</file>